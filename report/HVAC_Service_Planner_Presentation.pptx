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group and the product: three decisions an HVAC franchise makes every week, answered with three machine learning tools.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follow the machine learning lifecycle from problem definition to monitoring. Each member wrote two stages and built the matching part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Planner predicts power for tomorrow, Failure Radar ranks machines for inspection, Retention List ranks customers to call. Each tool has its own dataset and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fixed these definitions before touching any data. For failure, a model that always says no failure is 96.6% accurate and finds nothing, so we use PR-AUC and top-10% capture.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pillar we picked the simplest sensible rule a company could use today. A model must beat it, and also beat a statistical and a classic ML baseline.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 datasets comes from an HVAC company. They are stand-ins, and each card ends with its main caveat.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Kaggle link was rebuilt from the dataset name we recorded, so check that it opens before submitting.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Temperature steps up or down at the start of nearly every month, which is why we think the file is simulated. 824 hours reach 40 degrees or more, which gives us the heatwave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Low-quality machines fail most. Heat dissipation, overstrain and power failures dominate. The failure-type columns are never used as inputs.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Invoices and active customers peak in October and November. December 2011 is partial. This seasonality affects how we read churn.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drop lines without a customer id (22.8%) and lines with a price of zero or less, then group by invoice. The right panel shows rows per churn snapshot and the lapse 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Features use only invoices before the cutoff. The target is no purchase in the 90 days after. Five training cutoffs, one later test cutoff.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has four tests: random hours, unseen months, a forecast of months 10 to 12 and a heatwave at 40 degrees or more. Failure uses a stratified split. Churn splits both customers and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Leakage makes scores look excellent and fail in real use. Six of the seven guards are automated tests; 17 tests in all.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May to August are dark all day. February, March, October and November are mostly idle. The monthly steps in the data show up here.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Idle 0.19 kW, heating 1.84 kW, cooling 2.73 kW. The 824 hours at 40 degrees or more are all in cooling mode.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with power: absolute gap 0.85, outdoor temperature 0.63, indoor 0.52, humidity 0.16, hour 0.14.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U-shape: a straight line cannot capture it, trees can. This predicts the gap between linear and tree models in stage 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Lapse falls from 68% with one order to 5% with 17 or more. A short order rhythm predicts staying. Recency, the basis of the usual rule, is the weakest signal.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1 goes from 10 to 13 inputs, Pillar 2 from 8 to 11, Pillar 3 from 3 to 16. Every new input has a one-sentence reason.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against temperature is a V. Against the absolute gap it becomes a single rising band, which a straight line follows well.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lowest temperature-gap tenth fails 12% of the time, the top mechanical-power tenth 17% and the top wear-times-torque tenth 15%.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Linear models need the gap handed to them. XGBoost builds such shapes itself by splitting.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Lower is better for demand, higher is better for failure and churn.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column about extrapolation decides the heatwave test.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toy example: the linear model continues the trend, Random Forest and XGBoost stay at the last value they saw. Our heatwave hours are above anything in training.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Trees are green on ordinary demand and on failure. In the heatwave the linear models are green and the trees are four to five times worse. Churn is a tie.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failure, Random Forest and XGBoost tie. For churn, five models tie, so the simplest, logistic regression, wins. We ship XGBoost for failure and Ridge for churn, which are inside the same band.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features, tune the penalty by cross-validation on training rows, fit once, choose the threshold from out-of-fold scores, test once. Seeds 42 to 46.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tuned on test data. Cross-validation picked alpha 0.1 for demand and C 0.1 for failure and churn.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Ridge learns its straight line early. XGBoost climbs for failure and keeps improving slowly. For churn both end at about 0.74 ROC-AUC.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Ridge penalty, number of trees, tree depth and churn penalty all move the score only a little. In the heatwave no number of trees fixes XGBoost.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fits in under 1.2 seconds on a laptop. The whole experiment takes about 11 minutes. One prediction takes 1.4 to 2.4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Lower is better. Mean over 5 seeds; the std is 0.001 to 0.002 kW on the random test and 0.009 or less in the heatwave. Rules of thumb are wrong by about half of the 1.9 kW average load.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Forecast months: both models are centred on zero, XGBoost is narrower. Heatwave: XGBoost's residual grows with temperature while Ridge stays near zero. That is why the dashboard switches to Ridge at 40 degrees.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Ridge struggles in the afternoon and in March. XGBoost stays between 0.06 and 0.085 kW in every held-out month.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2,000 held-out machines, 68 failures per seed. A random guess has PR-AUC 0.034.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Forest and XGBoost rise almost vertically on the ROC curve. F1 is flat from 0.2 to 0.6, so the result does not depend on a precise threshold.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of thumb needs about 19 times as many inspections as XGBoost to catch the same share of failures.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360 test customers, about 32% lapse. Differences between models are smaller than one standard deviation.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XGBoost flags 59 of 2,000 machines and 54 are real failures, missing 14 of 68. Ridge catches only 28. For churn the lists are long, because the F1 threshold favours recall when lapsing is common. A manager should work down the ranking, not use the threshold.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failure the few high scores sit close to the diagonal. For churn both models are over-confident at the high end: about 0.76 predicted, 0.58 to 0.60 observed. We show risk as a rank.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barely moves. Failure and especially churn vary because the test sets are small, which is why gaps below one standard deviation count as ties.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Better by 32%, 39%, 24% on ordinary demand tests and 82% on failure. Worse by 333% in the heatwave. No gain on churn.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Statistical baseline: linear regression for demand, logistic regression for failure and churn.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writes a 1.4 MB models file and the dashboard only reads it. Training and serving are kept apart.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Peak 3.07 kW and 46.8 kWh on a normal July day. Peak 3.91 kW and 75.5 kWh on a heatwave day, where the safeguard uses Ridge from about 11:00 to 22:00.</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with XGBoost alone would be low by 0.3 kW or more per hour on the hottest days. The dashboard shows both curves and says how many hours used the safeguard.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tool lists machines by risk and flags those above the alert threshold (44% for XGBoost).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picks how many customers it can contact, and the tool returns the highest-risk ones.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checks run as soon as data arrives and warn early. Error and rate checks need real outcomes and give the final proof.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rows are implemented and tested as functions; the rest are applied by hand for now.</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Months 10 to 12 against months 1 to 9 alert because of the season. Heatwave hours against cooler hours reach PSI 8.3. For churn, tenure drifts because customers are a year older.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trained only on earlier months has large errors in April, May and July. The churn rate prediction misses by 0.26 in the holiday window, although the ranking stays useful.</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is refitted before and after the cooling season, churn each quarter, failure after 100 new logged failures. Yearly review in December.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manager can trust the Demand Planner with its safeguard and the Failure Radar for ranking. The Retention List is a modest aid.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Retrain on company data before relying on any score. Run a four-week side-by-side pilot. Monitoring starts on day one.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graph neural network did not beat simple models in an earlier test, so we removed it. Churn, cross-selling and multi-building demand are the places worth a fair test. It would not fix the heatwave.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recommendation and thank the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3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3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4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4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4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4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502920"/>
            <a:ext cx="10972800" cy="457200"/>
          </a:xfrm>
          <a:prstGeom prst="rect">
            <a:avLst/>
          </a:prstGeom>
          <a:noFill/>
        </p:spPr>
        <p:txBody>
          <a:bodyPr wrap="square" anchor="t" lIns="45720" rIns="45720">
            <a:spAutoFit/>
          </a:bodyPr>
          <a:lstStyle/>
          <a:p>
            <a:pPr algn="l"/>
            <a:r>
              <a:rPr sz="1600" b="0" i="0">
                <a:solidFill>
                  <a:srgbClr val="DDE6F0"/>
                </a:solidFill>
                <a:latin typeface="Calibri"/>
              </a:rPr>
              <a:t>Indian Institute of Technology Roorkee  |  Department of Computer Science and Engineering</a:t>
            </a:r>
          </a:p>
        </p:txBody>
      </p:sp>
      <p:sp>
        <p:nvSpPr>
          <p:cNvPr id="4" name="TextBox 3"/>
          <p:cNvSpPr txBox="1"/>
          <p:nvPr/>
        </p:nvSpPr>
        <p:spPr>
          <a:xfrm>
            <a:off x="640080" y="1051560"/>
            <a:ext cx="10972800" cy="914400"/>
          </a:xfrm>
          <a:prstGeom prst="rect">
            <a:avLst/>
          </a:prstGeom>
          <a:noFill/>
        </p:spPr>
        <p:txBody>
          <a:bodyPr wrap="square" anchor="t" lIns="45720" rIns="45720">
            <a:spAutoFit/>
          </a:bodyPr>
          <a:lstStyle/>
          <a:p>
            <a:pPr algn="l"/>
            <a:r>
              <a:rPr sz="5200" b="1" i="0">
                <a:solidFill>
                  <a:srgbClr val="FFFFFF"/>
                </a:solidFill>
                <a:latin typeface="Calibri"/>
              </a:rPr>
              <a:t>HVAC Service Planner</a:t>
            </a:r>
          </a:p>
        </p:txBody>
      </p:sp>
      <p:sp>
        <p:nvSpPr>
          <p:cNvPr id="5" name="TextBox 4"/>
          <p:cNvSpPr txBox="1"/>
          <p:nvPr/>
        </p:nvSpPr>
        <p:spPr>
          <a:xfrm>
            <a:off x="640080" y="2057400"/>
            <a:ext cx="10972800" cy="548640"/>
          </a:xfrm>
          <a:prstGeom prst="rect">
            <a:avLst/>
          </a:prstGeom>
          <a:noFill/>
        </p:spPr>
        <p:txBody>
          <a:bodyPr wrap="square" anchor="t" lIns="45720" rIns="45720">
            <a:spAutoFit/>
          </a:bodyPr>
          <a:lstStyle/>
          <a:p>
            <a:pPr algn="l"/>
            <a:r>
              <a:rPr sz="2400" b="0" i="1">
                <a:solidFill>
                  <a:srgbClr val="FFFFFF"/>
                </a:solidFill>
                <a:latin typeface="Calibri"/>
              </a:rPr>
              <a:t>Using machine learning for HVAC system providers such as Aire Serv</a:t>
            </a:r>
          </a:p>
        </p:txBody>
      </p:sp>
      <p:sp>
        <p:nvSpPr>
          <p:cNvPr id="6" name="TextBox 5"/>
          <p:cNvSpPr txBox="1"/>
          <p:nvPr/>
        </p:nvSpPr>
        <p:spPr>
          <a:xfrm>
            <a:off x="640080" y="2606040"/>
            <a:ext cx="10972800" cy="457200"/>
          </a:xfrm>
          <a:prstGeom prst="rect">
            <a:avLst/>
          </a:prstGeom>
          <a:noFill/>
        </p:spPr>
        <p:txBody>
          <a:bodyPr wrap="square" anchor="t" lIns="45720" rIns="45720">
            <a:spAutoFit/>
          </a:bodyPr>
          <a:lstStyle/>
          <a:p>
            <a:pPr algn="l"/>
            <a:r>
              <a:rPr sz="1600" b="0" i="0">
                <a:solidFill>
                  <a:srgbClr val="DDE6F0"/>
                </a:solidFill>
                <a:latin typeface="Calibri"/>
              </a:rPr>
              <a:t>Demand forecasting, failure prediction and customer retention</a:t>
            </a:r>
          </a:p>
        </p:txBody>
      </p:sp>
      <p:sp>
        <p:nvSpPr>
          <p:cNvPr id="7" name="TextBox 6"/>
          <p:cNvSpPr txBox="1"/>
          <p:nvPr/>
        </p:nvSpPr>
        <p:spPr>
          <a:xfrm>
            <a:off x="640080" y="3474720"/>
            <a:ext cx="5486400" cy="365760"/>
          </a:xfrm>
          <a:prstGeom prst="rect">
            <a:avLst/>
          </a:prstGeom>
          <a:noFill/>
        </p:spPr>
        <p:txBody>
          <a:bodyPr wrap="square" anchor="t" lIns="45720" rIns="45720">
            <a:spAutoFit/>
          </a:bodyPr>
          <a:lstStyle/>
          <a:p>
            <a:pPr algn="l"/>
            <a:r>
              <a:rPr sz="1800" b="1" i="0">
                <a:solidFill>
                  <a:srgbClr val="1F4E79"/>
                </a:solidFill>
                <a:latin typeface="Calibri"/>
              </a:rPr>
              <a:t>CSC-505 Machine Learning  |  Group 1</a:t>
            </a:r>
          </a:p>
        </p:txBody>
      </p:sp>
      <p:sp>
        <p:nvSpPr>
          <p:cNvPr id="8" name="Rounded Rectangle 7"/>
          <p:cNvSpPr/>
          <p:nvPr/>
        </p:nvSpPr>
        <p:spPr>
          <a:xfrm>
            <a:off x="640080" y="3931920"/>
            <a:ext cx="109728" cy="34747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904487"/>
            <a:ext cx="3291840" cy="411480"/>
          </a:xfrm>
          <a:prstGeom prst="rect">
            <a:avLst/>
          </a:prstGeom>
          <a:noFill/>
        </p:spPr>
        <p:txBody>
          <a:bodyPr wrap="square" anchor="t" lIns="45720" rIns="45720">
            <a:spAutoFit/>
          </a:bodyPr>
          <a:lstStyle/>
          <a:p>
            <a:pPr algn="l"/>
            <a:r>
              <a:rPr sz="1800" b="1" i="0">
                <a:solidFill>
                  <a:srgbClr val="222222"/>
                </a:solidFill>
                <a:latin typeface="Calibri"/>
              </a:rPr>
              <a:t>Kriti Vajpayee</a:t>
            </a:r>
          </a:p>
        </p:txBody>
      </p:sp>
      <p:sp>
        <p:nvSpPr>
          <p:cNvPr id="10" name="TextBox 9"/>
          <p:cNvSpPr txBox="1"/>
          <p:nvPr/>
        </p:nvSpPr>
        <p:spPr>
          <a:xfrm>
            <a:off x="4023360" y="3904487"/>
            <a:ext cx="1645920" cy="411480"/>
          </a:xfrm>
          <a:prstGeom prst="rect">
            <a:avLst/>
          </a:prstGeom>
          <a:noFill/>
        </p:spPr>
        <p:txBody>
          <a:bodyPr wrap="square" anchor="t" lIns="45720" rIns="45720">
            <a:spAutoFit/>
          </a:bodyPr>
          <a:lstStyle/>
          <a:p>
            <a:pPr algn="l"/>
            <a:r>
              <a:rPr sz="1800" b="0" i="0">
                <a:solidFill>
                  <a:srgbClr val="666666"/>
                </a:solidFill>
                <a:latin typeface="Calibri"/>
              </a:rPr>
              <a:t>25931008</a:t>
            </a:r>
          </a:p>
        </p:txBody>
      </p:sp>
      <p:sp>
        <p:nvSpPr>
          <p:cNvPr id="11" name="TextBox 10"/>
          <p:cNvSpPr txBox="1"/>
          <p:nvPr/>
        </p:nvSpPr>
        <p:spPr>
          <a:xfrm>
            <a:off x="5760720" y="3904487"/>
            <a:ext cx="2286000" cy="411480"/>
          </a:xfrm>
          <a:prstGeom prst="rect">
            <a:avLst/>
          </a:prstGeom>
          <a:noFill/>
        </p:spPr>
        <p:txBody>
          <a:bodyPr wrap="square" anchor="t" lIns="45720" rIns="45720">
            <a:spAutoFit/>
          </a:bodyPr>
          <a:lstStyle/>
          <a:p>
            <a:pPr algn="l"/>
            <a:r>
              <a:rPr sz="1800" b="0" i="0">
                <a:solidFill>
                  <a:srgbClr val="666666"/>
                </a:solidFill>
                <a:latin typeface="Calibri"/>
              </a:rPr>
              <a:t>Stages 1 and 2</a:t>
            </a:r>
          </a:p>
        </p:txBody>
      </p:sp>
      <p:sp>
        <p:nvSpPr>
          <p:cNvPr id="12" name="Rounded Rectangle 11"/>
          <p:cNvSpPr/>
          <p:nvPr/>
        </p:nvSpPr>
        <p:spPr>
          <a:xfrm>
            <a:off x="640080" y="4389120"/>
            <a:ext cx="109728" cy="34747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361688"/>
            <a:ext cx="3291840" cy="411480"/>
          </a:xfrm>
          <a:prstGeom prst="rect">
            <a:avLst/>
          </a:prstGeom>
          <a:noFill/>
        </p:spPr>
        <p:txBody>
          <a:bodyPr wrap="square" anchor="t" lIns="45720" rIns="45720">
            <a:spAutoFit/>
          </a:bodyPr>
          <a:lstStyle/>
          <a:p>
            <a:pPr algn="l"/>
            <a:r>
              <a:rPr sz="1800" b="1" i="0">
                <a:solidFill>
                  <a:srgbClr val="222222"/>
                </a:solidFill>
                <a:latin typeface="Calibri"/>
              </a:rPr>
              <a:t>Dhruv Aggarwal</a:t>
            </a:r>
          </a:p>
        </p:txBody>
      </p:sp>
      <p:sp>
        <p:nvSpPr>
          <p:cNvPr id="14" name="TextBox 13"/>
          <p:cNvSpPr txBox="1"/>
          <p:nvPr/>
        </p:nvSpPr>
        <p:spPr>
          <a:xfrm>
            <a:off x="4023360" y="4361688"/>
            <a:ext cx="1645920" cy="411480"/>
          </a:xfrm>
          <a:prstGeom prst="rect">
            <a:avLst/>
          </a:prstGeom>
          <a:noFill/>
        </p:spPr>
        <p:txBody>
          <a:bodyPr wrap="square" anchor="t" lIns="45720" rIns="45720">
            <a:spAutoFit/>
          </a:bodyPr>
          <a:lstStyle/>
          <a:p>
            <a:pPr algn="l"/>
            <a:r>
              <a:rPr sz="1800" b="0" i="0">
                <a:solidFill>
                  <a:srgbClr val="666666"/>
                </a:solidFill>
                <a:latin typeface="Calibri"/>
              </a:rPr>
              <a:t>25911019</a:t>
            </a:r>
          </a:p>
        </p:txBody>
      </p:sp>
      <p:sp>
        <p:nvSpPr>
          <p:cNvPr id="15" name="TextBox 14"/>
          <p:cNvSpPr txBox="1"/>
          <p:nvPr/>
        </p:nvSpPr>
        <p:spPr>
          <a:xfrm>
            <a:off x="5760720" y="4361688"/>
            <a:ext cx="2286000" cy="411480"/>
          </a:xfrm>
          <a:prstGeom prst="rect">
            <a:avLst/>
          </a:prstGeom>
          <a:noFill/>
        </p:spPr>
        <p:txBody>
          <a:bodyPr wrap="square" anchor="t" lIns="45720" rIns="45720">
            <a:spAutoFit/>
          </a:bodyPr>
          <a:lstStyle/>
          <a:p>
            <a:pPr algn="l"/>
            <a:r>
              <a:rPr sz="1800" b="0" i="0">
                <a:solidFill>
                  <a:srgbClr val="666666"/>
                </a:solidFill>
                <a:latin typeface="Calibri"/>
              </a:rPr>
              <a:t>Stages 3 and 4</a:t>
            </a:r>
          </a:p>
        </p:txBody>
      </p:sp>
      <p:sp>
        <p:nvSpPr>
          <p:cNvPr id="16" name="Rounded Rectangle 15"/>
          <p:cNvSpPr/>
          <p:nvPr/>
        </p:nvSpPr>
        <p:spPr>
          <a:xfrm>
            <a:off x="640080" y="4846320"/>
            <a:ext cx="109728" cy="34747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18888"/>
            <a:ext cx="3291840" cy="411480"/>
          </a:xfrm>
          <a:prstGeom prst="rect">
            <a:avLst/>
          </a:prstGeom>
          <a:noFill/>
        </p:spPr>
        <p:txBody>
          <a:bodyPr wrap="square" anchor="t" lIns="45720" rIns="45720">
            <a:spAutoFit/>
          </a:bodyPr>
          <a:lstStyle/>
          <a:p>
            <a:pPr algn="l"/>
            <a:r>
              <a:rPr sz="1800" b="1" i="0">
                <a:solidFill>
                  <a:srgbClr val="222222"/>
                </a:solidFill>
                <a:latin typeface="Calibri"/>
              </a:rPr>
              <a:t>Ankit Kumar</a:t>
            </a:r>
          </a:p>
        </p:txBody>
      </p:sp>
      <p:sp>
        <p:nvSpPr>
          <p:cNvPr id="18" name="TextBox 17"/>
          <p:cNvSpPr txBox="1"/>
          <p:nvPr/>
        </p:nvSpPr>
        <p:spPr>
          <a:xfrm>
            <a:off x="4023360" y="4818888"/>
            <a:ext cx="1645920" cy="411480"/>
          </a:xfrm>
          <a:prstGeom prst="rect">
            <a:avLst/>
          </a:prstGeom>
          <a:noFill/>
        </p:spPr>
        <p:txBody>
          <a:bodyPr wrap="square" anchor="t" lIns="45720" rIns="45720">
            <a:spAutoFit/>
          </a:bodyPr>
          <a:lstStyle/>
          <a:p>
            <a:pPr algn="l"/>
            <a:r>
              <a:rPr sz="1800" b="0" i="0">
                <a:solidFill>
                  <a:srgbClr val="666666"/>
                </a:solidFill>
                <a:latin typeface="Calibri"/>
              </a:rPr>
              <a:t>26911002</a:t>
            </a:r>
          </a:p>
        </p:txBody>
      </p:sp>
      <p:sp>
        <p:nvSpPr>
          <p:cNvPr id="19" name="TextBox 18"/>
          <p:cNvSpPr txBox="1"/>
          <p:nvPr/>
        </p:nvSpPr>
        <p:spPr>
          <a:xfrm>
            <a:off x="5760720" y="4818888"/>
            <a:ext cx="2286000" cy="411480"/>
          </a:xfrm>
          <a:prstGeom prst="rect">
            <a:avLst/>
          </a:prstGeom>
          <a:noFill/>
        </p:spPr>
        <p:txBody>
          <a:bodyPr wrap="square" anchor="t" lIns="45720" rIns="45720">
            <a:spAutoFit/>
          </a:bodyPr>
          <a:lstStyle/>
          <a:p>
            <a:pPr algn="l"/>
            <a:r>
              <a:rPr sz="1800" b="0" i="0">
                <a:solidFill>
                  <a:srgbClr val="666666"/>
                </a:solidFill>
                <a:latin typeface="Calibri"/>
              </a:rPr>
              <a:t>Stages 5 and 6</a:t>
            </a:r>
          </a:p>
        </p:txBody>
      </p:sp>
      <p:sp>
        <p:nvSpPr>
          <p:cNvPr id="20" name="Rounded Rectangle 19"/>
          <p:cNvSpPr/>
          <p:nvPr/>
        </p:nvSpPr>
        <p:spPr>
          <a:xfrm>
            <a:off x="640080" y="5303520"/>
            <a:ext cx="109728" cy="34747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5276088"/>
            <a:ext cx="3291840" cy="411480"/>
          </a:xfrm>
          <a:prstGeom prst="rect">
            <a:avLst/>
          </a:prstGeom>
          <a:noFill/>
        </p:spPr>
        <p:txBody>
          <a:bodyPr wrap="square" anchor="t" lIns="45720" rIns="45720">
            <a:spAutoFit/>
          </a:bodyPr>
          <a:lstStyle/>
          <a:p>
            <a:pPr algn="l"/>
            <a:r>
              <a:rPr sz="1800" b="1" i="0">
                <a:solidFill>
                  <a:srgbClr val="222222"/>
                </a:solidFill>
                <a:latin typeface="Calibri"/>
              </a:rPr>
              <a:t>Animesh Basak</a:t>
            </a:r>
          </a:p>
        </p:txBody>
      </p:sp>
      <p:sp>
        <p:nvSpPr>
          <p:cNvPr id="22" name="TextBox 21"/>
          <p:cNvSpPr txBox="1"/>
          <p:nvPr/>
        </p:nvSpPr>
        <p:spPr>
          <a:xfrm>
            <a:off x="4023360" y="5276088"/>
            <a:ext cx="1645920" cy="411480"/>
          </a:xfrm>
          <a:prstGeom prst="rect">
            <a:avLst/>
          </a:prstGeom>
          <a:noFill/>
        </p:spPr>
        <p:txBody>
          <a:bodyPr wrap="square" anchor="t" lIns="45720" rIns="45720">
            <a:spAutoFit/>
          </a:bodyPr>
          <a:lstStyle/>
          <a:p>
            <a:pPr algn="l"/>
            <a:r>
              <a:rPr sz="1800" b="0" i="0">
                <a:solidFill>
                  <a:srgbClr val="666666"/>
                </a:solidFill>
                <a:latin typeface="Calibri"/>
              </a:rPr>
              <a:t>26911001</a:t>
            </a:r>
          </a:p>
        </p:txBody>
      </p:sp>
      <p:sp>
        <p:nvSpPr>
          <p:cNvPr id="23" name="TextBox 22"/>
          <p:cNvSpPr txBox="1"/>
          <p:nvPr/>
        </p:nvSpPr>
        <p:spPr>
          <a:xfrm>
            <a:off x="5760720" y="5276088"/>
            <a:ext cx="2286000" cy="411480"/>
          </a:xfrm>
          <a:prstGeom prst="rect">
            <a:avLst/>
          </a:prstGeom>
          <a:noFill/>
        </p:spPr>
        <p:txBody>
          <a:bodyPr wrap="square" anchor="t" lIns="45720" rIns="45720">
            <a:spAutoFit/>
          </a:bodyPr>
          <a:lstStyle/>
          <a:p>
            <a:pPr algn="l"/>
            <a:r>
              <a:rPr sz="1800" b="0" i="0">
                <a:solidFill>
                  <a:srgbClr val="666666"/>
                </a:solidFill>
                <a:latin typeface="Calibri"/>
              </a:rPr>
              <a:t>Stages 7 and 8</a:t>
            </a:r>
          </a:p>
        </p:txBody>
      </p:sp>
      <p:sp>
        <p:nvSpPr>
          <p:cNvPr id="24" name="Rounded Rectangle 23"/>
          <p:cNvSpPr/>
          <p:nvPr/>
        </p:nvSpPr>
        <p:spPr>
          <a:xfrm>
            <a:off x="640080" y="5760720"/>
            <a:ext cx="109728" cy="34747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733288"/>
            <a:ext cx="3291840" cy="411480"/>
          </a:xfrm>
          <a:prstGeom prst="rect">
            <a:avLst/>
          </a:prstGeom>
          <a:noFill/>
        </p:spPr>
        <p:txBody>
          <a:bodyPr wrap="square" anchor="t" lIns="45720" rIns="45720">
            <a:spAutoFit/>
          </a:bodyPr>
          <a:lstStyle/>
          <a:p>
            <a:pPr algn="l"/>
            <a:r>
              <a:rPr sz="1800" b="1" i="0">
                <a:solidFill>
                  <a:srgbClr val="222222"/>
                </a:solidFill>
                <a:latin typeface="Calibri"/>
              </a:rPr>
              <a:t>Sourav Kumar Boro</a:t>
            </a:r>
          </a:p>
        </p:txBody>
      </p:sp>
      <p:sp>
        <p:nvSpPr>
          <p:cNvPr id="26" name="TextBox 25"/>
          <p:cNvSpPr txBox="1"/>
          <p:nvPr/>
        </p:nvSpPr>
        <p:spPr>
          <a:xfrm>
            <a:off x="4023360" y="5733288"/>
            <a:ext cx="1645920" cy="411480"/>
          </a:xfrm>
          <a:prstGeom prst="rect">
            <a:avLst/>
          </a:prstGeom>
          <a:noFill/>
        </p:spPr>
        <p:txBody>
          <a:bodyPr wrap="square" anchor="t" lIns="45720" rIns="45720">
            <a:spAutoFit/>
          </a:bodyPr>
          <a:lstStyle/>
          <a:p>
            <a:pPr algn="l"/>
            <a:r>
              <a:rPr sz="1800" b="0" i="0">
                <a:solidFill>
                  <a:srgbClr val="666666"/>
                </a:solidFill>
                <a:latin typeface="Calibri"/>
              </a:rPr>
              <a:t>26535026</a:t>
            </a:r>
          </a:p>
        </p:txBody>
      </p:sp>
      <p:sp>
        <p:nvSpPr>
          <p:cNvPr id="27" name="TextBox 26"/>
          <p:cNvSpPr txBox="1"/>
          <p:nvPr/>
        </p:nvSpPr>
        <p:spPr>
          <a:xfrm>
            <a:off x="5760720" y="5733288"/>
            <a:ext cx="2286000" cy="411480"/>
          </a:xfrm>
          <a:prstGeom prst="rect">
            <a:avLst/>
          </a:prstGeom>
          <a:noFill/>
        </p:spPr>
        <p:txBody>
          <a:bodyPr wrap="square" anchor="t" lIns="45720" rIns="45720">
            <a:spAutoFit/>
          </a:bodyPr>
          <a:lstStyle/>
          <a:p>
            <a:pPr algn="l"/>
            <a:r>
              <a:rPr sz="1800" b="0" i="0">
                <a:solidFill>
                  <a:srgbClr val="666666"/>
                </a:solidFill>
                <a:latin typeface="Calibri"/>
              </a:rPr>
              <a:t>Stages 9 and 10</a:t>
            </a:r>
          </a:p>
        </p:txBody>
      </p:sp>
      <p:sp>
        <p:nvSpPr>
          <p:cNvPr id="28" name="TextBox 27"/>
          <p:cNvSpPr txBox="1"/>
          <p:nvPr/>
        </p:nvSpPr>
        <p:spPr>
          <a:xfrm>
            <a:off x="8412480" y="3931920"/>
            <a:ext cx="3474720" cy="365760"/>
          </a:xfrm>
          <a:prstGeom prst="rect">
            <a:avLst/>
          </a:prstGeom>
          <a:noFill/>
        </p:spPr>
        <p:txBody>
          <a:bodyPr wrap="square" anchor="t" lIns="45720" rIns="45720">
            <a:spAutoFit/>
          </a:bodyPr>
          <a:lstStyle/>
          <a:p>
            <a:pPr algn="l"/>
            <a:r>
              <a:rPr sz="1400" b="0" i="0">
                <a:solidFill>
                  <a:srgbClr val="666666"/>
                </a:solidFill>
                <a:latin typeface="Calibri"/>
              </a:rPr>
              <a:t>Under the guidance of</a:t>
            </a:r>
          </a:p>
        </p:txBody>
      </p:sp>
      <p:sp>
        <p:nvSpPr>
          <p:cNvPr id="29" name="TextBox 28"/>
          <p:cNvSpPr txBox="1"/>
          <p:nvPr/>
        </p:nvSpPr>
        <p:spPr>
          <a:xfrm>
            <a:off x="8412480" y="4251960"/>
            <a:ext cx="3474720" cy="457200"/>
          </a:xfrm>
          <a:prstGeom prst="rect">
            <a:avLst/>
          </a:prstGeom>
          <a:noFill/>
        </p:spPr>
        <p:txBody>
          <a:bodyPr wrap="square" anchor="t" lIns="45720" rIns="45720">
            <a:spAutoFit/>
          </a:bodyPr>
          <a:lstStyle/>
          <a:p>
            <a:pPr algn="l"/>
            <a:r>
              <a:rPr sz="2000" b="1" i="0">
                <a:solidFill>
                  <a:srgbClr val="222222"/>
                </a:solidFill>
                <a:latin typeface="Calibri"/>
              </a:rPr>
              <a:t>Dr. Durga Toshniwal</a:t>
            </a:r>
          </a:p>
        </p:txBody>
      </p:sp>
      <p:sp>
        <p:nvSpPr>
          <p:cNvPr id="30" name="TextBox 29"/>
          <p:cNvSpPr txBox="1"/>
          <p:nvPr/>
        </p:nvSpPr>
        <p:spPr>
          <a:xfrm>
            <a:off x="8412480" y="4663440"/>
            <a:ext cx="3474720" cy="731520"/>
          </a:xfrm>
          <a:prstGeom prst="rect">
            <a:avLst/>
          </a:prstGeom>
          <a:noFill/>
        </p:spPr>
        <p:txBody>
          <a:bodyPr wrap="square" anchor="t" lIns="45720" rIns="45720">
            <a:spAutoFit/>
          </a:bodyPr>
          <a:lstStyle/>
          <a:p>
            <a:pPr algn="l"/>
            <a:r>
              <a:rPr sz="1400" b="0" i="0">
                <a:solidFill>
                  <a:srgbClr val="666666"/>
                </a:solidFill>
                <a:latin typeface="Calibri"/>
              </a:rPr>
              <a:t>Professor, Department of Computer Science and Engineering, IIT Roorkee</a:t>
            </a:r>
          </a:p>
        </p:txBody>
      </p:sp>
      <p:sp>
        <p:nvSpPr>
          <p:cNvPr id="31" name="TextBox 30"/>
          <p:cNvSpPr txBox="1"/>
          <p:nvPr/>
        </p:nvSpPr>
        <p:spPr>
          <a:xfrm>
            <a:off x="8412480" y="5760720"/>
            <a:ext cx="3474720" cy="365760"/>
          </a:xfrm>
          <a:prstGeom prst="rect">
            <a:avLst/>
          </a:prstGeom>
          <a:noFill/>
        </p:spPr>
        <p:txBody>
          <a:bodyPr wrap="square" anchor="t" lIns="45720" rIns="45720">
            <a:spAutoFit/>
          </a:bodyPr>
          <a:lstStyle/>
          <a:p>
            <a:pPr algn="l"/>
            <a:r>
              <a:rPr sz="1400" b="0" i="0">
                <a:solidFill>
                  <a:srgbClr val="666666"/>
                </a:solidFill>
                <a:latin typeface="Calibri"/>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Ten lifecycle stages, five authors, one product</a:t>
            </a:r>
          </a:p>
        </p:txBody>
      </p:sp>
      <p:sp>
        <p:nvSpPr>
          <p:cNvPr id="3" name="Rectangle 2"/>
          <p:cNvSpPr/>
          <p:nvPr/>
        </p:nvSpPr>
        <p:spPr>
          <a:xfrm>
            <a:off x="411480" y="868680"/>
            <a:ext cx="11384280" cy="45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Summary</a:t>
            </a:r>
          </a:p>
          <a:p>
            <a:pPr algn="ctr"/>
            <a:r>
              <a:rPr sz="1000">
                <a:solidFill>
                  <a:srgbClr val="FFFFFF"/>
                </a:solidFill>
                <a:latin typeface="Calibri"/>
              </a:rPr>
              <a:t>Whole group</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a:t>
            </a:r>
          </a:p>
        </p:txBody>
      </p:sp>
      <p:pic>
        <p:nvPicPr>
          <p:cNvPr id="7" name="Picture 6" descr="s1_01_lifecycle_owners.png"/>
          <p:cNvPicPr>
            <a:picLocks noChangeAspect="1"/>
          </p:cNvPicPr>
          <p:nvPr/>
        </p:nvPicPr>
        <p:blipFill>
          <a:blip r:embed="rId3"/>
          <a:stretch>
            <a:fillRect/>
          </a:stretch>
        </p:blipFill>
        <p:spPr>
          <a:xfrm>
            <a:off x="658715" y="1005840"/>
            <a:ext cx="10871521" cy="544067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One dashboard, three decisions</a:t>
            </a:r>
          </a:p>
        </p:txBody>
      </p:sp>
      <p:sp>
        <p:nvSpPr>
          <p:cNvPr id="3" name="Rectangle 2"/>
          <p:cNvSpPr/>
          <p:nvPr/>
        </p:nvSpPr>
        <p:spPr>
          <a:xfrm>
            <a:off x="411480" y="868680"/>
            <a:ext cx="1138428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1: Problem definition</a:t>
            </a:r>
          </a:p>
          <a:p>
            <a:pPr algn="ctr"/>
            <a:r>
              <a:rPr sz="1000">
                <a:solidFill>
                  <a:srgbClr val="FFFFFF"/>
                </a:solidFill>
                <a:latin typeface="Calibri"/>
              </a:rPr>
              <a:t>Kriti Vajpayee</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a:t>
            </a:r>
          </a:p>
        </p:txBody>
      </p:sp>
      <p:pic>
        <p:nvPicPr>
          <p:cNvPr id="7" name="Picture 6" descr="s1_02_product_overview.png"/>
          <p:cNvPicPr>
            <a:picLocks noChangeAspect="1"/>
          </p:cNvPicPr>
          <p:nvPr/>
        </p:nvPicPr>
        <p:blipFill>
          <a:blip r:embed="rId3"/>
          <a:stretch>
            <a:fillRect/>
          </a:stretch>
        </p:blipFill>
        <p:spPr>
          <a:xfrm>
            <a:off x="658715" y="1005840"/>
            <a:ext cx="10871521" cy="544067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Each question becomes a precise learning task</a:t>
            </a:r>
          </a:p>
        </p:txBody>
      </p:sp>
      <p:sp>
        <p:nvSpPr>
          <p:cNvPr id="3" name="Rectangle 2"/>
          <p:cNvSpPr/>
          <p:nvPr/>
        </p:nvSpPr>
        <p:spPr>
          <a:xfrm>
            <a:off x="411480" y="868680"/>
            <a:ext cx="1138428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1: Problem definition</a:t>
            </a:r>
          </a:p>
          <a:p>
            <a:pPr algn="ctr"/>
            <a:r>
              <a:rPr sz="1000">
                <a:solidFill>
                  <a:srgbClr val="FFFFFF"/>
                </a:solidFill>
                <a:latin typeface="Calibri"/>
              </a:rPr>
              <a:t>Kriti Vajpayee</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a:t>
            </a:r>
          </a:p>
        </p:txBody>
      </p:sp>
      <p:graphicFrame>
        <p:nvGraphicFramePr>
          <p:cNvPr id="7" name="Table 6"/>
          <p:cNvGraphicFramePr>
            <a:graphicFrameLocks noGrp="1"/>
          </p:cNvGraphicFramePr>
          <p:nvPr/>
        </p:nvGraphicFramePr>
        <p:xfrm>
          <a:off x="365760" y="1097280"/>
          <a:ext cx="11429998" cy="5120640"/>
        </p:xfrm>
        <a:graphic>
          <a:graphicData uri="http://schemas.openxmlformats.org/drawingml/2006/table">
            <a:tbl>
              <a:tblPr firstRow="0" bandRow="0">
                <a:tableStyleId>{5C22544A-7EE6-4342-B048-85BDC9FD1C3A}</a:tableStyleId>
              </a:tblPr>
              <a:tblGrid>
                <a:gridCol w="1572935"/>
                <a:gridCol w="3145871"/>
                <a:gridCol w="3355596"/>
                <a:gridCol w="3355596"/>
              </a:tblGrid>
              <a:tr h="640080">
                <a:tc>
                  <a:txBody>
                    <a:bodyPr wrap="square"/>
                    <a:lstStyle/>
                    <a:p>
                      <a:r>
                        <a:rPr sz="1500" b="1">
                          <a:solidFill>
                            <a:srgbClr val="FFFFFF"/>
                          </a:solidFill>
                          <a:latin typeface="Calibri"/>
                        </a:rPr>
                        <a:t/>
                      </a:r>
                    </a:p>
                  </a:txBody>
                  <a:tcPr marL="73152" marR="73152" marT="27432" marB="27432" anchor="ctr">
                    <a:solidFill>
                      <a:srgbClr val="1F4E79"/>
                    </a:solidFill>
                  </a:tcPr>
                </a:tc>
                <a:tc>
                  <a:txBody>
                    <a:bodyPr wrap="square"/>
                    <a:lstStyle/>
                    <a:p>
                      <a:r>
                        <a:rPr sz="1500" b="1">
                          <a:solidFill>
                            <a:srgbClr val="FFFFFF"/>
                          </a:solidFill>
                          <a:latin typeface="Calibri"/>
                        </a:rPr>
                        <a:t>Pillar 1: demand</a:t>
                      </a:r>
                    </a:p>
                  </a:txBody>
                  <a:tcPr marL="73152" marR="73152" marT="27432" marB="27432" anchor="ctr">
                    <a:solidFill>
                      <a:srgbClr val="1F4E79"/>
                    </a:solidFill>
                  </a:tcPr>
                </a:tc>
                <a:tc>
                  <a:txBody>
                    <a:bodyPr wrap="square"/>
                    <a:lstStyle/>
                    <a:p>
                      <a:r>
                        <a:rPr sz="1500" b="1">
                          <a:solidFill>
                            <a:srgbClr val="FFFFFF"/>
                          </a:solidFill>
                          <a:latin typeface="Calibri"/>
                        </a:rPr>
                        <a:t>Pillar 2: failure</a:t>
                      </a:r>
                    </a:p>
                  </a:txBody>
                  <a:tcPr marL="73152" marR="73152" marT="27432" marB="27432" anchor="ctr">
                    <a:solidFill>
                      <a:srgbClr val="1F4E79"/>
                    </a:solidFill>
                  </a:tcPr>
                </a:tc>
                <a:tc>
                  <a:txBody>
                    <a:bodyPr wrap="square"/>
                    <a:lstStyle/>
                    <a:p>
                      <a:r>
                        <a:rPr sz="1500" b="1">
                          <a:solidFill>
                            <a:srgbClr val="FFFFFF"/>
                          </a:solidFill>
                          <a:latin typeface="Calibri"/>
                        </a:rPr>
                        <a:t>Pillar 3: retention</a:t>
                      </a:r>
                    </a:p>
                  </a:txBody>
                  <a:tcPr marL="73152" marR="73152" marT="27432" marB="27432" anchor="ctr">
                    <a:solidFill>
                      <a:srgbClr val="1F4E79"/>
                    </a:solidFill>
                  </a:tcPr>
                </a:tc>
              </a:tr>
              <a:tr h="640080">
                <a:tc>
                  <a:txBody>
                    <a:bodyPr wrap="square"/>
                    <a:lstStyle/>
                    <a:p>
                      <a:r>
                        <a:rPr sz="1500" b="1">
                          <a:solidFill>
                            <a:srgbClr val="222222"/>
                          </a:solidFill>
                          <a:latin typeface="Calibri"/>
                        </a:rPr>
                        <a:t>Task type</a:t>
                      </a:r>
                    </a:p>
                  </a:txBody>
                  <a:tcPr marL="73152" marR="73152" marT="27432" marB="27432" anchor="ctr">
                    <a:solidFill>
                      <a:srgbClr val="FFFFFF"/>
                    </a:solidFill>
                  </a:tcPr>
                </a:tc>
                <a:tc>
                  <a:txBody>
                    <a:bodyPr wrap="square"/>
                    <a:lstStyle/>
                    <a:p>
                      <a:r>
                        <a:rPr sz="1500" b="0">
                          <a:solidFill>
                            <a:srgbClr val="222222"/>
                          </a:solidFill>
                          <a:latin typeface="Calibri"/>
                        </a:rPr>
                        <a:t>Regression (a number)</a:t>
                      </a:r>
                    </a:p>
                  </a:txBody>
                  <a:tcPr marL="73152" marR="73152" marT="27432" marB="27432" anchor="ctr">
                    <a:solidFill>
                      <a:srgbClr val="FFFFFF"/>
                    </a:solidFill>
                  </a:tcPr>
                </a:tc>
                <a:tc>
                  <a:txBody>
                    <a:bodyPr wrap="square"/>
                    <a:lstStyle/>
                    <a:p>
                      <a:r>
                        <a:rPr sz="1500" b="0">
                          <a:solidFill>
                            <a:srgbClr val="222222"/>
                          </a:solidFill>
                          <a:latin typeface="Calibri"/>
                        </a:rPr>
                        <a:t>Binary classification, rare event</a:t>
                      </a:r>
                    </a:p>
                  </a:txBody>
                  <a:tcPr marL="73152" marR="73152" marT="27432" marB="27432" anchor="ctr">
                    <a:solidFill>
                      <a:srgbClr val="FFFFFF"/>
                    </a:solidFill>
                  </a:tcPr>
                </a:tc>
                <a:tc>
                  <a:txBody>
                    <a:bodyPr wrap="square"/>
                    <a:lstStyle/>
                    <a:p>
                      <a:r>
                        <a:rPr sz="1500" b="0">
                          <a:solidFill>
                            <a:srgbClr val="222222"/>
                          </a:solidFill>
                          <a:latin typeface="Calibri"/>
                        </a:rPr>
                        <a:t>Binary classification</a:t>
                      </a:r>
                    </a:p>
                  </a:txBody>
                  <a:tcPr marL="73152" marR="73152" marT="27432" marB="27432" anchor="ctr">
                    <a:solidFill>
                      <a:srgbClr val="FFFFFF"/>
                    </a:solidFill>
                  </a:tcPr>
                </a:tc>
              </a:tr>
              <a:tr h="640080">
                <a:tc>
                  <a:txBody>
                    <a:bodyPr wrap="square"/>
                    <a:lstStyle/>
                    <a:p>
                      <a:r>
                        <a:rPr sz="1500" b="1">
                          <a:solidFill>
                            <a:srgbClr val="222222"/>
                          </a:solidFill>
                          <a:latin typeface="Calibri"/>
                        </a:rPr>
                        <a:t>Unit of prediction</a:t>
                      </a:r>
                    </a:p>
                  </a:txBody>
                  <a:tcPr marL="73152" marR="73152" marT="27432" marB="27432" anchor="ctr">
                    <a:solidFill>
                      <a:srgbClr val="F2F5F8"/>
                    </a:solidFill>
                  </a:tcPr>
                </a:tc>
                <a:tc>
                  <a:txBody>
                    <a:bodyPr wrap="square"/>
                    <a:lstStyle/>
                    <a:p>
                      <a:r>
                        <a:rPr sz="1500" b="0">
                          <a:solidFill>
                            <a:srgbClr val="222222"/>
                          </a:solidFill>
                          <a:latin typeface="Calibri"/>
                        </a:rPr>
                        <a:t>One building-hour</a:t>
                      </a:r>
                    </a:p>
                  </a:txBody>
                  <a:tcPr marL="73152" marR="73152" marT="27432" marB="27432" anchor="ctr">
                    <a:solidFill>
                      <a:srgbClr val="F2F5F8"/>
                    </a:solidFill>
                  </a:tcPr>
                </a:tc>
                <a:tc>
                  <a:txBody>
                    <a:bodyPr wrap="square"/>
                    <a:lstStyle/>
                    <a:p>
                      <a:r>
                        <a:rPr sz="1500" b="0">
                          <a:solidFill>
                            <a:srgbClr val="222222"/>
                          </a:solidFill>
                          <a:latin typeface="Calibri"/>
                        </a:rPr>
                        <a:t>One machine</a:t>
                      </a:r>
                    </a:p>
                  </a:txBody>
                  <a:tcPr marL="73152" marR="73152" marT="27432" marB="27432" anchor="ctr">
                    <a:solidFill>
                      <a:srgbClr val="F2F5F8"/>
                    </a:solidFill>
                  </a:tcPr>
                </a:tc>
                <a:tc>
                  <a:txBody>
                    <a:bodyPr wrap="square"/>
                    <a:lstStyle/>
                    <a:p>
                      <a:r>
                        <a:rPr sz="1500" b="0">
                          <a:solidFill>
                            <a:srgbClr val="222222"/>
                          </a:solidFill>
                          <a:latin typeface="Calibri"/>
                        </a:rPr>
                        <a:t>One active customer at a cutoff date</a:t>
                      </a:r>
                    </a:p>
                  </a:txBody>
                  <a:tcPr marL="73152" marR="73152" marT="27432" marB="27432" anchor="ctr">
                    <a:solidFill>
                      <a:srgbClr val="F2F5F8"/>
                    </a:solidFill>
                  </a:tcPr>
                </a:tc>
              </a:tr>
              <a:tr h="640080">
                <a:tc>
                  <a:txBody>
                    <a:bodyPr wrap="square"/>
                    <a:lstStyle/>
                    <a:p>
                      <a:r>
                        <a:rPr sz="1500" b="1">
                          <a:solidFill>
                            <a:srgbClr val="222222"/>
                          </a:solidFill>
                          <a:latin typeface="Calibri"/>
                        </a:rPr>
                        <a:t>Inputs</a:t>
                      </a:r>
                    </a:p>
                  </a:txBody>
                  <a:tcPr marL="73152" marR="73152" marT="27432" marB="27432" anchor="ctr">
                    <a:solidFill>
                      <a:srgbClr val="FFFFFF"/>
                    </a:solidFill>
                  </a:tcPr>
                </a:tc>
                <a:tc>
                  <a:txBody>
                    <a:bodyPr wrap="square"/>
                    <a:lstStyle/>
                    <a:p>
                      <a:r>
                        <a:rPr sz="1500" b="0">
                          <a:solidFill>
                            <a:srgbClr val="222222"/>
                          </a:solidFill>
                          <a:latin typeface="Calibri"/>
                        </a:rPr>
                        <a:t>Outdoor and indoor temperature, humidity, hour, month, mode</a:t>
                      </a:r>
                    </a:p>
                  </a:txBody>
                  <a:tcPr marL="73152" marR="73152" marT="27432" marB="27432" anchor="ctr">
                    <a:solidFill>
                      <a:srgbClr val="FFFFFF"/>
                    </a:solidFill>
                  </a:tcPr>
                </a:tc>
                <a:tc>
                  <a:txBody>
                    <a:bodyPr wrap="square"/>
                    <a:lstStyle/>
                    <a:p>
                      <a:r>
                        <a:rPr sz="1500" b="0">
                          <a:solidFill>
                            <a:srgbClr val="222222"/>
                          </a:solidFill>
                          <a:latin typeface="Calibri"/>
                        </a:rPr>
                        <a:t>Air and process temperature, speed, torque, tool wear, type</a:t>
                      </a:r>
                    </a:p>
                  </a:txBody>
                  <a:tcPr marL="73152" marR="73152" marT="27432" marB="27432" anchor="ctr">
                    <a:solidFill>
                      <a:srgbClr val="FFFFFF"/>
                    </a:solidFill>
                  </a:tcPr>
                </a:tc>
                <a:tc>
                  <a:txBody>
                    <a:bodyPr wrap="square"/>
                    <a:lstStyle/>
                    <a:p>
                      <a:r>
                        <a:rPr sz="1500" b="0">
                          <a:solidFill>
                            <a:srgbClr val="222222"/>
                          </a:solidFill>
                          <a:latin typeface="Calibri"/>
                        </a:rPr>
                        <a:t>Purchase history before the cutoff</a:t>
                      </a:r>
                    </a:p>
                  </a:txBody>
                  <a:tcPr marL="73152" marR="73152" marT="27432" marB="27432" anchor="ctr">
                    <a:solidFill>
                      <a:srgbClr val="FFFFFF"/>
                    </a:solidFill>
                  </a:tcPr>
                </a:tc>
              </a:tr>
              <a:tr h="640080">
                <a:tc>
                  <a:txBody>
                    <a:bodyPr wrap="square"/>
                    <a:lstStyle/>
                    <a:p>
                      <a:r>
                        <a:rPr sz="1500" b="1">
                          <a:solidFill>
                            <a:srgbClr val="222222"/>
                          </a:solidFill>
                          <a:latin typeface="Calibri"/>
                        </a:rPr>
                        <a:t>Output</a:t>
                      </a:r>
                    </a:p>
                  </a:txBody>
                  <a:tcPr marL="73152" marR="73152" marT="27432" marB="27432" anchor="ctr">
                    <a:solidFill>
                      <a:srgbClr val="F2F5F8"/>
                    </a:solidFill>
                  </a:tcPr>
                </a:tc>
                <a:tc>
                  <a:txBody>
                    <a:bodyPr wrap="square"/>
                    <a:lstStyle/>
                    <a:p>
                      <a:r>
                        <a:rPr sz="1500" b="0">
                          <a:solidFill>
                            <a:srgbClr val="222222"/>
                          </a:solidFill>
                          <a:latin typeface="Calibri"/>
                        </a:rPr>
                        <a:t>Power in kW</a:t>
                      </a:r>
                    </a:p>
                  </a:txBody>
                  <a:tcPr marL="73152" marR="73152" marT="27432" marB="27432" anchor="ctr">
                    <a:solidFill>
                      <a:srgbClr val="F2F5F8"/>
                    </a:solidFill>
                  </a:tcPr>
                </a:tc>
                <a:tc>
                  <a:txBody>
                    <a:bodyPr wrap="square"/>
                    <a:lstStyle/>
                    <a:p>
                      <a:r>
                        <a:rPr sz="1500" b="0">
                          <a:solidFill>
                            <a:srgbClr val="222222"/>
                          </a:solidFill>
                          <a:latin typeface="Calibri"/>
                        </a:rPr>
                        <a:t>Failure yes or no, risk score</a:t>
                      </a:r>
                    </a:p>
                  </a:txBody>
                  <a:tcPr marL="73152" marR="73152" marT="27432" marB="27432" anchor="ctr">
                    <a:solidFill>
                      <a:srgbClr val="F2F5F8"/>
                    </a:solidFill>
                  </a:tcPr>
                </a:tc>
                <a:tc>
                  <a:txBody>
                    <a:bodyPr wrap="square"/>
                    <a:lstStyle/>
                    <a:p>
                      <a:r>
                        <a:rPr sz="1500" b="0">
                          <a:solidFill>
                            <a:srgbClr val="222222"/>
                          </a:solidFill>
                          <a:latin typeface="Calibri"/>
                        </a:rPr>
                        <a:t>Lapses yes or no, risk score</a:t>
                      </a:r>
                    </a:p>
                  </a:txBody>
                  <a:tcPr marL="73152" marR="73152" marT="27432" marB="27432" anchor="ctr">
                    <a:solidFill>
                      <a:srgbClr val="F2F5F8"/>
                    </a:solidFill>
                  </a:tcPr>
                </a:tc>
              </a:tr>
              <a:tr h="640080">
                <a:tc>
                  <a:txBody>
                    <a:bodyPr wrap="square"/>
                    <a:lstStyle/>
                    <a:p>
                      <a:r>
                        <a:rPr sz="1500" b="1">
                          <a:solidFill>
                            <a:srgbClr val="222222"/>
                          </a:solidFill>
                          <a:latin typeface="Calibri"/>
                        </a:rPr>
                        <a:t>Looking ahead</a:t>
                      </a:r>
                    </a:p>
                  </a:txBody>
                  <a:tcPr marL="73152" marR="73152" marT="27432" marB="27432" anchor="ctr">
                    <a:solidFill>
                      <a:srgbClr val="FFFFFF"/>
                    </a:solidFill>
                  </a:tcPr>
                </a:tc>
                <a:tc>
                  <a:txBody>
                    <a:bodyPr wrap="square"/>
                    <a:lstStyle/>
                    <a:p>
                      <a:r>
                        <a:rPr sz="1500" b="0">
                          <a:solidFill>
                            <a:srgbClr val="222222"/>
                          </a:solidFill>
                          <a:latin typeface="Calibri"/>
                        </a:rPr>
                        <a:t>Same hour, weather forecast as input</a:t>
                      </a:r>
                    </a:p>
                  </a:txBody>
                  <a:tcPr marL="73152" marR="73152" marT="27432" marB="27432" anchor="ctr">
                    <a:solidFill>
                      <a:srgbClr val="FFFFFF"/>
                    </a:solidFill>
                  </a:tcPr>
                </a:tc>
                <a:tc>
                  <a:txBody>
                    <a:bodyPr wrap="square"/>
                    <a:lstStyle/>
                    <a:p>
                      <a:r>
                        <a:rPr sz="1500" b="0">
                          <a:solidFill>
                            <a:srgbClr val="222222"/>
                          </a:solidFill>
                          <a:latin typeface="Calibri"/>
                        </a:rPr>
                        <a:t>The recorded failure label</a:t>
                      </a:r>
                    </a:p>
                  </a:txBody>
                  <a:tcPr marL="73152" marR="73152" marT="27432" marB="27432" anchor="ctr">
                    <a:solidFill>
                      <a:srgbClr val="FFFFFF"/>
                    </a:solidFill>
                  </a:tcPr>
                </a:tc>
                <a:tc>
                  <a:txBody>
                    <a:bodyPr wrap="square"/>
                    <a:lstStyle/>
                    <a:p>
                      <a:r>
                        <a:rPr sz="1500" b="0">
                          <a:solidFill>
                            <a:srgbClr val="222222"/>
                          </a:solidFill>
                          <a:latin typeface="Calibri"/>
                        </a:rPr>
                        <a:t>90 days after the cutoff</a:t>
                      </a:r>
                    </a:p>
                  </a:txBody>
                  <a:tcPr marL="73152" marR="73152" marT="27432" marB="27432" anchor="ctr">
                    <a:solidFill>
                      <a:srgbClr val="FFFFFF"/>
                    </a:solidFill>
                  </a:tcPr>
                </a:tc>
              </a:tr>
              <a:tr h="640080">
                <a:tc>
                  <a:txBody>
                    <a:bodyPr wrap="square"/>
                    <a:lstStyle/>
                    <a:p>
                      <a:r>
                        <a:rPr sz="1500" b="1">
                          <a:solidFill>
                            <a:srgbClr val="222222"/>
                          </a:solidFill>
                          <a:latin typeface="Calibri"/>
                        </a:rPr>
                        <a:t>Main metric</a:t>
                      </a:r>
                    </a:p>
                  </a:txBody>
                  <a:tcPr marL="73152" marR="73152" marT="27432" marB="27432" anchor="ctr">
                    <a:solidFill>
                      <a:srgbClr val="F2F5F8"/>
                    </a:solidFill>
                  </a:tcPr>
                </a:tc>
                <a:tc>
                  <a:txBody>
                    <a:bodyPr wrap="square"/>
                    <a:lstStyle/>
                    <a:p>
                      <a:r>
                        <a:rPr sz="1500" b="0">
                          <a:solidFill>
                            <a:srgbClr val="222222"/>
                          </a:solidFill>
                          <a:latin typeface="Calibri"/>
                        </a:rPr>
                        <a:t>Mean absolute error in kW</a:t>
                      </a:r>
                    </a:p>
                  </a:txBody>
                  <a:tcPr marL="73152" marR="73152" marT="27432" marB="27432" anchor="ctr">
                    <a:solidFill>
                      <a:srgbClr val="F2F5F8"/>
                    </a:solidFill>
                  </a:tcPr>
                </a:tc>
                <a:tc>
                  <a:txBody>
                    <a:bodyPr wrap="square"/>
                    <a:lstStyle/>
                    <a:p>
                      <a:r>
                        <a:rPr sz="1500" b="0">
                          <a:solidFill>
                            <a:srgbClr val="222222"/>
                          </a:solidFill>
                          <a:latin typeface="Calibri"/>
                        </a:rPr>
                        <a:t>PR-AUC; failures found in the top 10%</a:t>
                      </a:r>
                    </a:p>
                  </a:txBody>
                  <a:tcPr marL="73152" marR="73152" marT="27432" marB="27432" anchor="ctr">
                    <a:solidFill>
                      <a:srgbClr val="F2F5F8"/>
                    </a:solidFill>
                  </a:tcPr>
                </a:tc>
                <a:tc>
                  <a:txBody>
                    <a:bodyPr wrap="square"/>
                    <a:lstStyle/>
                    <a:p>
                      <a:r>
                        <a:rPr sz="1500" b="0">
                          <a:solidFill>
                            <a:srgbClr val="222222"/>
                          </a:solidFill>
                          <a:latin typeface="Calibri"/>
                        </a:rPr>
                        <a:t>ROC-AUC; lapsers found in the top 10%</a:t>
                      </a:r>
                    </a:p>
                  </a:txBody>
                  <a:tcPr marL="73152" marR="73152" marT="27432" marB="27432" anchor="ctr">
                    <a:solidFill>
                      <a:srgbClr val="F2F5F8"/>
                    </a:solidFill>
                  </a:tcPr>
                </a:tc>
              </a:tr>
              <a:tr h="640080">
                <a:tc>
                  <a:txBody>
                    <a:bodyPr wrap="square"/>
                    <a:lstStyle/>
                    <a:p>
                      <a:r>
                        <a:rPr sz="1500" b="1">
                          <a:solidFill>
                            <a:srgbClr val="222222"/>
                          </a:solidFill>
                          <a:latin typeface="Calibri"/>
                        </a:rPr>
                        <a:t>Why this metric</a:t>
                      </a:r>
                    </a:p>
                  </a:txBody>
                  <a:tcPr marL="73152" marR="73152" marT="27432" marB="27432" anchor="ctr">
                    <a:solidFill>
                      <a:srgbClr val="FFFFFF"/>
                    </a:solidFill>
                  </a:tcPr>
                </a:tc>
                <a:tc>
                  <a:txBody>
                    <a:bodyPr wrap="square"/>
                    <a:lstStyle/>
                    <a:p>
                      <a:r>
                        <a:rPr sz="1500" b="0">
                          <a:solidFill>
                            <a:srgbClr val="222222"/>
                          </a:solidFill>
                          <a:latin typeface="Calibri"/>
                        </a:rPr>
                        <a:t>Average miss, easy to read</a:t>
                      </a:r>
                    </a:p>
                  </a:txBody>
                  <a:tcPr marL="73152" marR="73152" marT="27432" marB="27432" anchor="ctr">
                    <a:solidFill>
                      <a:srgbClr val="FFFFFF"/>
                    </a:solidFill>
                  </a:tcPr>
                </a:tc>
                <a:tc>
                  <a:txBody>
                    <a:bodyPr wrap="square"/>
                    <a:lstStyle/>
                    <a:p>
                      <a:r>
                        <a:rPr sz="1500" b="0">
                          <a:solidFill>
                            <a:srgbClr val="222222"/>
                          </a:solidFill>
                          <a:latin typeface="Calibri"/>
                        </a:rPr>
                        <a:t>Failures are 3.4% of machines, so accuracy is meaningless</a:t>
                      </a:r>
                    </a:p>
                  </a:txBody>
                  <a:tcPr marL="73152" marR="73152" marT="27432" marB="27432" anchor="ctr">
                    <a:solidFill>
                      <a:srgbClr val="FFFFFF"/>
                    </a:solidFill>
                  </a:tcPr>
                </a:tc>
                <a:tc>
                  <a:txBody>
                    <a:bodyPr wrap="square"/>
                    <a:lstStyle/>
                    <a:p>
                      <a:r>
                        <a:rPr sz="1500" b="0">
                          <a:solidFill>
                            <a:srgbClr val="222222"/>
                          </a:solidFill>
                          <a:latin typeface="Calibri"/>
                        </a:rPr>
                        <a:t>A small call budget means the top of the list matters</a:t>
                      </a:r>
                    </a:p>
                  </a:txBody>
                  <a:tcPr marL="73152" marR="73152" marT="27432" marB="27432"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The bar to beat: what a rule of thumb achieves</a:t>
            </a:r>
          </a:p>
        </p:txBody>
      </p:sp>
      <p:sp>
        <p:nvSpPr>
          <p:cNvPr id="3" name="Rectangle 2"/>
          <p:cNvSpPr/>
          <p:nvPr/>
        </p:nvSpPr>
        <p:spPr>
          <a:xfrm>
            <a:off x="411480" y="868680"/>
            <a:ext cx="1138428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1: Problem definition</a:t>
            </a:r>
          </a:p>
          <a:p>
            <a:pPr algn="ctr"/>
            <a:r>
              <a:rPr sz="1000">
                <a:solidFill>
                  <a:srgbClr val="FFFFFF"/>
                </a:solidFill>
                <a:latin typeface="Calibri"/>
              </a:rPr>
              <a:t>Kriti Vajpayee</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a:t>
            </a:r>
          </a:p>
        </p:txBody>
      </p:sp>
      <p:pic>
        <p:nvPicPr>
          <p:cNvPr id="7" name="Picture 6" descr="s1_03_rule_of_thumb.png"/>
          <p:cNvPicPr>
            <a:picLocks noChangeAspect="1"/>
          </p:cNvPicPr>
          <p:nvPr/>
        </p:nvPicPr>
        <p:blipFill>
          <a:blip r:embed="rId3"/>
          <a:stretch>
            <a:fillRect/>
          </a:stretch>
        </p:blipFill>
        <p:spPr>
          <a:xfrm>
            <a:off x="320040" y="1005840"/>
            <a:ext cx="11548872" cy="3597634"/>
          </a:xfrm>
          <a:prstGeom prst="rect">
            <a:avLst/>
          </a:prstGeom>
        </p:spPr>
      </p:pic>
      <p:sp>
        <p:nvSpPr>
          <p:cNvPr id="8" name="Oval 7"/>
          <p:cNvSpPr/>
          <p:nvPr/>
        </p:nvSpPr>
        <p:spPr>
          <a:xfrm>
            <a:off x="548640" y="4877794"/>
            <a:ext cx="128016" cy="128016"/>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768066"/>
            <a:ext cx="10972800" cy="822960"/>
          </a:xfrm>
          <a:prstGeom prst="rect">
            <a:avLst/>
          </a:prstGeom>
          <a:noFill/>
        </p:spPr>
        <p:txBody>
          <a:bodyPr wrap="square" anchor="t" lIns="45720" rIns="45720">
            <a:spAutoFit/>
          </a:bodyPr>
          <a:lstStyle/>
          <a:p>
            <a:pPr algn="l"/>
            <a:r>
              <a:rPr sz="1600" b="0" i="0">
                <a:solidFill>
                  <a:srgbClr val="222222"/>
                </a:solidFill>
                <a:latin typeface="Calibri"/>
              </a:rPr>
              <a:t>For each pillar we picked the simplest sensible rule a company could use today.</a:t>
            </a:r>
          </a:p>
        </p:txBody>
      </p:sp>
      <p:sp>
        <p:nvSpPr>
          <p:cNvPr id="10" name="Oval 9"/>
          <p:cNvSpPr/>
          <p:nvPr/>
        </p:nvSpPr>
        <p:spPr>
          <a:xfrm>
            <a:off x="548640" y="5344138"/>
            <a:ext cx="128016" cy="128016"/>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234410"/>
            <a:ext cx="10972800" cy="822960"/>
          </a:xfrm>
          <a:prstGeom prst="rect">
            <a:avLst/>
          </a:prstGeom>
          <a:noFill/>
        </p:spPr>
        <p:txBody>
          <a:bodyPr wrap="square" anchor="t" lIns="45720" rIns="45720">
            <a:spAutoFit/>
          </a:bodyPr>
          <a:lstStyle/>
          <a:p>
            <a:pPr algn="l"/>
            <a:r>
              <a:rPr sz="1600" b="0" i="0">
                <a:solidFill>
                  <a:srgbClr val="222222"/>
                </a:solidFill>
                <a:latin typeface="Calibri"/>
              </a:rPr>
              <a:t>A model must beat it, and also beat a statistical and a classic ML baseline.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Three public datasets, 1.7 MB in total</a:t>
            </a:r>
          </a:p>
        </p:txBody>
      </p:sp>
      <p:sp>
        <p:nvSpPr>
          <p:cNvPr id="3" name="Rectangle 2"/>
          <p:cNvSpPr/>
          <p:nvPr/>
        </p:nvSpPr>
        <p:spPr>
          <a:xfrm>
            <a:off x="411480" y="868680"/>
            <a:ext cx="1138428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2: Data collection</a:t>
            </a:r>
          </a:p>
          <a:p>
            <a:pPr algn="ctr"/>
            <a:r>
              <a:rPr sz="1000">
                <a:solidFill>
                  <a:srgbClr val="FFFFFF"/>
                </a:solidFill>
                <a:latin typeface="Calibri"/>
              </a:rPr>
              <a:t>Kriti Vajpayee</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6</a:t>
            </a:r>
          </a:p>
        </p:txBody>
      </p:sp>
      <p:pic>
        <p:nvPicPr>
          <p:cNvPr id="7" name="Picture 6" descr="s2_01_data_sources.png"/>
          <p:cNvPicPr>
            <a:picLocks noChangeAspect="1"/>
          </p:cNvPicPr>
          <p:nvPr/>
        </p:nvPicPr>
        <p:blipFill>
          <a:blip r:embed="rId3"/>
          <a:stretch>
            <a:fillRect/>
          </a:stretch>
        </p:blipFill>
        <p:spPr>
          <a:xfrm>
            <a:off x="320040" y="1471275"/>
            <a:ext cx="11548872" cy="450980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The datasets at a glance, with sources</a:t>
            </a:r>
          </a:p>
        </p:txBody>
      </p:sp>
      <p:sp>
        <p:nvSpPr>
          <p:cNvPr id="3" name="Rectangle 2"/>
          <p:cNvSpPr/>
          <p:nvPr/>
        </p:nvSpPr>
        <p:spPr>
          <a:xfrm>
            <a:off x="411480" y="868680"/>
            <a:ext cx="1138428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2: Data collection</a:t>
            </a:r>
          </a:p>
          <a:p>
            <a:pPr algn="ctr"/>
            <a:r>
              <a:rPr sz="1000">
                <a:solidFill>
                  <a:srgbClr val="FFFFFF"/>
                </a:solidFill>
                <a:latin typeface="Calibri"/>
              </a:rPr>
              <a:t>Kriti Vajpayee</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7</a:t>
            </a:r>
          </a:p>
        </p:txBody>
      </p:sp>
      <p:graphicFrame>
        <p:nvGraphicFramePr>
          <p:cNvPr id="7" name="Table 6"/>
          <p:cNvGraphicFramePr>
            <a:graphicFrameLocks noGrp="1"/>
          </p:cNvGraphicFramePr>
          <p:nvPr/>
        </p:nvGraphicFramePr>
        <p:xfrm>
          <a:off x="365760" y="1097280"/>
          <a:ext cx="11429997" cy="4572000"/>
        </p:xfrm>
        <a:graphic>
          <a:graphicData uri="http://schemas.openxmlformats.org/drawingml/2006/table">
            <a:tbl>
              <a:tblPr firstRow="0" bandRow="0">
                <a:tableStyleId>{5C22544A-7EE6-4342-B048-85BDC9FD1C3A}</a:tableStyleId>
              </a:tblPr>
              <a:tblGrid>
                <a:gridCol w="1039090"/>
                <a:gridCol w="2770909"/>
                <a:gridCol w="1298863"/>
                <a:gridCol w="952500"/>
                <a:gridCol w="2251363"/>
                <a:gridCol w="3117272"/>
              </a:tblGrid>
              <a:tr h="1143000">
                <a:tc>
                  <a:txBody>
                    <a:bodyPr wrap="square"/>
                    <a:lstStyle/>
                    <a:p>
                      <a:r>
                        <a:rPr sz="1600" b="1">
                          <a:solidFill>
                            <a:srgbClr val="FFFFFF"/>
                          </a:solidFill>
                          <a:latin typeface="Calibri"/>
                        </a:rPr>
                        <a:t>Pillar</a:t>
                      </a:r>
                    </a:p>
                  </a:txBody>
                  <a:tcPr marL="73152" marR="73152" marT="27432" marB="27432" anchor="ctr">
                    <a:solidFill>
                      <a:srgbClr val="1F4E79"/>
                    </a:solidFill>
                  </a:tcPr>
                </a:tc>
                <a:tc>
                  <a:txBody>
                    <a:bodyPr wrap="square"/>
                    <a:lstStyle/>
                    <a:p>
                      <a:r>
                        <a:rPr sz="1600" b="1">
                          <a:solidFill>
                            <a:srgbClr val="FFFFFF"/>
                          </a:solidFill>
                          <a:latin typeface="Calibri"/>
                        </a:rPr>
                        <a:t>Dataset</a:t>
                      </a:r>
                    </a:p>
                  </a:txBody>
                  <a:tcPr marL="73152" marR="73152" marT="27432" marB="27432" anchor="ctr">
                    <a:solidFill>
                      <a:srgbClr val="1F4E79"/>
                    </a:solidFill>
                  </a:tcPr>
                </a:tc>
                <a:tc>
                  <a:txBody>
                    <a:bodyPr wrap="square"/>
                    <a:lstStyle/>
                    <a:p>
                      <a:r>
                        <a:rPr sz="1600" b="1">
                          <a:solidFill>
                            <a:srgbClr val="FFFFFF"/>
                          </a:solidFill>
                          <a:latin typeface="Calibri"/>
                        </a:rPr>
                        <a:t>Rows</a:t>
                      </a:r>
                    </a:p>
                  </a:txBody>
                  <a:tcPr marL="73152" marR="73152" marT="27432" marB="27432" anchor="ctr">
                    <a:solidFill>
                      <a:srgbClr val="1F4E79"/>
                    </a:solidFill>
                  </a:tcPr>
                </a:tc>
                <a:tc>
                  <a:txBody>
                    <a:bodyPr wrap="square"/>
                    <a:lstStyle/>
                    <a:p>
                      <a:r>
                        <a:rPr sz="1600" b="1">
                          <a:solidFill>
                            <a:srgbClr val="FFFFFF"/>
                          </a:solidFill>
                          <a:latin typeface="Calibri"/>
                        </a:rPr>
                        <a:t>Size</a:t>
                      </a:r>
                    </a:p>
                  </a:txBody>
                  <a:tcPr marL="73152" marR="73152" marT="27432" marB="27432" anchor="ctr">
                    <a:solidFill>
                      <a:srgbClr val="1F4E79"/>
                    </a:solidFill>
                  </a:tcPr>
                </a:tc>
                <a:tc>
                  <a:txBody>
                    <a:bodyPr wrap="square"/>
                    <a:lstStyle/>
                    <a:p>
                      <a:r>
                        <a:rPr sz="1600" b="1">
                          <a:solidFill>
                            <a:srgbClr val="FFFFFF"/>
                          </a:solidFill>
                          <a:latin typeface="Calibri"/>
                        </a:rPr>
                        <a:t>Target</a:t>
                      </a:r>
                    </a:p>
                  </a:txBody>
                  <a:tcPr marL="73152" marR="73152" marT="27432" marB="27432" anchor="ctr">
                    <a:solidFill>
                      <a:srgbClr val="1F4E79"/>
                    </a:solidFill>
                  </a:tcPr>
                </a:tc>
                <a:tc>
                  <a:txBody>
                    <a:bodyPr wrap="square"/>
                    <a:lstStyle/>
                    <a:p>
                      <a:r>
                        <a:rPr sz="1600" b="1">
                          <a:solidFill>
                            <a:srgbClr val="FFFFFF"/>
                          </a:solidFill>
                          <a:latin typeface="Calibri"/>
                        </a:rPr>
                        <a:t>Source</a:t>
                      </a:r>
                    </a:p>
                  </a:txBody>
                  <a:tcPr marL="73152" marR="73152" marT="27432" marB="27432" anchor="ctr">
                    <a:solidFill>
                      <a:srgbClr val="1F4E79"/>
                    </a:solidFill>
                  </a:tcPr>
                </a:tc>
              </a:tr>
              <a:tr h="1143000">
                <a:tc>
                  <a:txBody>
                    <a:bodyPr wrap="square"/>
                    <a:lstStyle/>
                    <a:p>
                      <a:r>
                        <a:rPr sz="1600" b="1">
                          <a:solidFill>
                            <a:srgbClr val="222222"/>
                          </a:solidFill>
                          <a:latin typeface="Calibri"/>
                        </a:rPr>
                        <a:t>1. Demand</a:t>
                      </a:r>
                    </a:p>
                  </a:txBody>
                  <a:tcPr marL="73152" marR="73152" marT="27432" marB="27432" anchor="ctr">
                    <a:solidFill>
                      <a:srgbClr val="FFFFFF"/>
                    </a:solidFill>
                  </a:tcPr>
                </a:tc>
                <a:tc>
                  <a:txBody>
                    <a:bodyPr wrap="square"/>
                    <a:lstStyle/>
                    <a:p>
                      <a:r>
                        <a:rPr sz="1600" b="0">
                          <a:solidFill>
                            <a:srgbClr val="222222"/>
                          </a:solidFill>
                          <a:latin typeface="Calibri"/>
                        </a:rPr>
                        <a:t>HVAC power consumption, hourly 2025</a:t>
                      </a:r>
                    </a:p>
                  </a:txBody>
                  <a:tcPr marL="73152" marR="73152" marT="27432" marB="27432" anchor="ctr">
                    <a:solidFill>
                      <a:srgbClr val="FFFFFF"/>
                    </a:solidFill>
                  </a:tcPr>
                </a:tc>
                <a:tc>
                  <a:txBody>
                    <a:bodyPr wrap="square"/>
                    <a:lstStyle/>
                    <a:p>
                      <a:r>
                        <a:rPr sz="1600" b="0">
                          <a:solidFill>
                            <a:srgbClr val="222222"/>
                          </a:solidFill>
                          <a:latin typeface="Calibri"/>
                        </a:rPr>
                        <a:t>8,760</a:t>
                      </a:r>
                    </a:p>
                  </a:txBody>
                  <a:tcPr marL="73152" marR="73152" marT="27432" marB="27432" anchor="ctr">
                    <a:solidFill>
                      <a:srgbClr val="FFFFFF"/>
                    </a:solidFill>
                  </a:tcPr>
                </a:tc>
                <a:tc>
                  <a:txBody>
                    <a:bodyPr wrap="square"/>
                    <a:lstStyle/>
                    <a:p>
                      <a:r>
                        <a:rPr sz="1600" b="0">
                          <a:solidFill>
                            <a:srgbClr val="222222"/>
                          </a:solidFill>
                          <a:latin typeface="Calibri"/>
                        </a:rPr>
                        <a:t>0.49 MB</a:t>
                      </a:r>
                    </a:p>
                  </a:txBody>
                  <a:tcPr marL="73152" marR="73152" marT="27432" marB="27432" anchor="ctr">
                    <a:solidFill>
                      <a:srgbClr val="FFFFFF"/>
                    </a:solidFill>
                  </a:tcPr>
                </a:tc>
                <a:tc>
                  <a:txBody>
                    <a:bodyPr wrap="square"/>
                    <a:lstStyle/>
                    <a:p>
                      <a:r>
                        <a:rPr sz="1600" b="0">
                          <a:solidFill>
                            <a:srgbClr val="222222"/>
                          </a:solidFill>
                          <a:latin typeface="Calibri"/>
                        </a:rPr>
                        <a:t>Power in kW</a:t>
                      </a:r>
                    </a:p>
                  </a:txBody>
                  <a:tcPr marL="73152" marR="73152" marT="27432" marB="27432" anchor="ctr">
                    <a:solidFill>
                      <a:srgbClr val="FFFFFF"/>
                    </a:solidFill>
                  </a:tcPr>
                </a:tc>
                <a:tc>
                  <a:txBody>
                    <a:bodyPr wrap="square"/>
                    <a:lstStyle/>
                    <a:p>
                      <a:r>
                        <a:rPr sz="1600" b="0">
                          <a:solidFill>
                            <a:srgbClr val="222222"/>
                          </a:solidFill>
                          <a:latin typeface="Calibri"/>
                        </a:rPr>
                        <a:t>kaggle.com/datasets/felixpradoh/hvac-power-consumption</a:t>
                      </a:r>
                    </a:p>
                  </a:txBody>
                  <a:tcPr marL="73152" marR="73152" marT="27432" marB="27432" anchor="ctr">
                    <a:solidFill>
                      <a:srgbClr val="FFFFFF"/>
                    </a:solidFill>
                  </a:tcPr>
                </a:tc>
              </a:tr>
              <a:tr h="1143000">
                <a:tc>
                  <a:txBody>
                    <a:bodyPr wrap="square"/>
                    <a:lstStyle/>
                    <a:p>
                      <a:r>
                        <a:rPr sz="1600" b="1">
                          <a:solidFill>
                            <a:srgbClr val="222222"/>
                          </a:solidFill>
                          <a:latin typeface="Calibri"/>
                        </a:rPr>
                        <a:t>2. Failure</a:t>
                      </a:r>
                    </a:p>
                  </a:txBody>
                  <a:tcPr marL="73152" marR="73152" marT="27432" marB="27432" anchor="ctr">
                    <a:solidFill>
                      <a:srgbClr val="F2F5F8"/>
                    </a:solidFill>
                  </a:tcPr>
                </a:tc>
                <a:tc>
                  <a:txBody>
                    <a:bodyPr wrap="square"/>
                    <a:lstStyle/>
                    <a:p>
                      <a:r>
                        <a:rPr sz="1600" b="0">
                          <a:solidFill>
                            <a:srgbClr val="222222"/>
                          </a:solidFill>
                          <a:latin typeface="Calibri"/>
                        </a:rPr>
                        <a:t>AI4I 2020 Predictive Maintenance</a:t>
                      </a:r>
                    </a:p>
                  </a:txBody>
                  <a:tcPr marL="73152" marR="73152" marT="27432" marB="27432" anchor="ctr">
                    <a:solidFill>
                      <a:srgbClr val="F2F5F8"/>
                    </a:solidFill>
                  </a:tcPr>
                </a:tc>
                <a:tc>
                  <a:txBody>
                    <a:bodyPr wrap="square"/>
                    <a:lstStyle/>
                    <a:p>
                      <a:r>
                        <a:rPr sz="1600" b="0">
                          <a:solidFill>
                            <a:srgbClr val="222222"/>
                          </a:solidFill>
                          <a:latin typeface="Calibri"/>
                        </a:rPr>
                        <a:t>10,000</a:t>
                      </a:r>
                    </a:p>
                  </a:txBody>
                  <a:tcPr marL="73152" marR="73152" marT="27432" marB="27432" anchor="ctr">
                    <a:solidFill>
                      <a:srgbClr val="F2F5F8"/>
                    </a:solidFill>
                  </a:tcPr>
                </a:tc>
                <a:tc>
                  <a:txBody>
                    <a:bodyPr wrap="square"/>
                    <a:lstStyle/>
                    <a:p>
                      <a:r>
                        <a:rPr sz="1600" b="0">
                          <a:solidFill>
                            <a:srgbClr val="222222"/>
                          </a:solidFill>
                          <a:latin typeface="Calibri"/>
                        </a:rPr>
                        <a:t>0.52 MB</a:t>
                      </a:r>
                    </a:p>
                  </a:txBody>
                  <a:tcPr marL="73152" marR="73152" marT="27432" marB="27432" anchor="ctr">
                    <a:solidFill>
                      <a:srgbClr val="F2F5F8"/>
                    </a:solidFill>
                  </a:tcPr>
                </a:tc>
                <a:tc>
                  <a:txBody>
                    <a:bodyPr wrap="square"/>
                    <a:lstStyle/>
                    <a:p>
                      <a:r>
                        <a:rPr sz="1600" b="0">
                          <a:solidFill>
                            <a:srgbClr val="222222"/>
                          </a:solidFill>
                          <a:latin typeface="Calibri"/>
                        </a:rPr>
                        <a:t>Machine failure, 3.39%</a:t>
                      </a:r>
                    </a:p>
                  </a:txBody>
                  <a:tcPr marL="73152" marR="73152" marT="27432" marB="27432" anchor="ctr">
                    <a:solidFill>
                      <a:srgbClr val="F2F5F8"/>
                    </a:solidFill>
                  </a:tcPr>
                </a:tc>
                <a:tc>
                  <a:txBody>
                    <a:bodyPr wrap="square"/>
                    <a:lstStyle/>
                    <a:p>
                      <a:r>
                        <a:rPr sz="1600" b="0">
                          <a:solidFill>
                            <a:srgbClr val="222222"/>
                          </a:solidFill>
                          <a:latin typeface="Calibri"/>
                        </a:rPr>
                        <a:t>archive.ics.uci.edu/dataset/601</a:t>
                      </a:r>
                    </a:p>
                  </a:txBody>
                  <a:tcPr marL="73152" marR="73152" marT="27432" marB="27432" anchor="ctr">
                    <a:solidFill>
                      <a:srgbClr val="F2F5F8"/>
                    </a:solidFill>
                  </a:tcPr>
                </a:tc>
              </a:tr>
              <a:tr h="1143000">
                <a:tc>
                  <a:txBody>
                    <a:bodyPr wrap="square"/>
                    <a:lstStyle/>
                    <a:p>
                      <a:r>
                        <a:rPr sz="1600" b="1">
                          <a:solidFill>
                            <a:srgbClr val="222222"/>
                          </a:solidFill>
                          <a:latin typeface="Calibri"/>
                        </a:rPr>
                        <a:t>3. Churn</a:t>
                      </a:r>
                    </a:p>
                  </a:txBody>
                  <a:tcPr marL="73152" marR="73152" marT="27432" marB="27432" anchor="ctr">
                    <a:solidFill>
                      <a:srgbClr val="FFFFFF"/>
                    </a:solidFill>
                  </a:tcPr>
                </a:tc>
                <a:tc>
                  <a:txBody>
                    <a:bodyPr wrap="square"/>
                    <a:lstStyle/>
                    <a:p>
                      <a:r>
                        <a:rPr sz="1600" b="0">
                          <a:solidFill>
                            <a:srgbClr val="222222"/>
                          </a:solidFill>
                          <a:latin typeface="Calibri"/>
                        </a:rPr>
                        <a:t>Online Retail II (one row per invoice)</a:t>
                      </a:r>
                    </a:p>
                  </a:txBody>
                  <a:tcPr marL="73152" marR="73152" marT="27432" marB="27432" anchor="ctr">
                    <a:solidFill>
                      <a:srgbClr val="FFFFFF"/>
                    </a:solidFill>
                  </a:tcPr>
                </a:tc>
                <a:tc>
                  <a:txBody>
                    <a:bodyPr wrap="square"/>
                    <a:lstStyle/>
                    <a:p>
                      <a:r>
                        <a:rPr sz="1600" b="0">
                          <a:solidFill>
                            <a:srgbClr val="222222"/>
                          </a:solidFill>
                          <a:latin typeface="Calibri"/>
                        </a:rPr>
                        <a:t>44,870 invoices</a:t>
                      </a:r>
                    </a:p>
                  </a:txBody>
                  <a:tcPr marL="73152" marR="73152" marT="27432" marB="27432" anchor="ctr">
                    <a:solidFill>
                      <a:srgbClr val="FFFFFF"/>
                    </a:solidFill>
                  </a:tcPr>
                </a:tc>
                <a:tc>
                  <a:txBody>
                    <a:bodyPr wrap="square"/>
                    <a:lstStyle/>
                    <a:p>
                      <a:r>
                        <a:rPr sz="1600" b="0">
                          <a:solidFill>
                            <a:srgbClr val="222222"/>
                          </a:solidFill>
                          <a:latin typeface="Calibri"/>
                        </a:rPr>
                        <a:t>0.76 MB</a:t>
                      </a:r>
                    </a:p>
                  </a:txBody>
                  <a:tcPr marL="73152" marR="73152" marT="27432" marB="27432" anchor="ctr">
                    <a:solidFill>
                      <a:srgbClr val="FFFFFF"/>
                    </a:solidFill>
                  </a:tcPr>
                </a:tc>
                <a:tc>
                  <a:txBody>
                    <a:bodyPr wrap="square"/>
                    <a:lstStyle/>
                    <a:p>
                      <a:r>
                        <a:rPr sz="1600" b="0">
                          <a:solidFill>
                            <a:srgbClr val="222222"/>
                          </a:solidFill>
                          <a:latin typeface="Calibri"/>
                        </a:rPr>
                        <a:t>No purchase in the next 90 days (built by us)</a:t>
                      </a:r>
                    </a:p>
                  </a:txBody>
                  <a:tcPr marL="73152" marR="73152" marT="27432" marB="27432" anchor="ctr">
                    <a:solidFill>
                      <a:srgbClr val="FFFFFF"/>
                    </a:solidFill>
                  </a:tcPr>
                </a:tc>
                <a:tc>
                  <a:txBody>
                    <a:bodyPr wrap="square"/>
                    <a:lstStyle/>
                    <a:p>
                      <a:r>
                        <a:rPr sz="1600" b="0">
                          <a:solidFill>
                            <a:srgbClr val="222222"/>
                          </a:solidFill>
                          <a:latin typeface="Calibri"/>
                        </a:rPr>
                        <a:t>archive.ics.uci.edu/dataset/502</a:t>
                      </a:r>
                    </a:p>
                  </a:txBody>
                  <a:tcPr marL="73152" marR="73152" marT="27432" marB="27432" anchor="ctr">
                    <a:solidFill>
                      <a:srgbClr val="FFFFFF"/>
                    </a:solidFill>
                  </a:tcPr>
                </a:tc>
              </a:tr>
            </a:tbl>
          </a:graphicData>
        </a:graphic>
      </p:graphicFrame>
      <p:sp>
        <p:nvSpPr>
          <p:cNvPr id="8" name="TextBox 7"/>
          <p:cNvSpPr txBox="1"/>
          <p:nvPr/>
        </p:nvSpPr>
        <p:spPr>
          <a:xfrm>
            <a:off x="411480" y="6108192"/>
            <a:ext cx="11338560" cy="365760"/>
          </a:xfrm>
          <a:prstGeom prst="rect">
            <a:avLst/>
          </a:prstGeom>
          <a:noFill/>
        </p:spPr>
        <p:txBody>
          <a:bodyPr wrap="square" anchor="t" lIns="45720" rIns="45720">
            <a:spAutoFit/>
          </a:bodyPr>
          <a:lstStyle/>
          <a:p>
            <a:pPr algn="l"/>
            <a:r>
              <a:rPr sz="1250" b="0" i="1">
                <a:solidFill>
                  <a:srgbClr val="333333"/>
                </a:solidFill>
                <a:latin typeface="Calibri"/>
              </a:rPr>
              <a:t>Caveats: the HVAC file looks simulated, AI4I is synthetic data about machine tools, and Online Retail II is a UK online gift shop.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A year of hourly readings that move in monthly steps</a:t>
            </a:r>
          </a:p>
        </p:txBody>
      </p:sp>
      <p:sp>
        <p:nvSpPr>
          <p:cNvPr id="3" name="Rectangle 2"/>
          <p:cNvSpPr/>
          <p:nvPr/>
        </p:nvSpPr>
        <p:spPr>
          <a:xfrm>
            <a:off x="411480" y="868680"/>
            <a:ext cx="1138428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2: Data collection</a:t>
            </a:r>
          </a:p>
          <a:p>
            <a:pPr algn="ctr"/>
            <a:r>
              <a:rPr sz="1000">
                <a:solidFill>
                  <a:srgbClr val="FFFFFF"/>
                </a:solidFill>
                <a:latin typeface="Calibri"/>
              </a:rPr>
              <a:t>Kriti Vajpayee</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8</a:t>
            </a:r>
          </a:p>
        </p:txBody>
      </p:sp>
      <p:pic>
        <p:nvPicPr>
          <p:cNvPr id="7" name="Picture 6" descr="s2_02_hvac_year_overview.png"/>
          <p:cNvPicPr>
            <a:picLocks noChangeAspect="1"/>
          </p:cNvPicPr>
          <p:nvPr/>
        </p:nvPicPr>
        <p:blipFill>
          <a:blip r:embed="rId3"/>
          <a:stretch>
            <a:fillRect/>
          </a:stretch>
        </p:blipFill>
        <p:spPr>
          <a:xfrm>
            <a:off x="367327" y="1005840"/>
            <a:ext cx="11454296" cy="544067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AI4I: 339 failures in 10,000 machines</a:t>
            </a:r>
          </a:p>
        </p:txBody>
      </p:sp>
      <p:sp>
        <p:nvSpPr>
          <p:cNvPr id="3" name="Rectangle 2"/>
          <p:cNvSpPr/>
          <p:nvPr/>
        </p:nvSpPr>
        <p:spPr>
          <a:xfrm>
            <a:off x="411480" y="868680"/>
            <a:ext cx="1138428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2: Data collection</a:t>
            </a:r>
          </a:p>
          <a:p>
            <a:pPr algn="ctr"/>
            <a:r>
              <a:rPr sz="1000">
                <a:solidFill>
                  <a:srgbClr val="FFFFFF"/>
                </a:solidFill>
                <a:latin typeface="Calibri"/>
              </a:rPr>
              <a:t>Kriti Vajpayee</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9</a:t>
            </a:r>
          </a:p>
        </p:txBody>
      </p:sp>
      <p:pic>
        <p:nvPicPr>
          <p:cNvPr id="7" name="Picture 6" descr="s2_03_ai4i_composition.png"/>
          <p:cNvPicPr>
            <a:picLocks noChangeAspect="1"/>
          </p:cNvPicPr>
          <p:nvPr/>
        </p:nvPicPr>
        <p:blipFill>
          <a:blip r:embed="rId3"/>
          <a:stretch>
            <a:fillRect/>
          </a:stretch>
        </p:blipFill>
        <p:spPr>
          <a:xfrm>
            <a:off x="320039" y="1005839"/>
            <a:ext cx="11548872" cy="3625856"/>
          </a:xfrm>
          <a:prstGeom prst="rect">
            <a:avLst/>
          </a:prstGeom>
        </p:spPr>
      </p:pic>
      <p:sp>
        <p:nvSpPr>
          <p:cNvPr id="8" name="Oval 7"/>
          <p:cNvSpPr/>
          <p:nvPr/>
        </p:nvSpPr>
        <p:spPr>
          <a:xfrm>
            <a:off x="548640" y="4906016"/>
            <a:ext cx="128016" cy="128016"/>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796288"/>
            <a:ext cx="10972800" cy="822960"/>
          </a:xfrm>
          <a:prstGeom prst="rect">
            <a:avLst/>
          </a:prstGeom>
          <a:noFill/>
        </p:spPr>
        <p:txBody>
          <a:bodyPr wrap="square" anchor="t" lIns="45720" rIns="45720">
            <a:spAutoFit/>
          </a:bodyPr>
          <a:lstStyle/>
          <a:p>
            <a:pPr algn="l"/>
            <a:r>
              <a:rPr sz="1600" b="0" i="0">
                <a:solidFill>
                  <a:srgbClr val="222222"/>
                </a:solidFill>
                <a:latin typeface="Calibri"/>
              </a:rPr>
              <a:t>Low-quality machines fail most.</a:t>
            </a:r>
          </a:p>
        </p:txBody>
      </p:sp>
      <p:sp>
        <p:nvSpPr>
          <p:cNvPr id="10" name="Oval 9"/>
          <p:cNvSpPr/>
          <p:nvPr/>
        </p:nvSpPr>
        <p:spPr>
          <a:xfrm>
            <a:off x="548640" y="5372360"/>
            <a:ext cx="128016" cy="128016"/>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262632"/>
            <a:ext cx="10972800" cy="822960"/>
          </a:xfrm>
          <a:prstGeom prst="rect">
            <a:avLst/>
          </a:prstGeom>
          <a:noFill/>
        </p:spPr>
        <p:txBody>
          <a:bodyPr wrap="square" anchor="t" lIns="45720" rIns="45720">
            <a:spAutoFit/>
          </a:bodyPr>
          <a:lstStyle/>
          <a:p>
            <a:pPr algn="l"/>
            <a:r>
              <a:rPr sz="1600" b="0" i="0">
                <a:solidFill>
                  <a:srgbClr val="222222"/>
                </a:solidFill>
                <a:latin typeface="Calibri"/>
              </a:rPr>
              <a:t>Heat dissipation, overstrain and power failures dominate.</a:t>
            </a:r>
          </a:p>
        </p:txBody>
      </p:sp>
      <p:sp>
        <p:nvSpPr>
          <p:cNvPr id="12" name="Oval 11"/>
          <p:cNvSpPr/>
          <p:nvPr/>
        </p:nvSpPr>
        <p:spPr>
          <a:xfrm>
            <a:off x="548640" y="5838704"/>
            <a:ext cx="128016" cy="128016"/>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728976"/>
            <a:ext cx="10972800" cy="822960"/>
          </a:xfrm>
          <a:prstGeom prst="rect">
            <a:avLst/>
          </a:prstGeom>
          <a:noFill/>
        </p:spPr>
        <p:txBody>
          <a:bodyPr wrap="square" anchor="t" lIns="45720" rIns="45720">
            <a:spAutoFit/>
          </a:bodyPr>
          <a:lstStyle/>
          <a:p>
            <a:pPr algn="l"/>
            <a:r>
              <a:rPr sz="1600" b="0" i="0">
                <a:solidFill>
                  <a:srgbClr val="222222"/>
                </a:solidFill>
                <a:latin typeface="Calibri"/>
              </a:rPr>
              <a:t>The failure-type columns are never used as inputs.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Online Retail II: seasonal peaks, mostly UK customers</a:t>
            </a:r>
          </a:p>
        </p:txBody>
      </p:sp>
      <p:sp>
        <p:nvSpPr>
          <p:cNvPr id="3" name="Rectangle 2"/>
          <p:cNvSpPr/>
          <p:nvPr/>
        </p:nvSpPr>
        <p:spPr>
          <a:xfrm>
            <a:off x="411480" y="868680"/>
            <a:ext cx="11384280" cy="457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2: Data collection</a:t>
            </a:r>
          </a:p>
          <a:p>
            <a:pPr algn="ctr"/>
            <a:r>
              <a:rPr sz="1000">
                <a:solidFill>
                  <a:srgbClr val="FFFFFF"/>
                </a:solidFill>
                <a:latin typeface="Calibri"/>
              </a:rPr>
              <a:t>Kriti Vajpayee</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10</a:t>
            </a:r>
          </a:p>
        </p:txBody>
      </p:sp>
      <p:pic>
        <p:nvPicPr>
          <p:cNvPr id="7" name="Picture 6" descr="s2_04_retail_activity.png"/>
          <p:cNvPicPr>
            <a:picLocks noChangeAspect="1"/>
          </p:cNvPicPr>
          <p:nvPr/>
        </p:nvPicPr>
        <p:blipFill>
          <a:blip r:embed="rId3"/>
          <a:stretch>
            <a:fillRect/>
          </a:stretch>
        </p:blipFill>
        <p:spPr>
          <a:xfrm>
            <a:off x="320040" y="1005840"/>
            <a:ext cx="11548872" cy="3504592"/>
          </a:xfrm>
          <a:prstGeom prst="rect">
            <a:avLst/>
          </a:prstGeom>
        </p:spPr>
      </p:pic>
      <p:sp>
        <p:nvSpPr>
          <p:cNvPr id="8" name="Oval 7"/>
          <p:cNvSpPr/>
          <p:nvPr/>
        </p:nvSpPr>
        <p:spPr>
          <a:xfrm>
            <a:off x="548640" y="4784752"/>
            <a:ext cx="128016" cy="128016"/>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675024"/>
            <a:ext cx="10972800" cy="822960"/>
          </a:xfrm>
          <a:prstGeom prst="rect">
            <a:avLst/>
          </a:prstGeom>
          <a:noFill/>
        </p:spPr>
        <p:txBody>
          <a:bodyPr wrap="square" anchor="t" lIns="45720" rIns="45720">
            <a:spAutoFit/>
          </a:bodyPr>
          <a:lstStyle/>
          <a:p>
            <a:pPr algn="l"/>
            <a:r>
              <a:rPr sz="1600" b="0" i="0">
                <a:solidFill>
                  <a:srgbClr val="222222"/>
                </a:solidFill>
                <a:latin typeface="Calibri"/>
              </a:rPr>
              <a:t>Invoices and active customers peak in October and November.</a:t>
            </a:r>
          </a:p>
        </p:txBody>
      </p:sp>
      <p:sp>
        <p:nvSpPr>
          <p:cNvPr id="10" name="Oval 9"/>
          <p:cNvSpPr/>
          <p:nvPr/>
        </p:nvSpPr>
        <p:spPr>
          <a:xfrm>
            <a:off x="548640" y="5251096"/>
            <a:ext cx="128016" cy="128016"/>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41368"/>
            <a:ext cx="10972800" cy="822960"/>
          </a:xfrm>
          <a:prstGeom prst="rect">
            <a:avLst/>
          </a:prstGeom>
          <a:noFill/>
        </p:spPr>
        <p:txBody>
          <a:bodyPr wrap="square" anchor="t" lIns="45720" rIns="45720">
            <a:spAutoFit/>
          </a:bodyPr>
          <a:lstStyle/>
          <a:p>
            <a:pPr algn="l"/>
            <a:r>
              <a:rPr sz="1600" b="0" i="0">
                <a:solidFill>
                  <a:srgbClr val="222222"/>
                </a:solidFill>
                <a:latin typeface="Calibri"/>
              </a:rPr>
              <a:t>December 2011 is partial.</a:t>
            </a:r>
          </a:p>
        </p:txBody>
      </p:sp>
      <p:sp>
        <p:nvSpPr>
          <p:cNvPr id="12" name="Oval 11"/>
          <p:cNvSpPr/>
          <p:nvPr/>
        </p:nvSpPr>
        <p:spPr>
          <a:xfrm>
            <a:off x="548640" y="5717440"/>
            <a:ext cx="128016" cy="128016"/>
          </a:xfrm>
          <a:prstGeom prst="ellipse">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607712"/>
            <a:ext cx="10972800" cy="822960"/>
          </a:xfrm>
          <a:prstGeom prst="rect">
            <a:avLst/>
          </a:prstGeom>
          <a:noFill/>
        </p:spPr>
        <p:txBody>
          <a:bodyPr wrap="square" anchor="t" lIns="45720" rIns="45720">
            <a:spAutoFit/>
          </a:bodyPr>
          <a:lstStyle/>
          <a:p>
            <a:pPr algn="l"/>
            <a:r>
              <a:rPr sz="1600" b="0" i="0">
                <a:solidFill>
                  <a:srgbClr val="222222"/>
                </a:solidFill>
                <a:latin typeface="Calibri"/>
              </a:rPr>
              <a:t>This seasonality affects how we read churn.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From 1.07 million lines to 44,870 invoices</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3: Data cleaning</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11</a:t>
            </a:r>
          </a:p>
        </p:txBody>
      </p:sp>
      <p:pic>
        <p:nvPicPr>
          <p:cNvPr id="7" name="Picture 6" descr="s3_01_retail_cleaning_funnel.png"/>
          <p:cNvPicPr>
            <a:picLocks noChangeAspect="1"/>
          </p:cNvPicPr>
          <p:nvPr/>
        </p:nvPicPr>
        <p:blipFill>
          <a:blip r:embed="rId3"/>
          <a:stretch>
            <a:fillRect/>
          </a:stretch>
        </p:blipFill>
        <p:spPr>
          <a:xfrm>
            <a:off x="320039" y="1005840"/>
            <a:ext cx="11548872" cy="3725308"/>
          </a:xfrm>
          <a:prstGeom prst="rect">
            <a:avLst/>
          </a:prstGeom>
        </p:spPr>
      </p:pic>
      <p:sp>
        <p:nvSpPr>
          <p:cNvPr id="8" name="Oval 7"/>
          <p:cNvSpPr/>
          <p:nvPr/>
        </p:nvSpPr>
        <p:spPr>
          <a:xfrm>
            <a:off x="548640" y="5005468"/>
            <a:ext cx="128016" cy="128016"/>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895740"/>
            <a:ext cx="10972800" cy="822960"/>
          </a:xfrm>
          <a:prstGeom prst="rect">
            <a:avLst/>
          </a:prstGeom>
          <a:noFill/>
        </p:spPr>
        <p:txBody>
          <a:bodyPr wrap="square" anchor="t" lIns="45720" rIns="45720">
            <a:spAutoFit/>
          </a:bodyPr>
          <a:lstStyle/>
          <a:p>
            <a:pPr algn="l"/>
            <a:r>
              <a:rPr sz="1600" b="0" i="0">
                <a:solidFill>
                  <a:srgbClr val="222222"/>
                </a:solidFill>
                <a:latin typeface="Calibri"/>
              </a:rPr>
              <a:t>We drop lines without a customer id (22.8%) and lines with a price of zero or less, then group by invoice.</a:t>
            </a:r>
          </a:p>
        </p:txBody>
      </p:sp>
      <p:sp>
        <p:nvSpPr>
          <p:cNvPr id="10" name="Oval 9"/>
          <p:cNvSpPr/>
          <p:nvPr/>
        </p:nvSpPr>
        <p:spPr>
          <a:xfrm>
            <a:off x="548640" y="5471812"/>
            <a:ext cx="128016" cy="128016"/>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62084"/>
            <a:ext cx="10972800" cy="822960"/>
          </a:xfrm>
          <a:prstGeom prst="rect">
            <a:avLst/>
          </a:prstGeom>
          <a:noFill/>
        </p:spPr>
        <p:txBody>
          <a:bodyPr wrap="square" anchor="t" lIns="45720" rIns="45720">
            <a:spAutoFit/>
          </a:bodyPr>
          <a:lstStyle/>
          <a:p>
            <a:pPr algn="l"/>
            <a:r>
              <a:rPr sz="1600" b="0" i="0">
                <a:solidFill>
                  <a:srgbClr val="222222"/>
                </a:solidFill>
                <a:latin typeface="Calibri"/>
              </a:rPr>
              <a:t>The right panel shows rows per churn snapshot and the lapse rate.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The churn target is built from the future</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3: Data cleaning</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12</a:t>
            </a:r>
          </a:p>
        </p:txBody>
      </p:sp>
      <p:pic>
        <p:nvPicPr>
          <p:cNvPr id="7" name="Picture 6" descr="s3_02_churn_table_timeline.png"/>
          <p:cNvPicPr>
            <a:picLocks noChangeAspect="1"/>
          </p:cNvPicPr>
          <p:nvPr/>
        </p:nvPicPr>
        <p:blipFill>
          <a:blip r:embed="rId3"/>
          <a:stretch>
            <a:fillRect/>
          </a:stretch>
        </p:blipFill>
        <p:spPr>
          <a:xfrm>
            <a:off x="320040" y="1353872"/>
            <a:ext cx="11548872" cy="474461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Every test hides data the model never saw</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3: Data cleaning</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13</a:t>
            </a:r>
          </a:p>
        </p:txBody>
      </p:sp>
      <p:pic>
        <p:nvPicPr>
          <p:cNvPr id="7" name="Picture 6" descr="s3_03_split_designs.png"/>
          <p:cNvPicPr>
            <a:picLocks noChangeAspect="1"/>
          </p:cNvPicPr>
          <p:nvPr/>
        </p:nvPicPr>
        <p:blipFill>
          <a:blip r:embed="rId3"/>
          <a:stretch>
            <a:fillRect/>
          </a:stretch>
        </p:blipFill>
        <p:spPr>
          <a:xfrm>
            <a:off x="1202733" y="1005840"/>
            <a:ext cx="9783484" cy="544067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Seven guards against leakage</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3: Data cleaning</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14</a:t>
            </a:r>
          </a:p>
        </p:txBody>
      </p:sp>
      <p:graphicFrame>
        <p:nvGraphicFramePr>
          <p:cNvPr id="7" name="Table 6"/>
          <p:cNvGraphicFramePr>
            <a:graphicFrameLocks noGrp="1"/>
          </p:cNvGraphicFramePr>
          <p:nvPr/>
        </p:nvGraphicFramePr>
        <p:xfrm>
          <a:off x="365760" y="1097280"/>
          <a:ext cx="11430000" cy="4535424"/>
        </p:xfrm>
        <a:graphic>
          <a:graphicData uri="http://schemas.openxmlformats.org/drawingml/2006/table">
            <a:tbl>
              <a:tblPr firstRow="0" bandRow="0">
                <a:tableStyleId>{5C22544A-7EE6-4342-B048-85BDC9FD1C3A}</a:tableStyleId>
              </a:tblPr>
              <a:tblGrid>
                <a:gridCol w="3238500"/>
                <a:gridCol w="5143500"/>
                <a:gridCol w="3048000"/>
              </a:tblGrid>
              <a:tr h="566928">
                <a:tc>
                  <a:txBody>
                    <a:bodyPr wrap="square"/>
                    <a:lstStyle/>
                    <a:p>
                      <a:r>
                        <a:rPr sz="1500" b="1">
                          <a:solidFill>
                            <a:srgbClr val="FFFFFF"/>
                          </a:solidFill>
                          <a:latin typeface="Calibri"/>
                        </a:rPr>
                        <a:t>Risk</a:t>
                      </a:r>
                    </a:p>
                  </a:txBody>
                  <a:tcPr marL="73152" marR="73152" marT="27432" marB="27432" anchor="ctr">
                    <a:solidFill>
                      <a:srgbClr val="1F4E79"/>
                    </a:solidFill>
                  </a:tcPr>
                </a:tc>
                <a:tc>
                  <a:txBody>
                    <a:bodyPr wrap="square"/>
                    <a:lstStyle/>
                    <a:p>
                      <a:r>
                        <a:rPr sz="1500" b="1">
                          <a:solidFill>
                            <a:srgbClr val="FFFFFF"/>
                          </a:solidFill>
                          <a:latin typeface="Calibri"/>
                        </a:rPr>
                        <a:t>What we did</a:t>
                      </a:r>
                    </a:p>
                  </a:txBody>
                  <a:tcPr marL="73152" marR="73152" marT="27432" marB="27432" anchor="ctr">
                    <a:solidFill>
                      <a:srgbClr val="1F4E79"/>
                    </a:solidFill>
                  </a:tcPr>
                </a:tc>
                <a:tc>
                  <a:txBody>
                    <a:bodyPr wrap="square"/>
                    <a:lstStyle/>
                    <a:p>
                      <a:r>
                        <a:rPr sz="1500" b="1">
                          <a:solidFill>
                            <a:srgbClr val="FFFFFF"/>
                          </a:solidFill>
                          <a:latin typeface="Calibri"/>
                        </a:rPr>
                        <a:t>Check</a:t>
                      </a:r>
                    </a:p>
                  </a:txBody>
                  <a:tcPr marL="73152" marR="73152" marT="27432" marB="27432" anchor="ctr">
                    <a:solidFill>
                      <a:srgbClr val="1F4E79"/>
                    </a:solidFill>
                  </a:tcPr>
                </a:tc>
              </a:tr>
              <a:tr h="566928">
                <a:tc>
                  <a:txBody>
                    <a:bodyPr wrap="square"/>
                    <a:lstStyle/>
                    <a:p>
                      <a:r>
                        <a:rPr sz="1500" b="1">
                          <a:solidFill>
                            <a:srgbClr val="222222"/>
                          </a:solidFill>
                          <a:latin typeface="Calibri"/>
                        </a:rPr>
                        <a:t>Features that use the future (churn)</a:t>
                      </a:r>
                    </a:p>
                  </a:txBody>
                  <a:tcPr marL="73152" marR="73152" marT="27432" marB="27432" anchor="ctr">
                    <a:solidFill>
                      <a:srgbClr val="FFFFFF"/>
                    </a:solidFill>
                  </a:tcPr>
                </a:tc>
                <a:tc>
                  <a:txBody>
                    <a:bodyPr wrap="square"/>
                    <a:lstStyle/>
                    <a:p>
                      <a:r>
                        <a:rPr sz="1500" b="0">
                          <a:solidFill>
                            <a:srgbClr val="222222"/>
                          </a:solidFill>
                          <a:latin typeface="Calibri"/>
                        </a:rPr>
                        <a:t>Features look only at invoices before the cutoff</a:t>
                      </a:r>
                    </a:p>
                  </a:txBody>
                  <a:tcPr marL="73152" marR="73152" marT="27432" marB="27432" anchor="ctr">
                    <a:solidFill>
                      <a:srgbClr val="FFFFFF"/>
                    </a:solidFill>
                  </a:tcPr>
                </a:tc>
                <a:tc>
                  <a:txBody>
                    <a:bodyPr wrap="square"/>
                    <a:lstStyle/>
                    <a:p>
                      <a:r>
                        <a:rPr sz="1500" b="0">
                          <a:solidFill>
                            <a:srgbClr val="222222"/>
                          </a:solidFill>
                          <a:latin typeface="Calibri"/>
                        </a:rPr>
                        <a:t>Automated test deletes later invoices</a:t>
                      </a:r>
                    </a:p>
                  </a:txBody>
                  <a:tcPr marL="73152" marR="73152" marT="27432" marB="27432" anchor="ctr">
                    <a:solidFill>
                      <a:srgbClr val="FFFFFF"/>
                    </a:solidFill>
                  </a:tcPr>
                </a:tc>
              </a:tr>
              <a:tr h="566928">
                <a:tc>
                  <a:txBody>
                    <a:bodyPr wrap="square"/>
                    <a:lstStyle/>
                    <a:p>
                      <a:r>
                        <a:rPr sz="1500" b="1">
                          <a:solidFill>
                            <a:srgbClr val="222222"/>
                          </a:solidFill>
                          <a:latin typeface="Calibri"/>
                        </a:rPr>
                        <a:t>Target built from the past (churn)</a:t>
                      </a:r>
                    </a:p>
                  </a:txBody>
                  <a:tcPr marL="73152" marR="73152" marT="27432" marB="27432" anchor="ctr">
                    <a:solidFill>
                      <a:srgbClr val="F2F5F8"/>
                    </a:solidFill>
                  </a:tcPr>
                </a:tc>
                <a:tc>
                  <a:txBody>
                    <a:bodyPr wrap="square"/>
                    <a:lstStyle/>
                    <a:p>
                      <a:r>
                        <a:rPr sz="1500" b="0">
                          <a:solidFill>
                            <a:srgbClr val="222222"/>
                          </a:solidFill>
                          <a:latin typeface="Calibri"/>
                        </a:rPr>
                        <a:t>Target looks only at invoices after the cutoff</a:t>
                      </a:r>
                    </a:p>
                  </a:txBody>
                  <a:tcPr marL="73152" marR="73152" marT="27432" marB="27432" anchor="ctr">
                    <a:solidFill>
                      <a:srgbClr val="F2F5F8"/>
                    </a:solidFill>
                  </a:tcPr>
                </a:tc>
                <a:tc>
                  <a:txBody>
                    <a:bodyPr wrap="square"/>
                    <a:lstStyle/>
                    <a:p>
                      <a:r>
                        <a:rPr sz="1500" b="0">
                          <a:solidFill>
                            <a:srgbClr val="222222"/>
                          </a:solidFill>
                          <a:latin typeface="Calibri"/>
                        </a:rPr>
                        <a:t>Automated test</a:t>
                      </a:r>
                    </a:p>
                  </a:txBody>
                  <a:tcPr marL="73152" marR="73152" marT="27432" marB="27432" anchor="ctr">
                    <a:solidFill>
                      <a:srgbClr val="F2F5F8"/>
                    </a:solidFill>
                  </a:tcPr>
                </a:tc>
              </a:tr>
              <a:tr h="566928">
                <a:tc>
                  <a:txBody>
                    <a:bodyPr wrap="square"/>
                    <a:lstStyle/>
                    <a:p>
                      <a:r>
                        <a:rPr sz="1500" b="1">
                          <a:solidFill>
                            <a:srgbClr val="222222"/>
                          </a:solidFill>
                          <a:latin typeface="Calibri"/>
                        </a:rPr>
                        <a:t>Same customer in training and test</a:t>
                      </a:r>
                    </a:p>
                  </a:txBody>
                  <a:tcPr marL="73152" marR="73152" marT="27432" marB="27432" anchor="ctr">
                    <a:solidFill>
                      <a:srgbClr val="FFFFFF"/>
                    </a:solidFill>
                  </a:tcPr>
                </a:tc>
                <a:tc>
                  <a:txBody>
                    <a:bodyPr wrap="square"/>
                    <a:lstStyle/>
                    <a:p>
                      <a:r>
                        <a:rPr sz="1500" b="0">
                          <a:solidFill>
                            <a:srgbClr val="222222"/>
                          </a:solidFill>
                          <a:latin typeface="Calibri"/>
                        </a:rPr>
                        <a:t>Customers are split before rows are built</a:t>
                      </a:r>
                    </a:p>
                  </a:txBody>
                  <a:tcPr marL="73152" marR="73152" marT="27432" marB="27432" anchor="ctr">
                    <a:solidFill>
                      <a:srgbClr val="FFFFFF"/>
                    </a:solidFill>
                  </a:tcPr>
                </a:tc>
                <a:tc>
                  <a:txBody>
                    <a:bodyPr wrap="square"/>
                    <a:lstStyle/>
                    <a:p>
                      <a:r>
                        <a:rPr sz="1500" b="0">
                          <a:solidFill>
                            <a:srgbClr val="222222"/>
                          </a:solidFill>
                          <a:latin typeface="Calibri"/>
                        </a:rPr>
                        <a:t>Automated test</a:t>
                      </a:r>
                    </a:p>
                  </a:txBody>
                  <a:tcPr marL="73152" marR="73152" marT="27432" marB="27432" anchor="ctr">
                    <a:solidFill>
                      <a:srgbClr val="FFFFFF"/>
                    </a:solidFill>
                  </a:tcPr>
                </a:tc>
              </a:tr>
              <a:tr h="566928">
                <a:tc>
                  <a:txBody>
                    <a:bodyPr wrap="square"/>
                    <a:lstStyle/>
                    <a:p>
                      <a:r>
                        <a:rPr sz="1500" b="1">
                          <a:solidFill>
                            <a:srgbClr val="222222"/>
                          </a:solidFill>
                          <a:latin typeface="Calibri"/>
                        </a:rPr>
                        <a:t>Overlapping windows</a:t>
                      </a:r>
                    </a:p>
                  </a:txBody>
                  <a:tcPr marL="73152" marR="73152" marT="27432" marB="27432" anchor="ctr">
                    <a:solidFill>
                      <a:srgbClr val="F2F5F8"/>
                    </a:solidFill>
                  </a:tcPr>
                </a:tc>
                <a:tc>
                  <a:txBody>
                    <a:bodyPr wrap="square"/>
                    <a:lstStyle/>
                    <a:p>
                      <a:r>
                        <a:rPr sz="1500" b="0">
                          <a:solidFill>
                            <a:srgbClr val="222222"/>
                          </a:solidFill>
                          <a:latin typeface="Calibri"/>
                        </a:rPr>
                        <a:t>Last training window ends before the test cutoff</a:t>
                      </a:r>
                    </a:p>
                  </a:txBody>
                  <a:tcPr marL="73152" marR="73152" marT="27432" marB="27432" anchor="ctr">
                    <a:solidFill>
                      <a:srgbClr val="F2F5F8"/>
                    </a:solidFill>
                  </a:tcPr>
                </a:tc>
                <a:tc>
                  <a:txBody>
                    <a:bodyPr wrap="square"/>
                    <a:lstStyle/>
                    <a:p>
                      <a:r>
                        <a:rPr sz="1500" b="0">
                          <a:solidFill>
                            <a:srgbClr val="222222"/>
                          </a:solidFill>
                          <a:latin typeface="Calibri"/>
                        </a:rPr>
                        <a:t>Automated test</a:t>
                      </a:r>
                    </a:p>
                  </a:txBody>
                  <a:tcPr marL="73152" marR="73152" marT="27432" marB="27432" anchor="ctr">
                    <a:solidFill>
                      <a:srgbClr val="F2F5F8"/>
                    </a:solidFill>
                  </a:tcPr>
                </a:tc>
              </a:tr>
              <a:tr h="566928">
                <a:tc>
                  <a:txBody>
                    <a:bodyPr wrap="square"/>
                    <a:lstStyle/>
                    <a:p>
                      <a:r>
                        <a:rPr sz="1500" b="1">
                          <a:solidFill>
                            <a:srgbClr val="222222"/>
                          </a:solidFill>
                          <a:latin typeface="Calibri"/>
                        </a:rPr>
                        <a:t>Answer hidden in the inputs (failure)</a:t>
                      </a:r>
                    </a:p>
                  </a:txBody>
                  <a:tcPr marL="73152" marR="73152" marT="27432" marB="27432" anchor="ctr">
                    <a:solidFill>
                      <a:srgbClr val="FFFFFF"/>
                    </a:solidFill>
                  </a:tcPr>
                </a:tc>
                <a:tc>
                  <a:txBody>
                    <a:bodyPr wrap="square"/>
                    <a:lstStyle/>
                    <a:p>
                      <a:r>
                        <a:rPr sz="1500" b="0">
                          <a:solidFill>
                            <a:srgbClr val="222222"/>
                          </a:solidFill>
                          <a:latin typeface="Calibri"/>
                        </a:rPr>
                        <a:t>The five failure-type columns are never inputs</a:t>
                      </a:r>
                    </a:p>
                  </a:txBody>
                  <a:tcPr marL="73152" marR="73152" marT="27432" marB="27432" anchor="ctr">
                    <a:solidFill>
                      <a:srgbClr val="FFFFFF"/>
                    </a:solidFill>
                  </a:tcPr>
                </a:tc>
                <a:tc>
                  <a:txBody>
                    <a:bodyPr wrap="square"/>
                    <a:lstStyle/>
                    <a:p>
                      <a:r>
                        <a:rPr sz="1500" b="0">
                          <a:solidFill>
                            <a:srgbClr val="222222"/>
                          </a:solidFill>
                          <a:latin typeface="Calibri"/>
                        </a:rPr>
                        <a:t>Automated test</a:t>
                      </a:r>
                    </a:p>
                  </a:txBody>
                  <a:tcPr marL="73152" marR="73152" marT="27432" marB="27432" anchor="ctr">
                    <a:solidFill>
                      <a:srgbClr val="FFFFFF"/>
                    </a:solidFill>
                  </a:tcPr>
                </a:tc>
              </a:tr>
              <a:tr h="566928">
                <a:tc>
                  <a:txBody>
                    <a:bodyPr wrap="square"/>
                    <a:lstStyle/>
                    <a:p>
                      <a:r>
                        <a:rPr sz="1500" b="1">
                          <a:solidFill>
                            <a:srgbClr val="222222"/>
                          </a:solidFill>
                          <a:latin typeface="Calibri"/>
                        </a:rPr>
                        <a:t>Test statistics in the pipeline</a:t>
                      </a:r>
                    </a:p>
                  </a:txBody>
                  <a:tcPr marL="73152" marR="73152" marT="27432" marB="27432" anchor="ctr">
                    <a:solidFill>
                      <a:srgbClr val="F2F5F8"/>
                    </a:solidFill>
                  </a:tcPr>
                </a:tc>
                <a:tc>
                  <a:txBody>
                    <a:bodyPr wrap="square"/>
                    <a:lstStyle/>
                    <a:p>
                      <a:r>
                        <a:rPr sz="1500" b="0">
                          <a:solidFill>
                            <a:srgbClr val="222222"/>
                          </a:solidFill>
                          <a:latin typeface="Calibri"/>
                        </a:rPr>
                        <a:t>Imputing and scaling sit inside the model pipeline</a:t>
                      </a:r>
                    </a:p>
                  </a:txBody>
                  <a:tcPr marL="73152" marR="73152" marT="27432" marB="27432" anchor="ctr">
                    <a:solidFill>
                      <a:srgbClr val="F2F5F8"/>
                    </a:solidFill>
                  </a:tcPr>
                </a:tc>
                <a:tc>
                  <a:txBody>
                    <a:bodyPr wrap="square"/>
                    <a:lstStyle/>
                    <a:p>
                      <a:r>
                        <a:rPr sz="1500" b="0">
                          <a:solidFill>
                            <a:srgbClr val="222222"/>
                          </a:solidFill>
                          <a:latin typeface="Calibri"/>
                        </a:rPr>
                        <a:t>By design</a:t>
                      </a:r>
                    </a:p>
                  </a:txBody>
                  <a:tcPr marL="73152" marR="73152" marT="27432" marB="27432" anchor="ctr">
                    <a:solidFill>
                      <a:srgbClr val="F2F5F8"/>
                    </a:solidFill>
                  </a:tcPr>
                </a:tc>
              </a:tr>
              <a:tr h="566928">
                <a:tc>
                  <a:txBody>
                    <a:bodyPr wrap="square"/>
                    <a:lstStyle/>
                    <a:p>
                      <a:r>
                        <a:rPr sz="1500" b="1">
                          <a:solidFill>
                            <a:srgbClr val="222222"/>
                          </a:solidFill>
                          <a:latin typeface="Calibri"/>
                        </a:rPr>
                        <a:t>Threshold chosen on test data</a:t>
                      </a:r>
                    </a:p>
                  </a:txBody>
                  <a:tcPr marL="73152" marR="73152" marT="27432" marB="27432" anchor="ctr">
                    <a:solidFill>
                      <a:srgbClr val="FFFFFF"/>
                    </a:solidFill>
                  </a:tcPr>
                </a:tc>
                <a:tc>
                  <a:txBody>
                    <a:bodyPr wrap="square"/>
                    <a:lstStyle/>
                    <a:p>
                      <a:r>
                        <a:rPr sz="1500" b="0">
                          <a:solidFill>
                            <a:srgbClr val="222222"/>
                          </a:solidFill>
                          <a:latin typeface="Calibri"/>
                        </a:rPr>
                        <a:t>Threshold comes from out-of-fold training scores</a:t>
                      </a:r>
                    </a:p>
                  </a:txBody>
                  <a:tcPr marL="73152" marR="73152" marT="27432" marB="27432" anchor="ctr">
                    <a:solidFill>
                      <a:srgbClr val="FFFFFF"/>
                    </a:solidFill>
                  </a:tcPr>
                </a:tc>
                <a:tc>
                  <a:txBody>
                    <a:bodyPr wrap="square"/>
                    <a:lstStyle/>
                    <a:p>
                      <a:r>
                        <a:rPr sz="1500" b="0">
                          <a:solidFill>
                            <a:srgbClr val="222222"/>
                          </a:solidFill>
                          <a:latin typeface="Calibri"/>
                        </a:rPr>
                        <a:t>By design</a:t>
                      </a:r>
                    </a:p>
                  </a:txBody>
                  <a:tcPr marL="73152" marR="73152" marT="27432" marB="27432"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Power depends on the month first, the hour second</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4: Data exploration</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15</a:t>
            </a:r>
          </a:p>
        </p:txBody>
      </p:sp>
      <p:pic>
        <p:nvPicPr>
          <p:cNvPr id="7" name="Picture 6" descr="s4_01_hvac_heatmap.png"/>
          <p:cNvPicPr>
            <a:picLocks noChangeAspect="1"/>
          </p:cNvPicPr>
          <p:nvPr/>
        </p:nvPicPr>
        <p:blipFill>
          <a:blip r:embed="rId3"/>
          <a:stretch>
            <a:fillRect/>
          </a:stretch>
        </p:blipFill>
        <p:spPr>
          <a:xfrm>
            <a:off x="1299845" y="1005840"/>
            <a:ext cx="9589260" cy="5440679"/>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Mode follows temperature; power follows the gap</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4: Data exploration</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16</a:t>
            </a:r>
          </a:p>
        </p:txBody>
      </p:sp>
      <p:pic>
        <p:nvPicPr>
          <p:cNvPr id="7" name="Picture 6" descr="s4_02_hvac_modes.png"/>
          <p:cNvPicPr>
            <a:picLocks noChangeAspect="1"/>
          </p:cNvPicPr>
          <p:nvPr/>
        </p:nvPicPr>
        <p:blipFill>
          <a:blip r:embed="rId3"/>
          <a:stretch>
            <a:fillRect/>
          </a:stretch>
        </p:blipFill>
        <p:spPr>
          <a:xfrm>
            <a:off x="320040" y="1005840"/>
            <a:ext cx="11548872" cy="3330137"/>
          </a:xfrm>
          <a:prstGeom prst="rect">
            <a:avLst/>
          </a:prstGeom>
        </p:spPr>
      </p:pic>
      <p:sp>
        <p:nvSpPr>
          <p:cNvPr id="8" name="Oval 7"/>
          <p:cNvSpPr/>
          <p:nvPr/>
        </p:nvSpPr>
        <p:spPr>
          <a:xfrm>
            <a:off x="548640" y="4610297"/>
            <a:ext cx="128016" cy="128016"/>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500569"/>
            <a:ext cx="10972800" cy="822960"/>
          </a:xfrm>
          <a:prstGeom prst="rect">
            <a:avLst/>
          </a:prstGeom>
          <a:noFill/>
        </p:spPr>
        <p:txBody>
          <a:bodyPr wrap="square" anchor="t" lIns="45720" rIns="45720">
            <a:spAutoFit/>
          </a:bodyPr>
          <a:lstStyle/>
          <a:p>
            <a:pPr algn="l"/>
            <a:r>
              <a:rPr sz="1800" b="0" i="0">
                <a:solidFill>
                  <a:srgbClr val="222222"/>
                </a:solidFill>
                <a:latin typeface="Calibri"/>
              </a:rPr>
              <a:t>Idle 0.19 kW, heating 1.84 kW, cooling 2.73 kW.</a:t>
            </a:r>
          </a:p>
        </p:txBody>
      </p:sp>
      <p:sp>
        <p:nvSpPr>
          <p:cNvPr id="10" name="Oval 9"/>
          <p:cNvSpPr/>
          <p:nvPr/>
        </p:nvSpPr>
        <p:spPr>
          <a:xfrm>
            <a:off x="548640" y="5140649"/>
            <a:ext cx="128016" cy="128016"/>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030921"/>
            <a:ext cx="10972800" cy="822960"/>
          </a:xfrm>
          <a:prstGeom prst="rect">
            <a:avLst/>
          </a:prstGeom>
          <a:noFill/>
        </p:spPr>
        <p:txBody>
          <a:bodyPr wrap="square" anchor="t" lIns="45720" rIns="45720">
            <a:spAutoFit/>
          </a:bodyPr>
          <a:lstStyle/>
          <a:p>
            <a:pPr algn="l"/>
            <a:r>
              <a:rPr sz="1800" b="0" i="0">
                <a:solidFill>
                  <a:srgbClr val="222222"/>
                </a:solidFill>
                <a:latin typeface="Calibri"/>
              </a:rPr>
              <a:t>The 824 hours at 40 degrees or more are all in cooling mode.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The absolute gap explains power better than temperature</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4: Data exploration</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17</a:t>
            </a:r>
          </a:p>
        </p:txBody>
      </p:sp>
      <p:pic>
        <p:nvPicPr>
          <p:cNvPr id="7" name="Picture 6" descr="s4_03_hvac_corr.png"/>
          <p:cNvPicPr>
            <a:picLocks noChangeAspect="1"/>
          </p:cNvPicPr>
          <p:nvPr/>
        </p:nvPicPr>
        <p:blipFill>
          <a:blip r:embed="rId3"/>
          <a:stretch>
            <a:fillRect/>
          </a:stretch>
        </p:blipFill>
        <p:spPr>
          <a:xfrm>
            <a:off x="2836321" y="1005840"/>
            <a:ext cx="6516308" cy="544067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Failing machines sit at both ends of torque and power</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4: Data exploration</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18</a:t>
            </a:r>
          </a:p>
        </p:txBody>
      </p:sp>
      <p:pic>
        <p:nvPicPr>
          <p:cNvPr id="7" name="Picture 6" descr="s4_04_ai4i_distributions.png"/>
          <p:cNvPicPr>
            <a:picLocks noChangeAspect="1"/>
          </p:cNvPicPr>
          <p:nvPr/>
        </p:nvPicPr>
        <p:blipFill>
          <a:blip r:embed="rId3"/>
          <a:stretch>
            <a:fillRect/>
          </a:stretch>
        </p:blipFill>
        <p:spPr>
          <a:xfrm>
            <a:off x="734827" y="1005840"/>
            <a:ext cx="10719297" cy="5440679"/>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Customers who order often and regularly rarely lapse</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4: Data exploration</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19</a:t>
            </a:r>
          </a:p>
        </p:txBody>
      </p:sp>
      <p:pic>
        <p:nvPicPr>
          <p:cNvPr id="7" name="Picture 6" descr="s4_07_retail_lapse_drivers.png"/>
          <p:cNvPicPr>
            <a:picLocks noChangeAspect="1"/>
          </p:cNvPicPr>
          <p:nvPr/>
        </p:nvPicPr>
        <p:blipFill>
          <a:blip r:embed="rId3"/>
          <a:stretch>
            <a:fillRect/>
          </a:stretch>
        </p:blipFill>
        <p:spPr>
          <a:xfrm>
            <a:off x="320040" y="1005840"/>
            <a:ext cx="11548872" cy="3551113"/>
          </a:xfrm>
          <a:prstGeom prst="rect">
            <a:avLst/>
          </a:prstGeom>
        </p:spPr>
      </p:pic>
      <p:sp>
        <p:nvSpPr>
          <p:cNvPr id="8" name="Oval 7"/>
          <p:cNvSpPr/>
          <p:nvPr/>
        </p:nvSpPr>
        <p:spPr>
          <a:xfrm>
            <a:off x="548640" y="4831273"/>
            <a:ext cx="128016" cy="128016"/>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721545"/>
            <a:ext cx="10972800" cy="822960"/>
          </a:xfrm>
          <a:prstGeom prst="rect">
            <a:avLst/>
          </a:prstGeom>
          <a:noFill/>
        </p:spPr>
        <p:txBody>
          <a:bodyPr wrap="square" anchor="t" lIns="45720" rIns="45720">
            <a:spAutoFit/>
          </a:bodyPr>
          <a:lstStyle/>
          <a:p>
            <a:pPr algn="l"/>
            <a:r>
              <a:rPr sz="1600" b="0" i="0">
                <a:solidFill>
                  <a:srgbClr val="222222"/>
                </a:solidFill>
                <a:latin typeface="Calibri"/>
              </a:rPr>
              <a:t>Lapse falls from 68% with one order to 5% with 17 or more.</a:t>
            </a:r>
          </a:p>
        </p:txBody>
      </p:sp>
      <p:sp>
        <p:nvSpPr>
          <p:cNvPr id="10" name="Oval 9"/>
          <p:cNvSpPr/>
          <p:nvPr/>
        </p:nvSpPr>
        <p:spPr>
          <a:xfrm>
            <a:off x="548640" y="5297617"/>
            <a:ext cx="128016" cy="128016"/>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87889"/>
            <a:ext cx="10972800" cy="822960"/>
          </a:xfrm>
          <a:prstGeom prst="rect">
            <a:avLst/>
          </a:prstGeom>
          <a:noFill/>
        </p:spPr>
        <p:txBody>
          <a:bodyPr wrap="square" anchor="t" lIns="45720" rIns="45720">
            <a:spAutoFit/>
          </a:bodyPr>
          <a:lstStyle/>
          <a:p>
            <a:pPr algn="l"/>
            <a:r>
              <a:rPr sz="1600" b="0" i="0">
                <a:solidFill>
                  <a:srgbClr val="222222"/>
                </a:solidFill>
                <a:latin typeface="Calibri"/>
              </a:rPr>
              <a:t>A short order rhythm predicts staying.</a:t>
            </a:r>
          </a:p>
        </p:txBody>
      </p:sp>
      <p:sp>
        <p:nvSpPr>
          <p:cNvPr id="12" name="Oval 11"/>
          <p:cNvSpPr/>
          <p:nvPr/>
        </p:nvSpPr>
        <p:spPr>
          <a:xfrm>
            <a:off x="548640" y="5763961"/>
            <a:ext cx="128016" cy="128016"/>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654233"/>
            <a:ext cx="10972800" cy="822960"/>
          </a:xfrm>
          <a:prstGeom prst="rect">
            <a:avLst/>
          </a:prstGeom>
          <a:noFill/>
        </p:spPr>
        <p:txBody>
          <a:bodyPr wrap="square" anchor="t" lIns="45720" rIns="45720">
            <a:spAutoFit/>
          </a:bodyPr>
          <a:lstStyle/>
          <a:p>
            <a:pPr algn="l"/>
            <a:r>
              <a:rPr sz="1600" b="0" i="0">
                <a:solidFill>
                  <a:srgbClr val="222222"/>
                </a:solidFill>
                <a:latin typeface="Calibri"/>
              </a:rPr>
              <a:t>Recency, the basis of the usual rule, is the weakest signal.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What the exploration told us to do</a:t>
            </a:r>
          </a:p>
        </p:txBody>
      </p:sp>
      <p:sp>
        <p:nvSpPr>
          <p:cNvPr id="3" name="Rectangle 2"/>
          <p:cNvSpPr/>
          <p:nvPr/>
        </p:nvSpPr>
        <p:spPr>
          <a:xfrm>
            <a:off x="411480" y="868680"/>
            <a:ext cx="11384280" cy="45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4: Data exploration</a:t>
            </a:r>
          </a:p>
          <a:p>
            <a:pPr algn="ctr"/>
            <a:r>
              <a:rPr sz="1000">
                <a:solidFill>
                  <a:srgbClr val="FFFFFF"/>
                </a:solidFill>
                <a:latin typeface="Calibri"/>
              </a:rPr>
              <a:t>Dhruv Aggarwal</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20</a:t>
            </a:r>
          </a:p>
        </p:txBody>
      </p:sp>
      <p:graphicFrame>
        <p:nvGraphicFramePr>
          <p:cNvPr id="7" name="Table 6"/>
          <p:cNvGraphicFramePr>
            <a:graphicFrameLocks noGrp="1"/>
          </p:cNvGraphicFramePr>
          <p:nvPr/>
        </p:nvGraphicFramePr>
        <p:xfrm>
          <a:off x="365760" y="1097280"/>
          <a:ext cx="11429999" cy="4773168"/>
        </p:xfrm>
        <a:graphic>
          <a:graphicData uri="http://schemas.openxmlformats.org/drawingml/2006/table">
            <a:tbl>
              <a:tblPr firstRow="0" bandRow="0">
                <a:tableStyleId>{5C22544A-7EE6-4342-B048-85BDC9FD1C3A}</a:tableStyleId>
              </a:tblPr>
              <a:tblGrid>
                <a:gridCol w="703384"/>
                <a:gridCol w="4572000"/>
                <a:gridCol w="2637692"/>
                <a:gridCol w="3516923"/>
              </a:tblGrid>
              <a:tr h="530352">
                <a:tc>
                  <a:txBody>
                    <a:bodyPr wrap="square"/>
                    <a:lstStyle/>
                    <a:p>
                      <a:r>
                        <a:rPr sz="1400" b="1">
                          <a:solidFill>
                            <a:srgbClr val="FFFFFF"/>
                          </a:solidFill>
                          <a:latin typeface="Calibri"/>
                        </a:rPr>
                        <a:t>Pillar</a:t>
                      </a:r>
                    </a:p>
                  </a:txBody>
                  <a:tcPr marL="73152" marR="73152" marT="27432" marB="27432" anchor="ctr">
                    <a:solidFill>
                      <a:srgbClr val="1F4E79"/>
                    </a:solidFill>
                  </a:tcPr>
                </a:tc>
                <a:tc>
                  <a:txBody>
                    <a:bodyPr wrap="square"/>
                    <a:lstStyle/>
                    <a:p>
                      <a:r>
                        <a:rPr sz="1400" b="1">
                          <a:solidFill>
                            <a:srgbClr val="FFFFFF"/>
                          </a:solidFill>
                          <a:latin typeface="Calibri"/>
                        </a:rPr>
                        <a:t>Finding</a:t>
                      </a:r>
                    </a:p>
                  </a:txBody>
                  <a:tcPr marL="73152" marR="73152" marT="27432" marB="27432" anchor="ctr">
                    <a:solidFill>
                      <a:srgbClr val="1F4E79"/>
                    </a:solidFill>
                  </a:tcPr>
                </a:tc>
                <a:tc>
                  <a:txBody>
                    <a:bodyPr wrap="square"/>
                    <a:lstStyle/>
                    <a:p>
                      <a:r>
                        <a:rPr sz="1400" b="1">
                          <a:solidFill>
                            <a:srgbClr val="FFFFFF"/>
                          </a:solidFill>
                          <a:latin typeface="Calibri"/>
                        </a:rPr>
                        <a:t>Number</a:t>
                      </a:r>
                    </a:p>
                  </a:txBody>
                  <a:tcPr marL="73152" marR="73152" marT="27432" marB="27432" anchor="ctr">
                    <a:solidFill>
                      <a:srgbClr val="1F4E79"/>
                    </a:solidFill>
                  </a:tcPr>
                </a:tc>
                <a:tc>
                  <a:txBody>
                    <a:bodyPr wrap="square"/>
                    <a:lstStyle/>
                    <a:p>
                      <a:r>
                        <a:rPr sz="1400" b="1">
                          <a:solidFill>
                            <a:srgbClr val="FFFFFF"/>
                          </a:solidFill>
                          <a:latin typeface="Calibri"/>
                        </a:rPr>
                        <a:t>Consequence</a:t>
                      </a:r>
                    </a:p>
                  </a:txBody>
                  <a:tcPr marL="73152" marR="73152" marT="27432" marB="27432" anchor="ctr">
                    <a:solidFill>
                      <a:srgbClr val="1F4E79"/>
                    </a:solidFill>
                  </a:tcPr>
                </a:tc>
              </a:tr>
              <a:tr h="530352">
                <a:tc>
                  <a:txBody>
                    <a:bodyPr wrap="square"/>
                    <a:lstStyle/>
                    <a:p>
                      <a:r>
                        <a:rPr sz="1400" b="1">
                          <a:solidFill>
                            <a:srgbClr val="222222"/>
                          </a:solidFill>
                          <a:latin typeface="Calibri"/>
                        </a:rPr>
                        <a:t>1</a:t>
                      </a:r>
                    </a:p>
                  </a:txBody>
                  <a:tcPr marL="73152" marR="73152" marT="27432" marB="27432" anchor="ctr">
                    <a:solidFill>
                      <a:srgbClr val="FFFFFF"/>
                    </a:solidFill>
                  </a:tcPr>
                </a:tc>
                <a:tc>
                  <a:txBody>
                    <a:bodyPr wrap="square"/>
                    <a:lstStyle/>
                    <a:p>
                      <a:r>
                        <a:rPr sz="1400" b="0">
                          <a:solidFill>
                            <a:srgbClr val="222222"/>
                          </a:solidFill>
                          <a:latin typeface="Calibri"/>
                        </a:rPr>
                        <a:t>Power follows the gap between outdoor and indoor temperature</a:t>
                      </a:r>
                    </a:p>
                  </a:txBody>
                  <a:tcPr marL="73152" marR="73152" marT="27432" marB="27432" anchor="ctr">
                    <a:solidFill>
                      <a:srgbClr val="FFFFFF"/>
                    </a:solidFill>
                  </a:tcPr>
                </a:tc>
                <a:tc>
                  <a:txBody>
                    <a:bodyPr wrap="square"/>
                    <a:lstStyle/>
                    <a:p>
                      <a:r>
                        <a:rPr sz="1400" b="0">
                          <a:solidFill>
                            <a:srgbClr val="222222"/>
                          </a:solidFill>
                          <a:latin typeface="Calibri"/>
                        </a:rPr>
                        <a:t>correlation 0.85</a:t>
                      </a:r>
                    </a:p>
                  </a:txBody>
                  <a:tcPr marL="73152" marR="73152" marT="27432" marB="27432" anchor="ctr">
                    <a:solidFill>
                      <a:srgbClr val="FFFFFF"/>
                    </a:solidFill>
                  </a:tcPr>
                </a:tc>
                <a:tc>
                  <a:txBody>
                    <a:bodyPr wrap="square"/>
                    <a:lstStyle/>
                    <a:p>
                      <a:r>
                        <a:rPr sz="1400" b="0">
                          <a:solidFill>
                            <a:srgbClr val="222222"/>
                          </a:solidFill>
                          <a:latin typeface="Calibri"/>
                        </a:rPr>
                        <a:t>Add the absolute gap; a linear model on it can extrapolate</a:t>
                      </a:r>
                    </a:p>
                  </a:txBody>
                  <a:tcPr marL="73152" marR="73152" marT="27432" marB="27432" anchor="ctr">
                    <a:solidFill>
                      <a:srgbClr val="FFFFFF"/>
                    </a:solidFill>
                  </a:tcPr>
                </a:tc>
              </a:tr>
              <a:tr h="530352">
                <a:tc>
                  <a:txBody>
                    <a:bodyPr wrap="square"/>
                    <a:lstStyle/>
                    <a:p>
                      <a:r>
                        <a:rPr sz="1400" b="1">
                          <a:solidFill>
                            <a:srgbClr val="222222"/>
                          </a:solidFill>
                          <a:latin typeface="Calibri"/>
                        </a:rPr>
                        <a:t>1</a:t>
                      </a:r>
                    </a:p>
                  </a:txBody>
                  <a:tcPr marL="73152" marR="73152" marT="27432" marB="27432" anchor="ctr">
                    <a:solidFill>
                      <a:srgbClr val="F2F5F8"/>
                    </a:solidFill>
                  </a:tcPr>
                </a:tc>
                <a:tc>
                  <a:txBody>
                    <a:bodyPr wrap="square"/>
                    <a:lstStyle/>
                    <a:p>
                      <a:r>
                        <a:rPr sz="1400" b="0">
                          <a:solidFill>
                            <a:srgbClr val="222222"/>
                          </a:solidFill>
                          <a:latin typeface="Calibri"/>
                        </a:rPr>
                        <a:t>Idle hours draw 0.19 kW, cooling 2.73 kW</a:t>
                      </a:r>
                    </a:p>
                  </a:txBody>
                  <a:tcPr marL="73152" marR="73152" marT="27432" marB="27432" anchor="ctr">
                    <a:solidFill>
                      <a:srgbClr val="F2F5F8"/>
                    </a:solidFill>
                  </a:tcPr>
                </a:tc>
                <a:tc>
                  <a:txBody>
                    <a:bodyPr wrap="square"/>
                    <a:lstStyle/>
                    <a:p>
                      <a:r>
                        <a:rPr sz="1400" b="0">
                          <a:solidFill>
                            <a:srgbClr val="222222"/>
                          </a:solidFill>
                          <a:latin typeface="Calibri"/>
                        </a:rPr>
                        <a:t>by mode</a:t>
                      </a:r>
                    </a:p>
                  </a:txBody>
                  <a:tcPr marL="73152" marR="73152" marT="27432" marB="27432" anchor="ctr">
                    <a:solidFill>
                      <a:srgbClr val="F2F5F8"/>
                    </a:solidFill>
                  </a:tcPr>
                </a:tc>
                <a:tc>
                  <a:txBody>
                    <a:bodyPr wrap="square"/>
                    <a:lstStyle/>
                    <a:p>
                      <a:r>
                        <a:rPr sz="1400" b="0">
                          <a:solidFill>
                            <a:srgbClr val="222222"/>
                          </a:solidFill>
                          <a:latin typeface="Calibri"/>
                        </a:rPr>
                        <a:t>Keep mode as an input</a:t>
                      </a:r>
                    </a:p>
                  </a:txBody>
                  <a:tcPr marL="73152" marR="73152" marT="27432" marB="27432" anchor="ctr">
                    <a:solidFill>
                      <a:srgbClr val="F2F5F8"/>
                    </a:solidFill>
                  </a:tcPr>
                </a:tc>
              </a:tr>
              <a:tr h="530352">
                <a:tc>
                  <a:txBody>
                    <a:bodyPr wrap="square"/>
                    <a:lstStyle/>
                    <a:p>
                      <a:r>
                        <a:rPr sz="1400" b="1">
                          <a:solidFill>
                            <a:srgbClr val="222222"/>
                          </a:solidFill>
                          <a:latin typeface="Calibri"/>
                        </a:rPr>
                        <a:t>1</a:t>
                      </a:r>
                    </a:p>
                  </a:txBody>
                  <a:tcPr marL="73152" marR="73152" marT="27432" marB="27432" anchor="ctr">
                    <a:solidFill>
                      <a:srgbClr val="FFFFFF"/>
                    </a:solidFill>
                  </a:tcPr>
                </a:tc>
                <a:tc>
                  <a:txBody>
                    <a:bodyPr wrap="square"/>
                    <a:lstStyle/>
                    <a:p>
                      <a:r>
                        <a:rPr sz="1400" b="0">
                          <a:solidFill>
                            <a:srgbClr val="222222"/>
                          </a:solidFill>
                          <a:latin typeface="Calibri"/>
                        </a:rPr>
                        <a:t>824 hours reach 40 °C or more, all in cooling mode</a:t>
                      </a:r>
                    </a:p>
                  </a:txBody>
                  <a:tcPr marL="73152" marR="73152" marT="27432" marB="27432" anchor="ctr">
                    <a:solidFill>
                      <a:srgbClr val="FFFFFF"/>
                    </a:solidFill>
                  </a:tcPr>
                </a:tc>
                <a:tc>
                  <a:txBody>
                    <a:bodyPr wrap="square"/>
                    <a:lstStyle/>
                    <a:p>
                      <a:r>
                        <a:rPr sz="1400" b="0">
                          <a:solidFill>
                            <a:srgbClr val="222222"/>
                          </a:solidFill>
                          <a:latin typeface="Calibri"/>
                        </a:rPr>
                        <a:t>9.4% of hours</a:t>
                      </a:r>
                    </a:p>
                  </a:txBody>
                  <a:tcPr marL="73152" marR="73152" marT="27432" marB="27432" anchor="ctr">
                    <a:solidFill>
                      <a:srgbClr val="FFFFFF"/>
                    </a:solidFill>
                  </a:tcPr>
                </a:tc>
                <a:tc>
                  <a:txBody>
                    <a:bodyPr wrap="square"/>
                    <a:lstStyle/>
                    <a:p>
                      <a:r>
                        <a:rPr sz="1400" b="0">
                          <a:solidFill>
                            <a:srgbClr val="222222"/>
                          </a:solidFill>
                          <a:latin typeface="Calibri"/>
                        </a:rPr>
                        <a:t>Use them as the heatwave test</a:t>
                      </a:r>
                    </a:p>
                  </a:txBody>
                  <a:tcPr marL="73152" marR="73152" marT="27432" marB="27432" anchor="ctr">
                    <a:solidFill>
                      <a:srgbClr val="FFFFFF"/>
                    </a:solidFill>
                  </a:tcPr>
                </a:tc>
              </a:tr>
              <a:tr h="530352">
                <a:tc>
                  <a:txBody>
                    <a:bodyPr wrap="square"/>
                    <a:lstStyle/>
                    <a:p>
                      <a:r>
                        <a:rPr sz="1400" b="1">
                          <a:solidFill>
                            <a:srgbClr val="222222"/>
                          </a:solidFill>
                          <a:latin typeface="Calibri"/>
                        </a:rPr>
                        <a:t>2</a:t>
                      </a:r>
                    </a:p>
                  </a:txBody>
                  <a:tcPr marL="73152" marR="73152" marT="27432" marB="27432" anchor="ctr">
                    <a:solidFill>
                      <a:srgbClr val="F2F5F8"/>
                    </a:solidFill>
                  </a:tcPr>
                </a:tc>
                <a:tc>
                  <a:txBody>
                    <a:bodyPr wrap="square"/>
                    <a:lstStyle/>
                    <a:p>
                      <a:r>
                        <a:rPr sz="1400" b="0">
                          <a:solidFill>
                            <a:srgbClr val="222222"/>
                          </a:solidFill>
                          <a:latin typeface="Calibri"/>
                        </a:rPr>
                        <a:t>Failure is U-shaped in torque, speed and power</a:t>
                      </a:r>
                    </a:p>
                  </a:txBody>
                  <a:tcPr marL="73152" marR="73152" marT="27432" marB="27432" anchor="ctr">
                    <a:solidFill>
                      <a:srgbClr val="F2F5F8"/>
                    </a:solidFill>
                  </a:tcPr>
                </a:tc>
                <a:tc>
                  <a:txBody>
                    <a:bodyPr wrap="square"/>
                    <a:lstStyle/>
                    <a:p>
                      <a:r>
                        <a:rPr sz="1400" b="0">
                          <a:solidFill>
                            <a:srgbClr val="222222"/>
                          </a:solidFill>
                          <a:latin typeface="Calibri"/>
                        </a:rPr>
                        <a:t>17% to 18% in top decile, against 3.4%</a:t>
                      </a:r>
                    </a:p>
                  </a:txBody>
                  <a:tcPr marL="73152" marR="73152" marT="27432" marB="27432" anchor="ctr">
                    <a:solidFill>
                      <a:srgbClr val="F2F5F8"/>
                    </a:solidFill>
                  </a:tcPr>
                </a:tc>
                <a:tc>
                  <a:txBody>
                    <a:bodyPr wrap="square"/>
                    <a:lstStyle/>
                    <a:p>
                      <a:r>
                        <a:rPr sz="1400" b="0">
                          <a:solidFill>
                            <a:srgbClr val="222222"/>
                          </a:solidFill>
                          <a:latin typeface="Calibri"/>
                        </a:rPr>
                        <a:t>Trees should beat linear models</a:t>
                      </a:r>
                    </a:p>
                  </a:txBody>
                  <a:tcPr marL="73152" marR="73152" marT="27432" marB="27432" anchor="ctr">
                    <a:solidFill>
                      <a:srgbClr val="F2F5F8"/>
                    </a:solidFill>
                  </a:tcPr>
                </a:tc>
              </a:tr>
              <a:tr h="530352">
                <a:tc>
                  <a:txBody>
                    <a:bodyPr wrap="square"/>
                    <a:lstStyle/>
                    <a:p>
                      <a:r>
                        <a:rPr sz="1400" b="1">
                          <a:solidFill>
                            <a:srgbClr val="222222"/>
                          </a:solidFill>
                          <a:latin typeface="Calibri"/>
                        </a:rPr>
                        <a:t>2</a:t>
                      </a:r>
                    </a:p>
                  </a:txBody>
                  <a:tcPr marL="73152" marR="73152" marT="27432" marB="27432" anchor="ctr">
                    <a:solidFill>
                      <a:srgbClr val="FFFFFF"/>
                    </a:solidFill>
                  </a:tcPr>
                </a:tc>
                <a:tc>
                  <a:txBody>
                    <a:bodyPr wrap="square"/>
                    <a:lstStyle/>
                    <a:p>
                      <a:r>
                        <a:rPr sz="1400" b="0">
                          <a:solidFill>
                            <a:srgbClr val="222222"/>
                          </a:solidFill>
                          <a:latin typeface="Calibri"/>
                        </a:rPr>
                        <a:t>No single input correlates strongly with failure</a:t>
                      </a:r>
                    </a:p>
                  </a:txBody>
                  <a:tcPr marL="73152" marR="73152" marT="27432" marB="27432" anchor="ctr">
                    <a:solidFill>
                      <a:srgbClr val="FFFFFF"/>
                    </a:solidFill>
                  </a:tcPr>
                </a:tc>
                <a:tc>
                  <a:txBody>
                    <a:bodyPr wrap="square"/>
                    <a:lstStyle/>
                    <a:p>
                      <a:r>
                        <a:rPr sz="1400" b="0">
                          <a:solidFill>
                            <a:srgbClr val="222222"/>
                          </a:solidFill>
                          <a:latin typeface="Calibri"/>
                        </a:rPr>
                        <a:t>at most 0.19</a:t>
                      </a:r>
                    </a:p>
                  </a:txBody>
                  <a:tcPr marL="73152" marR="73152" marT="27432" marB="27432" anchor="ctr">
                    <a:solidFill>
                      <a:srgbClr val="FFFFFF"/>
                    </a:solidFill>
                  </a:tcPr>
                </a:tc>
                <a:tc>
                  <a:txBody>
                    <a:bodyPr wrap="square"/>
                    <a:lstStyle/>
                    <a:p>
                      <a:r>
                        <a:rPr sz="1400" b="0">
                          <a:solidFill>
                            <a:srgbClr val="222222"/>
                          </a:solidFill>
                          <a:latin typeface="Calibri"/>
                        </a:rPr>
                        <a:t>Combine inputs; use PR-AUC</a:t>
                      </a:r>
                    </a:p>
                  </a:txBody>
                  <a:tcPr marL="73152" marR="73152" marT="27432" marB="27432" anchor="ctr">
                    <a:solidFill>
                      <a:srgbClr val="FFFFFF"/>
                    </a:solidFill>
                  </a:tcPr>
                </a:tc>
              </a:tr>
              <a:tr h="530352">
                <a:tc>
                  <a:txBody>
                    <a:bodyPr wrap="square"/>
                    <a:lstStyle/>
                    <a:p>
                      <a:r>
                        <a:rPr sz="1400" b="1">
                          <a:solidFill>
                            <a:srgbClr val="222222"/>
                          </a:solidFill>
                          <a:latin typeface="Calibri"/>
                        </a:rPr>
                        <a:t>3</a:t>
                      </a:r>
                    </a:p>
                  </a:txBody>
                  <a:tcPr marL="73152" marR="73152" marT="27432" marB="27432" anchor="ctr">
                    <a:solidFill>
                      <a:srgbClr val="F2F5F8"/>
                    </a:solidFill>
                  </a:tcPr>
                </a:tc>
                <a:tc>
                  <a:txBody>
                    <a:bodyPr wrap="square"/>
                    <a:lstStyle/>
                    <a:p>
                      <a:r>
                        <a:rPr sz="1400" b="0">
                          <a:solidFill>
                            <a:srgbClr val="222222"/>
                          </a:solidFill>
                          <a:latin typeface="Calibri"/>
                        </a:rPr>
                        <a:t>Lapse falls from 68% to 5% as order count rises</a:t>
                      </a:r>
                    </a:p>
                  </a:txBody>
                  <a:tcPr marL="73152" marR="73152" marT="27432" marB="27432" anchor="ctr">
                    <a:solidFill>
                      <a:srgbClr val="F2F5F8"/>
                    </a:solidFill>
                  </a:tcPr>
                </a:tc>
                <a:tc>
                  <a:txBody>
                    <a:bodyPr wrap="square"/>
                    <a:lstStyle/>
                    <a:p>
                      <a:r>
                        <a:rPr sz="1400" b="0">
                          <a:solidFill>
                            <a:srgbClr val="222222"/>
                          </a:solidFill>
                          <a:latin typeface="Calibri"/>
                        </a:rPr>
                        <a:t>frequency</a:t>
                      </a:r>
                    </a:p>
                  </a:txBody>
                  <a:tcPr marL="73152" marR="73152" marT="27432" marB="27432" anchor="ctr">
                    <a:solidFill>
                      <a:srgbClr val="F2F5F8"/>
                    </a:solidFill>
                  </a:tcPr>
                </a:tc>
                <a:tc>
                  <a:txBody>
                    <a:bodyPr wrap="square"/>
                    <a:lstStyle/>
                    <a:p>
                      <a:r>
                        <a:rPr sz="1400" b="0">
                          <a:solidFill>
                            <a:srgbClr val="222222"/>
                          </a:solidFill>
                          <a:latin typeface="Calibri"/>
                        </a:rPr>
                        <a:t>The signal is in the order history</a:t>
                      </a:r>
                    </a:p>
                  </a:txBody>
                  <a:tcPr marL="73152" marR="73152" marT="27432" marB="27432" anchor="ctr">
                    <a:solidFill>
                      <a:srgbClr val="F2F5F8"/>
                    </a:solidFill>
                  </a:tcPr>
                </a:tc>
              </a:tr>
              <a:tr h="530352">
                <a:tc>
                  <a:txBody>
                    <a:bodyPr wrap="square"/>
                    <a:lstStyle/>
                    <a:p>
                      <a:r>
                        <a:rPr sz="1400" b="1">
                          <a:solidFill>
                            <a:srgbClr val="222222"/>
                          </a:solidFill>
                          <a:latin typeface="Calibri"/>
                        </a:rPr>
                        <a:t>3</a:t>
                      </a:r>
                    </a:p>
                  </a:txBody>
                  <a:tcPr marL="73152" marR="73152" marT="27432" marB="27432" anchor="ctr">
                    <a:solidFill>
                      <a:srgbClr val="FFFFFF"/>
                    </a:solidFill>
                  </a:tcPr>
                </a:tc>
                <a:tc>
                  <a:txBody>
                    <a:bodyPr wrap="square"/>
                    <a:lstStyle/>
                    <a:p>
                      <a:r>
                        <a:rPr sz="1400" b="0">
                          <a:solidFill>
                            <a:srgbClr val="222222"/>
                          </a:solidFill>
                          <a:latin typeface="Calibri"/>
                        </a:rPr>
                        <a:t>Recency is the weakest of the main signals</a:t>
                      </a:r>
                    </a:p>
                  </a:txBody>
                  <a:tcPr marL="73152" marR="73152" marT="27432" marB="27432" anchor="ctr">
                    <a:solidFill>
                      <a:srgbClr val="FFFFFF"/>
                    </a:solidFill>
                  </a:tcPr>
                </a:tc>
                <a:tc>
                  <a:txBody>
                    <a:bodyPr wrap="square"/>
                    <a:lstStyle/>
                    <a:p>
                      <a:r>
                        <a:rPr sz="1400" b="0">
                          <a:solidFill>
                            <a:srgbClr val="222222"/>
                          </a:solidFill>
                          <a:latin typeface="Calibri"/>
                        </a:rPr>
                        <a:t>correlation 0.16</a:t>
                      </a:r>
                    </a:p>
                  </a:txBody>
                  <a:tcPr marL="73152" marR="73152" marT="27432" marB="27432" anchor="ctr">
                    <a:solidFill>
                      <a:srgbClr val="FFFFFF"/>
                    </a:solidFill>
                  </a:tcPr>
                </a:tc>
                <a:tc>
                  <a:txBody>
                    <a:bodyPr wrap="square"/>
                    <a:lstStyle/>
                    <a:p>
                      <a:r>
                        <a:rPr sz="1400" b="0">
                          <a:solidFill>
                            <a:srgbClr val="222222"/>
                          </a:solidFill>
                          <a:latin typeface="Calibri"/>
                        </a:rPr>
                        <a:t>The recency rule should be a weak baseline</a:t>
                      </a:r>
                    </a:p>
                  </a:txBody>
                  <a:tcPr marL="73152" marR="73152" marT="27432" marB="27432" anchor="ctr">
                    <a:solidFill>
                      <a:srgbClr val="FFFFFF"/>
                    </a:solidFill>
                  </a:tcPr>
                </a:tc>
              </a:tr>
              <a:tr h="530352">
                <a:tc>
                  <a:txBody>
                    <a:bodyPr wrap="square"/>
                    <a:lstStyle/>
                    <a:p>
                      <a:r>
                        <a:rPr sz="1400" b="1">
                          <a:solidFill>
                            <a:srgbClr val="222222"/>
                          </a:solidFill>
                          <a:latin typeface="Calibri"/>
                        </a:rPr>
                        <a:t>3</a:t>
                      </a:r>
                    </a:p>
                  </a:txBody>
                  <a:tcPr marL="73152" marR="73152" marT="27432" marB="27432" anchor="ctr">
                    <a:solidFill>
                      <a:srgbClr val="F2F5F8"/>
                    </a:solidFill>
                  </a:tcPr>
                </a:tc>
                <a:tc>
                  <a:txBody>
                    <a:bodyPr wrap="square"/>
                    <a:lstStyle/>
                    <a:p>
                      <a:r>
                        <a:rPr sz="1400" b="0">
                          <a:solidFill>
                            <a:srgbClr val="222222"/>
                          </a:solidFill>
                          <a:latin typeface="Calibri"/>
                        </a:rPr>
                        <a:t>Money columns are very skewed</a:t>
                      </a:r>
                    </a:p>
                  </a:txBody>
                  <a:tcPr marL="73152" marR="73152" marT="27432" marB="27432" anchor="ctr">
                    <a:solidFill>
                      <a:srgbClr val="F2F5F8"/>
                    </a:solidFill>
                  </a:tcPr>
                </a:tc>
                <a:tc>
                  <a:txBody>
                    <a:bodyPr wrap="square"/>
                    <a:lstStyle/>
                    <a:p>
                      <a:r>
                        <a:rPr sz="1400" b="0">
                          <a:solidFill>
                            <a:srgbClr val="222222"/>
                          </a:solidFill>
                          <a:latin typeface="Calibri"/>
                        </a:rPr>
                        <a:t>top 1% hold 32% of spend</a:t>
                      </a:r>
                    </a:p>
                  </a:txBody>
                  <a:tcPr marL="73152" marR="73152" marT="27432" marB="27432" anchor="ctr">
                    <a:solidFill>
                      <a:srgbClr val="F2F5F8"/>
                    </a:solidFill>
                  </a:tcPr>
                </a:tc>
                <a:tc>
                  <a:txBody>
                    <a:bodyPr wrap="square"/>
                    <a:lstStyle/>
                    <a:p>
                      <a:r>
                        <a:rPr sz="1400" b="0">
                          <a:solidFill>
                            <a:srgbClr val="222222"/>
                          </a:solidFill>
                          <a:latin typeface="Calibri"/>
                        </a:rPr>
                        <a:t>Use log versions</a:t>
                      </a:r>
                    </a:p>
                  </a:txBody>
                  <a:tcPr marL="73152" marR="73152" marT="27432" marB="27432" anchor="ctr">
                    <a:solidFill>
                      <a:srgbClr val="F2F5F8"/>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Engineered inputs come from the physics and the business</a:t>
            </a:r>
          </a:p>
        </p:txBody>
      </p:sp>
      <p:sp>
        <p:nvSpPr>
          <p:cNvPr id="3" name="Rectangle 2"/>
          <p:cNvSpPr/>
          <p:nvPr/>
        </p:nvSpPr>
        <p:spPr>
          <a:xfrm>
            <a:off x="411480" y="868680"/>
            <a:ext cx="11384280" cy="45720"/>
          </a:xfrm>
          <a:prstGeom prst="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5: Feature engineering</a:t>
            </a:r>
          </a:p>
          <a:p>
            <a:pPr algn="ctr"/>
            <a:r>
              <a:rPr sz="1000">
                <a:solidFill>
                  <a:srgbClr val="FFFFFF"/>
                </a:solidFill>
                <a:latin typeface="Calibri"/>
              </a:rPr>
              <a:t>Ankit Kumar</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21</a:t>
            </a:r>
          </a:p>
        </p:txBody>
      </p:sp>
      <p:pic>
        <p:nvPicPr>
          <p:cNvPr id="7" name="Picture 6" descr="s5_01_feature_pipeline.png"/>
          <p:cNvPicPr>
            <a:picLocks noChangeAspect="1"/>
          </p:cNvPicPr>
          <p:nvPr/>
        </p:nvPicPr>
        <p:blipFill>
          <a:blip r:embed="rId3"/>
          <a:stretch>
            <a:fillRect/>
          </a:stretch>
        </p:blipFill>
        <p:spPr>
          <a:xfrm>
            <a:off x="658715" y="1005840"/>
            <a:ext cx="10871521" cy="5440679"/>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Folding the V: absolute gap turns two slopes into one</a:t>
            </a:r>
          </a:p>
        </p:txBody>
      </p:sp>
      <p:sp>
        <p:nvSpPr>
          <p:cNvPr id="3" name="Rectangle 2"/>
          <p:cNvSpPr/>
          <p:nvPr/>
        </p:nvSpPr>
        <p:spPr>
          <a:xfrm>
            <a:off x="411480" y="868680"/>
            <a:ext cx="11384280" cy="45720"/>
          </a:xfrm>
          <a:prstGeom prst="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5: Feature engineering</a:t>
            </a:r>
          </a:p>
          <a:p>
            <a:pPr algn="ctr"/>
            <a:r>
              <a:rPr sz="1000">
                <a:solidFill>
                  <a:srgbClr val="FFFFFF"/>
                </a:solidFill>
                <a:latin typeface="Calibri"/>
              </a:rPr>
              <a:t>Ankit Kumar</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22</a:t>
            </a:r>
          </a:p>
        </p:txBody>
      </p:sp>
      <p:pic>
        <p:nvPicPr>
          <p:cNvPr id="7" name="Picture 6" descr="s5_02_hvac_gap_features.png"/>
          <p:cNvPicPr>
            <a:picLocks noChangeAspect="1"/>
          </p:cNvPicPr>
          <p:nvPr/>
        </p:nvPicPr>
        <p:blipFill>
          <a:blip r:embed="rId3"/>
          <a:stretch>
            <a:fillRect/>
          </a:stretch>
        </p:blipFill>
        <p:spPr>
          <a:xfrm>
            <a:off x="320040" y="1005840"/>
            <a:ext cx="11548872" cy="3551113"/>
          </a:xfrm>
          <a:prstGeom prst="rect">
            <a:avLst/>
          </a:prstGeom>
        </p:spPr>
      </p:pic>
      <p:sp>
        <p:nvSpPr>
          <p:cNvPr id="8" name="Oval 7"/>
          <p:cNvSpPr/>
          <p:nvPr/>
        </p:nvSpPr>
        <p:spPr>
          <a:xfrm>
            <a:off x="548640" y="4831273"/>
            <a:ext cx="128016" cy="128016"/>
          </a:xfrm>
          <a:prstGeom prst="ellipse">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721545"/>
            <a:ext cx="10972800" cy="822960"/>
          </a:xfrm>
          <a:prstGeom prst="rect">
            <a:avLst/>
          </a:prstGeom>
          <a:noFill/>
        </p:spPr>
        <p:txBody>
          <a:bodyPr wrap="square" anchor="t" lIns="45720" rIns="45720">
            <a:spAutoFit/>
          </a:bodyPr>
          <a:lstStyle/>
          <a:p>
            <a:pPr algn="l"/>
            <a:r>
              <a:rPr sz="1600" b="0" i="0">
                <a:solidFill>
                  <a:srgbClr val="222222"/>
                </a:solidFill>
                <a:latin typeface="Calibri"/>
              </a:rPr>
              <a:t>Power against temperature is a V.</a:t>
            </a:r>
          </a:p>
        </p:txBody>
      </p:sp>
      <p:sp>
        <p:nvSpPr>
          <p:cNvPr id="10" name="Oval 9"/>
          <p:cNvSpPr/>
          <p:nvPr/>
        </p:nvSpPr>
        <p:spPr>
          <a:xfrm>
            <a:off x="548640" y="5297617"/>
            <a:ext cx="128016" cy="128016"/>
          </a:xfrm>
          <a:prstGeom prst="ellipse">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87889"/>
            <a:ext cx="10972800" cy="822960"/>
          </a:xfrm>
          <a:prstGeom prst="rect">
            <a:avLst/>
          </a:prstGeom>
          <a:noFill/>
        </p:spPr>
        <p:txBody>
          <a:bodyPr wrap="square" anchor="t" lIns="45720" rIns="45720">
            <a:spAutoFit/>
          </a:bodyPr>
          <a:lstStyle/>
          <a:p>
            <a:pPr algn="l"/>
            <a:r>
              <a:rPr sz="1600" b="0" i="0">
                <a:solidFill>
                  <a:srgbClr val="222222"/>
                </a:solidFill>
                <a:latin typeface="Calibri"/>
              </a:rPr>
              <a:t>Against the absolute gap it becomes a single rising band, which a straight line follows well.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Engineered failure inputs expose the thresholds</a:t>
            </a:r>
          </a:p>
        </p:txBody>
      </p:sp>
      <p:sp>
        <p:nvSpPr>
          <p:cNvPr id="3" name="Rectangle 2"/>
          <p:cNvSpPr/>
          <p:nvPr/>
        </p:nvSpPr>
        <p:spPr>
          <a:xfrm>
            <a:off x="411480" y="868680"/>
            <a:ext cx="11384280" cy="45720"/>
          </a:xfrm>
          <a:prstGeom prst="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5: Feature engineering</a:t>
            </a:r>
          </a:p>
          <a:p>
            <a:pPr algn="ctr"/>
            <a:r>
              <a:rPr sz="1000">
                <a:solidFill>
                  <a:srgbClr val="FFFFFF"/>
                </a:solidFill>
                <a:latin typeface="Calibri"/>
              </a:rPr>
              <a:t>Ankit Kumar</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23</a:t>
            </a:r>
          </a:p>
        </p:txBody>
      </p:sp>
      <p:pic>
        <p:nvPicPr>
          <p:cNvPr id="7" name="Picture 6" descr="s5_03_ai4i_engineered.png"/>
          <p:cNvPicPr>
            <a:picLocks noChangeAspect="1"/>
          </p:cNvPicPr>
          <p:nvPr/>
        </p:nvPicPr>
        <p:blipFill>
          <a:blip r:embed="rId3"/>
          <a:stretch>
            <a:fillRect/>
          </a:stretch>
        </p:blipFill>
        <p:spPr>
          <a:xfrm>
            <a:off x="320040" y="1005840"/>
            <a:ext cx="11548872" cy="3461947"/>
          </a:xfrm>
          <a:prstGeom prst="rect">
            <a:avLst/>
          </a:prstGeom>
        </p:spPr>
      </p:pic>
      <p:sp>
        <p:nvSpPr>
          <p:cNvPr id="8" name="Oval 7"/>
          <p:cNvSpPr/>
          <p:nvPr/>
        </p:nvSpPr>
        <p:spPr>
          <a:xfrm>
            <a:off x="548640" y="4742107"/>
            <a:ext cx="128016" cy="128016"/>
          </a:xfrm>
          <a:prstGeom prst="ellipse">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632379"/>
            <a:ext cx="10972800" cy="822960"/>
          </a:xfrm>
          <a:prstGeom prst="rect">
            <a:avLst/>
          </a:prstGeom>
          <a:noFill/>
        </p:spPr>
        <p:txBody>
          <a:bodyPr wrap="square" anchor="t" lIns="45720" rIns="45720">
            <a:spAutoFit/>
          </a:bodyPr>
          <a:lstStyle/>
          <a:p>
            <a:pPr algn="l"/>
            <a:r>
              <a:rPr sz="1600" b="0" i="0">
                <a:solidFill>
                  <a:srgbClr val="222222"/>
                </a:solidFill>
                <a:latin typeface="Calibri"/>
              </a:rPr>
              <a:t>The lowest temperature-gap tenth fails 12% of the time, the top mechanical-power tenth 17% and the top wear-times-torque tenth 15%.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Engineering halves Ridge error, and does little for trees</a:t>
            </a:r>
          </a:p>
        </p:txBody>
      </p:sp>
      <p:sp>
        <p:nvSpPr>
          <p:cNvPr id="3" name="Rectangle 2"/>
          <p:cNvSpPr/>
          <p:nvPr/>
        </p:nvSpPr>
        <p:spPr>
          <a:xfrm>
            <a:off x="411480" y="868680"/>
            <a:ext cx="11384280" cy="45720"/>
          </a:xfrm>
          <a:prstGeom prst="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5: Feature engineering</a:t>
            </a:r>
          </a:p>
          <a:p>
            <a:pPr algn="ctr"/>
            <a:r>
              <a:rPr sz="1000">
                <a:solidFill>
                  <a:srgbClr val="FFFFFF"/>
                </a:solidFill>
                <a:latin typeface="Calibri"/>
              </a:rPr>
              <a:t>Ankit Kumar</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24</a:t>
            </a:r>
          </a:p>
        </p:txBody>
      </p:sp>
      <p:pic>
        <p:nvPicPr>
          <p:cNvPr id="7" name="Picture 6" descr="s5_05_basic_vs_engineered.png"/>
          <p:cNvPicPr>
            <a:picLocks noChangeAspect="1"/>
          </p:cNvPicPr>
          <p:nvPr/>
        </p:nvPicPr>
        <p:blipFill>
          <a:blip r:embed="rId3"/>
          <a:stretch>
            <a:fillRect/>
          </a:stretch>
        </p:blipFill>
        <p:spPr>
          <a:xfrm>
            <a:off x="320040" y="1005840"/>
            <a:ext cx="11548872" cy="3454194"/>
          </a:xfrm>
          <a:prstGeom prst="rect">
            <a:avLst/>
          </a:prstGeom>
        </p:spPr>
      </p:pic>
      <p:sp>
        <p:nvSpPr>
          <p:cNvPr id="8" name="Oval 7"/>
          <p:cNvSpPr/>
          <p:nvPr/>
        </p:nvSpPr>
        <p:spPr>
          <a:xfrm>
            <a:off x="548640" y="4734354"/>
            <a:ext cx="128016" cy="128016"/>
          </a:xfrm>
          <a:prstGeom prst="ellipse">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624626"/>
            <a:ext cx="10972800" cy="822960"/>
          </a:xfrm>
          <a:prstGeom prst="rect">
            <a:avLst/>
          </a:prstGeom>
          <a:noFill/>
        </p:spPr>
        <p:txBody>
          <a:bodyPr wrap="square" anchor="t" lIns="45720" rIns="45720">
            <a:spAutoFit/>
          </a:bodyPr>
          <a:lstStyle/>
          <a:p>
            <a:pPr algn="l"/>
            <a:r>
              <a:rPr sz="1600" b="0" i="0">
                <a:solidFill>
                  <a:srgbClr val="222222"/>
                </a:solidFill>
                <a:latin typeface="Calibri"/>
              </a:rPr>
              <a:t>Linear models need the gap handed to them.</a:t>
            </a:r>
          </a:p>
        </p:txBody>
      </p:sp>
      <p:sp>
        <p:nvSpPr>
          <p:cNvPr id="10" name="Oval 9"/>
          <p:cNvSpPr/>
          <p:nvPr/>
        </p:nvSpPr>
        <p:spPr>
          <a:xfrm>
            <a:off x="548640" y="5200698"/>
            <a:ext cx="128016" cy="128016"/>
          </a:xfrm>
          <a:prstGeom prst="ellipse">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090970"/>
            <a:ext cx="10972800" cy="822960"/>
          </a:xfrm>
          <a:prstGeom prst="rect">
            <a:avLst/>
          </a:prstGeom>
          <a:noFill/>
        </p:spPr>
        <p:txBody>
          <a:bodyPr wrap="square" anchor="t" lIns="45720" rIns="45720">
            <a:spAutoFit/>
          </a:bodyPr>
          <a:lstStyle/>
          <a:p>
            <a:pPr algn="l"/>
            <a:r>
              <a:rPr sz="1600" b="0" i="0">
                <a:solidFill>
                  <a:srgbClr val="222222"/>
                </a:solidFill>
                <a:latin typeface="Calibri"/>
              </a:rPr>
              <a:t>XGBoost builds such shapes itself by splitting.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Basic against engineered inputs, on unseen data</a:t>
            </a:r>
          </a:p>
        </p:txBody>
      </p:sp>
      <p:sp>
        <p:nvSpPr>
          <p:cNvPr id="3" name="Rectangle 2"/>
          <p:cNvSpPr/>
          <p:nvPr/>
        </p:nvSpPr>
        <p:spPr>
          <a:xfrm>
            <a:off x="411480" y="868680"/>
            <a:ext cx="11384280" cy="45720"/>
          </a:xfrm>
          <a:prstGeom prst="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5: Feature engineering</a:t>
            </a:r>
          </a:p>
          <a:p>
            <a:pPr algn="ctr"/>
            <a:r>
              <a:rPr sz="1000">
                <a:solidFill>
                  <a:srgbClr val="FFFFFF"/>
                </a:solidFill>
                <a:latin typeface="Calibri"/>
              </a:rPr>
              <a:t>Ankit Kumar</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25</a:t>
            </a:r>
          </a:p>
        </p:txBody>
      </p:sp>
      <p:graphicFrame>
        <p:nvGraphicFramePr>
          <p:cNvPr id="7" name="Table 6"/>
          <p:cNvGraphicFramePr>
            <a:graphicFrameLocks noGrp="1"/>
          </p:cNvGraphicFramePr>
          <p:nvPr/>
        </p:nvGraphicFramePr>
        <p:xfrm>
          <a:off x="365760" y="1097280"/>
          <a:ext cx="11429997" cy="4974336"/>
        </p:xfrm>
        <a:graphic>
          <a:graphicData uri="http://schemas.openxmlformats.org/drawingml/2006/table">
            <a:tbl>
              <a:tblPr firstRow="0" bandRow="0">
                <a:tableStyleId>{5C22544A-7EE6-4342-B048-85BDC9FD1C3A}</a:tableStyleId>
              </a:tblPr>
              <a:tblGrid>
                <a:gridCol w="3547241"/>
                <a:gridCol w="1970689"/>
                <a:gridCol w="1970689"/>
                <a:gridCol w="1970689"/>
                <a:gridCol w="1970689"/>
              </a:tblGrid>
              <a:tr h="621792">
                <a:tc>
                  <a:txBody>
                    <a:bodyPr wrap="square"/>
                    <a:lstStyle/>
                    <a:p>
                      <a:r>
                        <a:rPr sz="1800" b="1">
                          <a:solidFill>
                            <a:srgbClr val="FFFFFF"/>
                          </a:solidFill>
                          <a:latin typeface="Calibri"/>
                        </a:rPr>
                        <a:t>Test</a:t>
                      </a:r>
                    </a:p>
                  </a:txBody>
                  <a:tcPr marL="73152" marR="73152" marT="27432" marB="27432" anchor="ctr">
                    <a:solidFill>
                      <a:srgbClr val="1F4E79"/>
                    </a:solidFill>
                  </a:tcPr>
                </a:tc>
                <a:tc>
                  <a:txBody>
                    <a:bodyPr wrap="square"/>
                    <a:lstStyle/>
                    <a:p>
                      <a:pPr algn="ctr"/>
                      <a:r>
                        <a:rPr sz="1800" b="1">
                          <a:solidFill>
                            <a:srgbClr val="FFFFFF"/>
                          </a:solidFill>
                          <a:latin typeface="Calibri"/>
                        </a:rPr>
                        <a:t>Ridge, basic</a:t>
                      </a:r>
                    </a:p>
                  </a:txBody>
                  <a:tcPr marL="73152" marR="73152" marT="27432" marB="27432" anchor="ctr">
                    <a:solidFill>
                      <a:srgbClr val="1F4E79"/>
                    </a:solidFill>
                  </a:tcPr>
                </a:tc>
                <a:tc>
                  <a:txBody>
                    <a:bodyPr wrap="square"/>
                    <a:lstStyle/>
                    <a:p>
                      <a:pPr algn="ctr"/>
                      <a:r>
                        <a:rPr sz="1800" b="1">
                          <a:solidFill>
                            <a:srgbClr val="FFFFFF"/>
                          </a:solidFill>
                          <a:latin typeface="Calibri"/>
                        </a:rPr>
                        <a:t>Ridge, engineered</a:t>
                      </a:r>
                    </a:p>
                  </a:txBody>
                  <a:tcPr marL="73152" marR="73152" marT="27432" marB="27432" anchor="ctr">
                    <a:solidFill>
                      <a:srgbClr val="1F4E79"/>
                    </a:solidFill>
                  </a:tcPr>
                </a:tc>
                <a:tc>
                  <a:txBody>
                    <a:bodyPr wrap="square"/>
                    <a:lstStyle/>
                    <a:p>
                      <a:pPr algn="ctr"/>
                      <a:r>
                        <a:rPr sz="1800" b="1">
                          <a:solidFill>
                            <a:srgbClr val="FFFFFF"/>
                          </a:solidFill>
                          <a:latin typeface="Calibri"/>
                        </a:rPr>
                        <a:t>XGBoost, basic</a:t>
                      </a:r>
                    </a:p>
                  </a:txBody>
                  <a:tcPr marL="73152" marR="73152" marT="27432" marB="27432" anchor="ctr">
                    <a:solidFill>
                      <a:srgbClr val="1F4E79"/>
                    </a:solidFill>
                  </a:tcPr>
                </a:tc>
                <a:tc>
                  <a:txBody>
                    <a:bodyPr wrap="square"/>
                    <a:lstStyle/>
                    <a:p>
                      <a:pPr algn="ctr"/>
                      <a:r>
                        <a:rPr sz="1800" b="1">
                          <a:solidFill>
                            <a:srgbClr val="FFFFFF"/>
                          </a:solidFill>
                          <a:latin typeface="Calibri"/>
                        </a:rPr>
                        <a:t>XGBoost, engineered</a:t>
                      </a:r>
                    </a:p>
                  </a:txBody>
                  <a:tcPr marL="73152" marR="73152" marT="27432" marB="27432" anchor="ctr">
                    <a:solidFill>
                      <a:srgbClr val="1F4E79"/>
                    </a:solidFill>
                  </a:tcPr>
                </a:tc>
              </a:tr>
              <a:tr h="621792">
                <a:tc>
                  <a:txBody>
                    <a:bodyPr wrap="square"/>
                    <a:lstStyle/>
                    <a:p>
                      <a:r>
                        <a:rPr sz="1800" b="1">
                          <a:solidFill>
                            <a:srgbClr val="222222"/>
                          </a:solidFill>
                          <a:latin typeface="Calibri"/>
                        </a:rPr>
                        <a:t>Demand, random split (MAE, kW)</a:t>
                      </a:r>
                    </a:p>
                  </a:txBody>
                  <a:tcPr marL="73152" marR="73152" marT="27432" marB="27432" anchor="ctr">
                    <a:solidFill>
                      <a:srgbClr val="FFFFFF"/>
                    </a:solidFill>
                  </a:tcPr>
                </a:tc>
                <a:tc>
                  <a:txBody>
                    <a:bodyPr wrap="square"/>
                    <a:lstStyle/>
                    <a:p>
                      <a:pPr algn="ctr"/>
                      <a:r>
                        <a:rPr sz="1800" b="0">
                          <a:solidFill>
                            <a:srgbClr val="222222"/>
                          </a:solidFill>
                          <a:latin typeface="Calibri"/>
                        </a:rPr>
                        <a:t>0.182</a:t>
                      </a:r>
                    </a:p>
                  </a:txBody>
                  <a:tcPr marL="73152" marR="73152" marT="27432" marB="27432" anchor="ctr">
                    <a:solidFill>
                      <a:srgbClr val="FFFFFF"/>
                    </a:solidFill>
                  </a:tcPr>
                </a:tc>
                <a:tc>
                  <a:txBody>
                    <a:bodyPr wrap="square"/>
                    <a:lstStyle/>
                    <a:p>
                      <a:pPr algn="ctr"/>
                      <a:r>
                        <a:rPr sz="1800" b="0">
                          <a:solidFill>
                            <a:srgbClr val="222222"/>
                          </a:solidFill>
                          <a:latin typeface="Calibri"/>
                        </a:rPr>
                        <a:t>0.096</a:t>
                      </a:r>
                    </a:p>
                  </a:txBody>
                  <a:tcPr marL="73152" marR="73152" marT="27432" marB="27432" anchor="ctr">
                    <a:solidFill>
                      <a:srgbClr val="FFFFFF"/>
                    </a:solidFill>
                  </a:tcPr>
                </a:tc>
                <a:tc>
                  <a:txBody>
                    <a:bodyPr wrap="square"/>
                    <a:lstStyle/>
                    <a:p>
                      <a:pPr algn="ctr"/>
                      <a:r>
                        <a:rPr sz="1800" b="0">
                          <a:solidFill>
                            <a:srgbClr val="222222"/>
                          </a:solidFill>
                          <a:latin typeface="Calibri"/>
                        </a:rPr>
                        <a:t>0.065</a:t>
                      </a:r>
                    </a:p>
                  </a:txBody>
                  <a:tcPr marL="73152" marR="73152" marT="27432" marB="27432" anchor="ctr">
                    <a:solidFill>
                      <a:srgbClr val="FFFFFF"/>
                    </a:solidFill>
                  </a:tcPr>
                </a:tc>
                <a:tc>
                  <a:txBody>
                    <a:bodyPr wrap="square"/>
                    <a:lstStyle/>
                    <a:p>
                      <a:pPr algn="ctr"/>
                      <a:r>
                        <a:rPr sz="1800" b="0">
                          <a:solidFill>
                            <a:srgbClr val="222222"/>
                          </a:solidFill>
                          <a:latin typeface="Calibri"/>
                        </a:rPr>
                        <a:t>0.065</a:t>
                      </a:r>
                    </a:p>
                  </a:txBody>
                  <a:tcPr marL="73152" marR="73152" marT="27432" marB="27432" anchor="ctr">
                    <a:solidFill>
                      <a:srgbClr val="FFFFFF"/>
                    </a:solidFill>
                  </a:tcPr>
                </a:tc>
              </a:tr>
              <a:tr h="621792">
                <a:tc>
                  <a:txBody>
                    <a:bodyPr wrap="square"/>
                    <a:lstStyle/>
                    <a:p>
                      <a:r>
                        <a:rPr sz="1800" b="1">
                          <a:solidFill>
                            <a:srgbClr val="222222"/>
                          </a:solidFill>
                          <a:latin typeface="Calibri"/>
                        </a:rPr>
                        <a:t>Demand, unseen months (MAE, kW)</a:t>
                      </a:r>
                    </a:p>
                  </a:txBody>
                  <a:tcPr marL="73152" marR="73152" marT="27432" marB="27432" anchor="ctr">
                    <a:solidFill>
                      <a:srgbClr val="F2F5F8"/>
                    </a:solidFill>
                  </a:tcPr>
                </a:tc>
                <a:tc>
                  <a:txBody>
                    <a:bodyPr wrap="square"/>
                    <a:lstStyle/>
                    <a:p>
                      <a:pPr algn="ctr"/>
                      <a:r>
                        <a:rPr sz="1800" b="0">
                          <a:solidFill>
                            <a:srgbClr val="222222"/>
                          </a:solidFill>
                          <a:latin typeface="Calibri"/>
                        </a:rPr>
                        <a:t>0.224</a:t>
                      </a:r>
                    </a:p>
                  </a:txBody>
                  <a:tcPr marL="73152" marR="73152" marT="27432" marB="27432" anchor="ctr">
                    <a:solidFill>
                      <a:srgbClr val="F2F5F8"/>
                    </a:solidFill>
                  </a:tcPr>
                </a:tc>
                <a:tc>
                  <a:txBody>
                    <a:bodyPr wrap="square"/>
                    <a:lstStyle/>
                    <a:p>
                      <a:pPr algn="ctr"/>
                      <a:r>
                        <a:rPr sz="1800" b="0">
                          <a:solidFill>
                            <a:srgbClr val="222222"/>
                          </a:solidFill>
                          <a:latin typeface="Calibri"/>
                        </a:rPr>
                        <a:t>0.118</a:t>
                      </a:r>
                    </a:p>
                  </a:txBody>
                  <a:tcPr marL="73152" marR="73152" marT="27432" marB="27432" anchor="ctr">
                    <a:solidFill>
                      <a:srgbClr val="F2F5F8"/>
                    </a:solidFill>
                  </a:tcPr>
                </a:tc>
                <a:tc>
                  <a:txBody>
                    <a:bodyPr wrap="square"/>
                    <a:lstStyle/>
                    <a:p>
                      <a:pPr algn="ctr"/>
                      <a:r>
                        <a:rPr sz="1800" b="0">
                          <a:solidFill>
                            <a:srgbClr val="222222"/>
                          </a:solidFill>
                          <a:latin typeface="Calibri"/>
                        </a:rPr>
                        <a:t>0.070</a:t>
                      </a:r>
                    </a:p>
                  </a:txBody>
                  <a:tcPr marL="73152" marR="73152" marT="27432" marB="27432" anchor="ctr">
                    <a:solidFill>
                      <a:srgbClr val="F2F5F8"/>
                    </a:solidFill>
                  </a:tcPr>
                </a:tc>
                <a:tc>
                  <a:txBody>
                    <a:bodyPr wrap="square"/>
                    <a:lstStyle/>
                    <a:p>
                      <a:pPr algn="ctr"/>
                      <a:r>
                        <a:rPr sz="1800" b="0">
                          <a:solidFill>
                            <a:srgbClr val="222222"/>
                          </a:solidFill>
                          <a:latin typeface="Calibri"/>
                        </a:rPr>
                        <a:t>0.072</a:t>
                      </a:r>
                    </a:p>
                  </a:txBody>
                  <a:tcPr marL="73152" marR="73152" marT="27432" marB="27432" anchor="ctr">
                    <a:solidFill>
                      <a:srgbClr val="F2F5F8"/>
                    </a:solidFill>
                  </a:tcPr>
                </a:tc>
              </a:tr>
              <a:tr h="621792">
                <a:tc>
                  <a:txBody>
                    <a:bodyPr wrap="square"/>
                    <a:lstStyle/>
                    <a:p>
                      <a:r>
                        <a:rPr sz="1800" b="1">
                          <a:solidFill>
                            <a:srgbClr val="222222"/>
                          </a:solidFill>
                          <a:latin typeface="Calibri"/>
                        </a:rPr>
                        <a:t>Demand, forecast (MAE, kW)</a:t>
                      </a:r>
                    </a:p>
                  </a:txBody>
                  <a:tcPr marL="73152" marR="73152" marT="27432" marB="27432" anchor="ctr">
                    <a:solidFill>
                      <a:srgbClr val="FFFFFF"/>
                    </a:solidFill>
                  </a:tcPr>
                </a:tc>
                <a:tc>
                  <a:txBody>
                    <a:bodyPr wrap="square"/>
                    <a:lstStyle/>
                    <a:p>
                      <a:pPr algn="ctr"/>
                      <a:r>
                        <a:rPr sz="1800" b="0">
                          <a:solidFill>
                            <a:srgbClr val="222222"/>
                          </a:solidFill>
                          <a:latin typeface="Calibri"/>
                        </a:rPr>
                        <a:t>0.242</a:t>
                      </a:r>
                    </a:p>
                  </a:txBody>
                  <a:tcPr marL="73152" marR="73152" marT="27432" marB="27432" anchor="ctr">
                    <a:solidFill>
                      <a:srgbClr val="FFFFFF"/>
                    </a:solidFill>
                  </a:tcPr>
                </a:tc>
                <a:tc>
                  <a:txBody>
                    <a:bodyPr wrap="square"/>
                    <a:lstStyle/>
                    <a:p>
                      <a:pPr algn="ctr"/>
                      <a:r>
                        <a:rPr sz="1800" b="0">
                          <a:solidFill>
                            <a:srgbClr val="222222"/>
                          </a:solidFill>
                          <a:latin typeface="Calibri"/>
                        </a:rPr>
                        <a:t>0.100</a:t>
                      </a:r>
                    </a:p>
                  </a:txBody>
                  <a:tcPr marL="73152" marR="73152" marT="27432" marB="27432" anchor="ctr">
                    <a:solidFill>
                      <a:srgbClr val="FFFFFF"/>
                    </a:solidFill>
                  </a:tcPr>
                </a:tc>
                <a:tc>
                  <a:txBody>
                    <a:bodyPr wrap="square"/>
                    <a:lstStyle/>
                    <a:p>
                      <a:pPr algn="ctr"/>
                      <a:r>
                        <a:rPr sz="1800" b="0">
                          <a:solidFill>
                            <a:srgbClr val="222222"/>
                          </a:solidFill>
                          <a:latin typeface="Calibri"/>
                        </a:rPr>
                        <a:t>0.085</a:t>
                      </a:r>
                    </a:p>
                  </a:txBody>
                  <a:tcPr marL="73152" marR="73152" marT="27432" marB="27432" anchor="ctr">
                    <a:solidFill>
                      <a:srgbClr val="FFFFFF"/>
                    </a:solidFill>
                  </a:tcPr>
                </a:tc>
                <a:tc>
                  <a:txBody>
                    <a:bodyPr wrap="square"/>
                    <a:lstStyle/>
                    <a:p>
                      <a:pPr algn="ctr"/>
                      <a:r>
                        <a:rPr sz="1800" b="0">
                          <a:solidFill>
                            <a:srgbClr val="222222"/>
                          </a:solidFill>
                          <a:latin typeface="Calibri"/>
                        </a:rPr>
                        <a:t>0.076</a:t>
                      </a:r>
                    </a:p>
                  </a:txBody>
                  <a:tcPr marL="73152" marR="73152" marT="27432" marB="27432" anchor="ctr">
                    <a:solidFill>
                      <a:srgbClr val="FFFFFF"/>
                    </a:solidFill>
                  </a:tcPr>
                </a:tc>
              </a:tr>
              <a:tr h="621792">
                <a:tc>
                  <a:txBody>
                    <a:bodyPr wrap="square"/>
                    <a:lstStyle/>
                    <a:p>
                      <a:r>
                        <a:rPr sz="1800" b="1">
                          <a:solidFill>
                            <a:srgbClr val="222222"/>
                          </a:solidFill>
                          <a:latin typeface="Calibri"/>
                        </a:rPr>
                        <a:t>Demand, heatwave (MAE, kW)</a:t>
                      </a:r>
                    </a:p>
                  </a:txBody>
                  <a:tcPr marL="73152" marR="73152" marT="27432" marB="27432" anchor="ctr">
                    <a:solidFill>
                      <a:srgbClr val="F2F5F8"/>
                    </a:solidFill>
                  </a:tcPr>
                </a:tc>
                <a:tc>
                  <a:txBody>
                    <a:bodyPr wrap="square"/>
                    <a:lstStyle/>
                    <a:p>
                      <a:pPr algn="ctr"/>
                      <a:r>
                        <a:rPr sz="1800" b="0">
                          <a:solidFill>
                            <a:srgbClr val="222222"/>
                          </a:solidFill>
                          <a:latin typeface="Calibri"/>
                        </a:rPr>
                        <a:t>0.468</a:t>
                      </a:r>
                    </a:p>
                  </a:txBody>
                  <a:tcPr marL="73152" marR="73152" marT="27432" marB="27432" anchor="ctr">
                    <a:solidFill>
                      <a:srgbClr val="F2F5F8"/>
                    </a:solidFill>
                  </a:tcPr>
                </a:tc>
                <a:tc>
                  <a:txBody>
                    <a:bodyPr wrap="square"/>
                    <a:lstStyle/>
                    <a:p>
                      <a:pPr algn="ctr"/>
                      <a:r>
                        <a:rPr sz="1800" b="0">
                          <a:solidFill>
                            <a:srgbClr val="222222"/>
                          </a:solidFill>
                          <a:latin typeface="Calibri"/>
                        </a:rPr>
                        <a:t>0.077</a:t>
                      </a:r>
                    </a:p>
                  </a:txBody>
                  <a:tcPr marL="73152" marR="73152" marT="27432" marB="27432" anchor="ctr">
                    <a:solidFill>
                      <a:srgbClr val="F2F5F8"/>
                    </a:solidFill>
                  </a:tcPr>
                </a:tc>
                <a:tc>
                  <a:txBody>
                    <a:bodyPr wrap="square"/>
                    <a:lstStyle/>
                    <a:p>
                      <a:pPr algn="ctr"/>
                      <a:r>
                        <a:rPr sz="1800" b="0">
                          <a:solidFill>
                            <a:srgbClr val="222222"/>
                          </a:solidFill>
                          <a:latin typeface="Calibri"/>
                        </a:rPr>
                        <a:t>0.332</a:t>
                      </a:r>
                    </a:p>
                  </a:txBody>
                  <a:tcPr marL="73152" marR="73152" marT="27432" marB="27432" anchor="ctr">
                    <a:solidFill>
                      <a:srgbClr val="F2F5F8"/>
                    </a:solidFill>
                  </a:tcPr>
                </a:tc>
                <a:tc>
                  <a:txBody>
                    <a:bodyPr wrap="square"/>
                    <a:lstStyle/>
                    <a:p>
                      <a:pPr algn="ctr"/>
                      <a:r>
                        <a:rPr sz="1800" b="0">
                          <a:solidFill>
                            <a:srgbClr val="222222"/>
                          </a:solidFill>
                          <a:latin typeface="Calibri"/>
                        </a:rPr>
                        <a:t>0.336</a:t>
                      </a:r>
                    </a:p>
                  </a:txBody>
                  <a:tcPr marL="73152" marR="73152" marT="27432" marB="27432" anchor="ctr">
                    <a:solidFill>
                      <a:srgbClr val="F2F5F8"/>
                    </a:solidFill>
                  </a:tcPr>
                </a:tc>
              </a:tr>
              <a:tr h="621792">
                <a:tc>
                  <a:txBody>
                    <a:bodyPr wrap="square"/>
                    <a:lstStyle/>
                    <a:p>
                      <a:r>
                        <a:rPr sz="1800" b="1">
                          <a:solidFill>
                            <a:srgbClr val="222222"/>
                          </a:solidFill>
                          <a:latin typeface="Calibri"/>
                        </a:rPr>
                        <a:t>Failure (PR-AUC)</a:t>
                      </a:r>
                    </a:p>
                  </a:txBody>
                  <a:tcPr marL="73152" marR="73152" marT="27432" marB="27432" anchor="ctr">
                    <a:solidFill>
                      <a:srgbClr val="FFFFFF"/>
                    </a:solidFill>
                  </a:tcPr>
                </a:tc>
                <a:tc>
                  <a:txBody>
                    <a:bodyPr wrap="square"/>
                    <a:lstStyle/>
                    <a:p>
                      <a:pPr algn="ctr"/>
                      <a:r>
                        <a:rPr sz="1800" b="0">
                          <a:solidFill>
                            <a:srgbClr val="222222"/>
                          </a:solidFill>
                          <a:latin typeface="Calibri"/>
                        </a:rPr>
                        <a:t>0.445</a:t>
                      </a:r>
                    </a:p>
                  </a:txBody>
                  <a:tcPr marL="73152" marR="73152" marT="27432" marB="27432" anchor="ctr">
                    <a:solidFill>
                      <a:srgbClr val="FFFFFF"/>
                    </a:solidFill>
                  </a:tcPr>
                </a:tc>
                <a:tc>
                  <a:txBody>
                    <a:bodyPr wrap="square"/>
                    <a:lstStyle/>
                    <a:p>
                      <a:pPr algn="ctr"/>
                      <a:r>
                        <a:rPr sz="1800" b="0">
                          <a:solidFill>
                            <a:srgbClr val="222222"/>
                          </a:solidFill>
                          <a:latin typeface="Calibri"/>
                        </a:rPr>
                        <a:t>0.492</a:t>
                      </a:r>
                    </a:p>
                  </a:txBody>
                  <a:tcPr marL="73152" marR="73152" marT="27432" marB="27432" anchor="ctr">
                    <a:solidFill>
                      <a:srgbClr val="FFFFFF"/>
                    </a:solidFill>
                  </a:tcPr>
                </a:tc>
                <a:tc>
                  <a:txBody>
                    <a:bodyPr wrap="square"/>
                    <a:lstStyle/>
                    <a:p>
                      <a:pPr algn="ctr"/>
                      <a:r>
                        <a:rPr sz="1800" b="0">
                          <a:solidFill>
                            <a:srgbClr val="222222"/>
                          </a:solidFill>
                          <a:latin typeface="Calibri"/>
                        </a:rPr>
                        <a:t>0.790</a:t>
                      </a:r>
                    </a:p>
                  </a:txBody>
                  <a:tcPr marL="73152" marR="73152" marT="27432" marB="27432" anchor="ctr">
                    <a:solidFill>
                      <a:srgbClr val="FFFFFF"/>
                    </a:solidFill>
                  </a:tcPr>
                </a:tc>
                <a:tc>
                  <a:txBody>
                    <a:bodyPr wrap="square"/>
                    <a:lstStyle/>
                    <a:p>
                      <a:pPr algn="ctr"/>
                      <a:r>
                        <a:rPr sz="1800" b="0">
                          <a:solidFill>
                            <a:srgbClr val="222222"/>
                          </a:solidFill>
                          <a:latin typeface="Calibri"/>
                        </a:rPr>
                        <a:t>0.893</a:t>
                      </a:r>
                    </a:p>
                  </a:txBody>
                  <a:tcPr marL="73152" marR="73152" marT="27432" marB="27432" anchor="ctr">
                    <a:solidFill>
                      <a:srgbClr val="FFFFFF"/>
                    </a:solidFill>
                  </a:tcPr>
                </a:tc>
              </a:tr>
              <a:tr h="621792">
                <a:tc>
                  <a:txBody>
                    <a:bodyPr wrap="square"/>
                    <a:lstStyle/>
                    <a:p>
                      <a:r>
                        <a:rPr sz="1800" b="1">
                          <a:solidFill>
                            <a:srgbClr val="222222"/>
                          </a:solidFill>
                          <a:latin typeface="Calibri"/>
                        </a:rPr>
                        <a:t>Churn (ROC-AUC)</a:t>
                      </a:r>
                    </a:p>
                  </a:txBody>
                  <a:tcPr marL="73152" marR="73152" marT="27432" marB="27432" anchor="ctr">
                    <a:solidFill>
                      <a:srgbClr val="F2F5F8"/>
                    </a:solidFill>
                  </a:tcPr>
                </a:tc>
                <a:tc>
                  <a:txBody>
                    <a:bodyPr wrap="square"/>
                    <a:lstStyle/>
                    <a:p>
                      <a:pPr algn="ctr"/>
                      <a:r>
                        <a:rPr sz="1800" b="0">
                          <a:solidFill>
                            <a:srgbClr val="222222"/>
                          </a:solidFill>
                          <a:latin typeface="Calibri"/>
                        </a:rPr>
                        <a:t>0.750</a:t>
                      </a:r>
                    </a:p>
                  </a:txBody>
                  <a:tcPr marL="73152" marR="73152" marT="27432" marB="27432" anchor="ctr">
                    <a:solidFill>
                      <a:srgbClr val="F2F5F8"/>
                    </a:solidFill>
                  </a:tcPr>
                </a:tc>
                <a:tc>
                  <a:txBody>
                    <a:bodyPr wrap="square"/>
                    <a:lstStyle/>
                    <a:p>
                      <a:pPr algn="ctr"/>
                      <a:r>
                        <a:rPr sz="1800" b="0">
                          <a:solidFill>
                            <a:srgbClr val="222222"/>
                          </a:solidFill>
                          <a:latin typeface="Calibri"/>
                        </a:rPr>
                        <a:t>0.777</a:t>
                      </a:r>
                    </a:p>
                  </a:txBody>
                  <a:tcPr marL="73152" marR="73152" marT="27432" marB="27432" anchor="ctr">
                    <a:solidFill>
                      <a:srgbClr val="F2F5F8"/>
                    </a:solidFill>
                  </a:tcPr>
                </a:tc>
                <a:tc>
                  <a:txBody>
                    <a:bodyPr wrap="square"/>
                    <a:lstStyle/>
                    <a:p>
                      <a:pPr algn="ctr"/>
                      <a:r>
                        <a:rPr sz="1800" b="0">
                          <a:solidFill>
                            <a:srgbClr val="222222"/>
                          </a:solidFill>
                          <a:latin typeface="Calibri"/>
                        </a:rPr>
                        <a:t>0.749</a:t>
                      </a:r>
                    </a:p>
                  </a:txBody>
                  <a:tcPr marL="73152" marR="73152" marT="27432" marB="27432" anchor="ctr">
                    <a:solidFill>
                      <a:srgbClr val="F2F5F8"/>
                    </a:solidFill>
                  </a:tcPr>
                </a:tc>
                <a:tc>
                  <a:txBody>
                    <a:bodyPr wrap="square"/>
                    <a:lstStyle/>
                    <a:p>
                      <a:pPr algn="ctr"/>
                      <a:r>
                        <a:rPr sz="1800" b="0">
                          <a:solidFill>
                            <a:srgbClr val="222222"/>
                          </a:solidFill>
                          <a:latin typeface="Calibri"/>
                        </a:rPr>
                        <a:t>0.775</a:t>
                      </a:r>
                    </a:p>
                  </a:txBody>
                  <a:tcPr marL="73152" marR="73152" marT="27432" marB="27432" anchor="ctr">
                    <a:solidFill>
                      <a:srgbClr val="F2F5F8"/>
                    </a:solidFill>
                  </a:tcPr>
                </a:tc>
              </a:tr>
              <a:tr h="621792">
                <a:tc>
                  <a:txBody>
                    <a:bodyPr wrap="square"/>
                    <a:lstStyle/>
                    <a:p>
                      <a:r>
                        <a:rPr sz="1800" b="1">
                          <a:solidFill>
                            <a:srgbClr val="222222"/>
                          </a:solidFill>
                          <a:latin typeface="Calibri"/>
                        </a:rPr>
                        <a:t>Churn (PR-AUC)</a:t>
                      </a:r>
                    </a:p>
                  </a:txBody>
                  <a:tcPr marL="73152" marR="73152" marT="27432" marB="27432" anchor="ctr">
                    <a:solidFill>
                      <a:srgbClr val="FFFFFF"/>
                    </a:solidFill>
                  </a:tcPr>
                </a:tc>
                <a:tc>
                  <a:txBody>
                    <a:bodyPr wrap="square"/>
                    <a:lstStyle/>
                    <a:p>
                      <a:pPr algn="ctr"/>
                      <a:r>
                        <a:rPr sz="1800" b="0">
                          <a:solidFill>
                            <a:srgbClr val="222222"/>
                          </a:solidFill>
                          <a:latin typeface="Calibri"/>
                        </a:rPr>
                        <a:t>0.547</a:t>
                      </a:r>
                    </a:p>
                  </a:txBody>
                  <a:tcPr marL="73152" marR="73152" marT="27432" marB="27432" anchor="ctr">
                    <a:solidFill>
                      <a:srgbClr val="FFFFFF"/>
                    </a:solidFill>
                  </a:tcPr>
                </a:tc>
                <a:tc>
                  <a:txBody>
                    <a:bodyPr wrap="square"/>
                    <a:lstStyle/>
                    <a:p>
                      <a:pPr algn="ctr"/>
                      <a:r>
                        <a:rPr sz="1800" b="0">
                          <a:solidFill>
                            <a:srgbClr val="222222"/>
                          </a:solidFill>
                          <a:latin typeface="Calibri"/>
                        </a:rPr>
                        <a:t>0.578</a:t>
                      </a:r>
                    </a:p>
                  </a:txBody>
                  <a:tcPr marL="73152" marR="73152" marT="27432" marB="27432" anchor="ctr">
                    <a:solidFill>
                      <a:srgbClr val="FFFFFF"/>
                    </a:solidFill>
                  </a:tcPr>
                </a:tc>
                <a:tc>
                  <a:txBody>
                    <a:bodyPr wrap="square"/>
                    <a:lstStyle/>
                    <a:p>
                      <a:pPr algn="ctr"/>
                      <a:r>
                        <a:rPr sz="1800" b="0">
                          <a:solidFill>
                            <a:srgbClr val="222222"/>
                          </a:solidFill>
                          <a:latin typeface="Calibri"/>
                        </a:rPr>
                        <a:t>0.529</a:t>
                      </a:r>
                    </a:p>
                  </a:txBody>
                  <a:tcPr marL="73152" marR="73152" marT="27432" marB="27432" anchor="ctr">
                    <a:solidFill>
                      <a:srgbClr val="FFFFFF"/>
                    </a:solidFill>
                  </a:tcPr>
                </a:tc>
                <a:tc>
                  <a:txBody>
                    <a:bodyPr wrap="square"/>
                    <a:lstStyle/>
                    <a:p>
                      <a:pPr algn="ctr"/>
                      <a:r>
                        <a:rPr sz="1800" b="0">
                          <a:solidFill>
                            <a:srgbClr val="222222"/>
                          </a:solidFill>
                          <a:latin typeface="Calibri"/>
                        </a:rPr>
                        <a:t>0.580</a:t>
                      </a:r>
                    </a:p>
                  </a:txBody>
                  <a:tcPr marL="73152" marR="73152" marT="27432" marB="27432"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Five kinds of predictor, from a rule of thumb to boosted trees</a:t>
            </a:r>
          </a:p>
        </p:txBody>
      </p:sp>
      <p:sp>
        <p:nvSpPr>
          <p:cNvPr id="3" name="Rectangle 2"/>
          <p:cNvSpPr/>
          <p:nvPr/>
        </p:nvSpPr>
        <p:spPr>
          <a:xfrm>
            <a:off x="411480" y="868680"/>
            <a:ext cx="11384280" cy="45720"/>
          </a:xfrm>
          <a:prstGeom prst="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6: Model selection</a:t>
            </a:r>
          </a:p>
          <a:p>
            <a:pPr algn="ctr"/>
            <a:r>
              <a:rPr sz="1000">
                <a:solidFill>
                  <a:srgbClr val="FFFFFF"/>
                </a:solidFill>
                <a:latin typeface="Calibri"/>
              </a:rPr>
              <a:t>Ankit Kumar</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26</a:t>
            </a:r>
          </a:p>
        </p:txBody>
      </p:sp>
      <p:graphicFrame>
        <p:nvGraphicFramePr>
          <p:cNvPr id="7" name="Table 6"/>
          <p:cNvGraphicFramePr>
            <a:graphicFrameLocks noGrp="1"/>
          </p:cNvGraphicFramePr>
          <p:nvPr/>
        </p:nvGraphicFramePr>
        <p:xfrm>
          <a:off x="365760" y="1097280"/>
          <a:ext cx="11429998" cy="5212080"/>
        </p:xfrm>
        <a:graphic>
          <a:graphicData uri="http://schemas.openxmlformats.org/drawingml/2006/table">
            <a:tbl>
              <a:tblPr firstRow="0" bandRow="0">
                <a:tableStyleId>{5C22544A-7EE6-4342-B048-85BDC9FD1C3A}</a:tableStyleId>
              </a:tblPr>
              <a:tblGrid>
                <a:gridCol w="1976616"/>
                <a:gridCol w="1804736"/>
                <a:gridCol w="3351654"/>
                <a:gridCol w="2148496"/>
                <a:gridCol w="2148496"/>
              </a:tblGrid>
              <a:tr h="868680">
                <a:tc>
                  <a:txBody>
                    <a:bodyPr wrap="square"/>
                    <a:lstStyle/>
                    <a:p>
                      <a:r>
                        <a:rPr sz="1500" b="1">
                          <a:solidFill>
                            <a:srgbClr val="FFFFFF"/>
                          </a:solidFill>
                          <a:latin typeface="Calibri"/>
                        </a:rPr>
                        <a:t>Model</a:t>
                      </a:r>
                    </a:p>
                  </a:txBody>
                  <a:tcPr marL="73152" marR="73152" marT="27432" marB="27432" anchor="ctr">
                    <a:solidFill>
                      <a:srgbClr val="1F4E79"/>
                    </a:solidFill>
                  </a:tcPr>
                </a:tc>
                <a:tc>
                  <a:txBody>
                    <a:bodyPr wrap="square"/>
                    <a:lstStyle/>
                    <a:p>
                      <a:r>
                        <a:rPr sz="1500" b="1">
                          <a:solidFill>
                            <a:srgbClr val="FFFFFF"/>
                          </a:solidFill>
                          <a:latin typeface="Calibri"/>
                        </a:rPr>
                        <a:t>Role in this project</a:t>
                      </a:r>
                    </a:p>
                  </a:txBody>
                  <a:tcPr marL="73152" marR="73152" marT="27432" marB="27432" anchor="ctr">
                    <a:solidFill>
                      <a:srgbClr val="1F4E79"/>
                    </a:solidFill>
                  </a:tcPr>
                </a:tc>
                <a:tc>
                  <a:txBody>
                    <a:bodyPr wrap="square"/>
                    <a:lstStyle/>
                    <a:p>
                      <a:r>
                        <a:rPr sz="1500" b="1">
                          <a:solidFill>
                            <a:srgbClr val="FFFFFF"/>
                          </a:solidFill>
                          <a:latin typeface="Calibri"/>
                        </a:rPr>
                        <a:t>How it fits</a:t>
                      </a:r>
                    </a:p>
                  </a:txBody>
                  <a:tcPr marL="73152" marR="73152" marT="27432" marB="27432" anchor="ctr">
                    <a:solidFill>
                      <a:srgbClr val="1F4E79"/>
                    </a:solidFill>
                  </a:tcPr>
                </a:tc>
                <a:tc>
                  <a:txBody>
                    <a:bodyPr wrap="square"/>
                    <a:lstStyle/>
                    <a:p>
                      <a:r>
                        <a:rPr sz="1500" b="1">
                          <a:solidFill>
                            <a:srgbClr val="FFFFFF"/>
                          </a:solidFill>
                          <a:latin typeface="Calibri"/>
                        </a:rPr>
                        <a:t>Beyond the training range?</a:t>
                      </a:r>
                    </a:p>
                  </a:txBody>
                  <a:tcPr marL="73152" marR="73152" marT="27432" marB="27432" anchor="ctr">
                    <a:solidFill>
                      <a:srgbClr val="1F4E79"/>
                    </a:solidFill>
                  </a:tcPr>
                </a:tc>
                <a:tc>
                  <a:txBody>
                    <a:bodyPr wrap="square"/>
                    <a:lstStyle/>
                    <a:p>
                      <a:r>
                        <a:rPr sz="1500" b="1">
                          <a:solidFill>
                            <a:srgbClr val="FFFFFF"/>
                          </a:solidFill>
                          <a:latin typeface="Calibri"/>
                        </a:rPr>
                        <a:t>Main point</a:t>
                      </a:r>
                    </a:p>
                  </a:txBody>
                  <a:tcPr marL="73152" marR="73152" marT="27432" marB="27432" anchor="ctr">
                    <a:solidFill>
                      <a:srgbClr val="1F4E79"/>
                    </a:solidFill>
                  </a:tcPr>
                </a:tc>
              </a:tr>
              <a:tr h="868680">
                <a:tc>
                  <a:txBody>
                    <a:bodyPr wrap="square"/>
                    <a:lstStyle/>
                    <a:p>
                      <a:r>
                        <a:rPr sz="1500" b="1">
                          <a:solidFill>
                            <a:srgbClr val="222222"/>
                          </a:solidFill>
                          <a:latin typeface="Calibri"/>
                        </a:rPr>
                        <a:t>Rule of thumb</a:t>
                      </a:r>
                    </a:p>
                  </a:txBody>
                  <a:tcPr marL="73152" marR="73152" marT="27432" marB="27432" anchor="ctr">
                    <a:solidFill>
                      <a:srgbClr val="FFFFFF"/>
                    </a:solidFill>
                  </a:tcPr>
                </a:tc>
                <a:tc>
                  <a:txBody>
                    <a:bodyPr wrap="square"/>
                    <a:lstStyle/>
                    <a:p>
                      <a:r>
                        <a:rPr sz="1500" b="0">
                          <a:solidFill>
                            <a:srgbClr val="222222"/>
                          </a:solidFill>
                          <a:latin typeface="Calibri"/>
                        </a:rPr>
                        <a:t>No learning</a:t>
                      </a:r>
                    </a:p>
                  </a:txBody>
                  <a:tcPr marL="73152" marR="73152" marT="27432" marB="27432" anchor="ctr">
                    <a:solidFill>
                      <a:srgbClr val="FFFFFF"/>
                    </a:solidFill>
                  </a:tcPr>
                </a:tc>
                <a:tc>
                  <a:txBody>
                    <a:bodyPr wrap="square"/>
                    <a:lstStyle/>
                    <a:p>
                      <a:r>
                        <a:rPr sz="1500" b="0">
                          <a:solidFill>
                            <a:srgbClr val="222222"/>
                          </a:solidFill>
                          <a:latin typeface="Calibri"/>
                        </a:rPr>
                        <a:t>Average by hour; most worn tool first; longest since last purchase</a:t>
                      </a:r>
                    </a:p>
                  </a:txBody>
                  <a:tcPr marL="73152" marR="73152" marT="27432" marB="27432" anchor="ctr">
                    <a:solidFill>
                      <a:srgbClr val="FFFFFF"/>
                    </a:solidFill>
                  </a:tcPr>
                </a:tc>
                <a:tc>
                  <a:txBody>
                    <a:bodyPr wrap="square"/>
                    <a:lstStyle/>
                    <a:p>
                      <a:r>
                        <a:rPr sz="1500" b="0">
                          <a:solidFill>
                            <a:srgbClr val="222222"/>
                          </a:solidFill>
                          <a:latin typeface="Calibri"/>
                        </a:rPr>
                        <a:t>Not applicable</a:t>
                      </a:r>
                    </a:p>
                  </a:txBody>
                  <a:tcPr marL="73152" marR="73152" marT="27432" marB="27432" anchor="ctr">
                    <a:solidFill>
                      <a:srgbClr val="FFFFFF"/>
                    </a:solidFill>
                  </a:tcPr>
                </a:tc>
                <a:tc>
                  <a:txBody>
                    <a:bodyPr wrap="square"/>
                    <a:lstStyle/>
                    <a:p>
                      <a:r>
                        <a:rPr sz="1500" b="0">
                          <a:solidFill>
                            <a:srgbClr val="222222"/>
                          </a:solidFill>
                          <a:latin typeface="Calibri"/>
                        </a:rPr>
                        <a:t>What a company does today</a:t>
                      </a:r>
                    </a:p>
                  </a:txBody>
                  <a:tcPr marL="73152" marR="73152" marT="27432" marB="27432" anchor="ctr">
                    <a:solidFill>
                      <a:srgbClr val="FFFFFF"/>
                    </a:solidFill>
                  </a:tcPr>
                </a:tc>
              </a:tr>
              <a:tr h="868680">
                <a:tc>
                  <a:txBody>
                    <a:bodyPr wrap="square"/>
                    <a:lstStyle/>
                    <a:p>
                      <a:r>
                        <a:rPr sz="1500" b="1">
                          <a:solidFill>
                            <a:srgbClr val="222222"/>
                          </a:solidFill>
                          <a:latin typeface="Calibri"/>
                        </a:rPr>
                        <a:t>Linear / logistic regression</a:t>
                      </a:r>
                    </a:p>
                  </a:txBody>
                  <a:tcPr marL="73152" marR="73152" marT="27432" marB="27432" anchor="ctr">
                    <a:solidFill>
                      <a:srgbClr val="F2F5F8"/>
                    </a:solidFill>
                  </a:tcPr>
                </a:tc>
                <a:tc>
                  <a:txBody>
                    <a:bodyPr wrap="square"/>
                    <a:lstStyle/>
                    <a:p>
                      <a:r>
                        <a:rPr sz="1500" b="0">
                          <a:solidFill>
                            <a:srgbClr val="222222"/>
                          </a:solidFill>
                          <a:latin typeface="Calibri"/>
                        </a:rPr>
                        <a:t>Statistical baseline</a:t>
                      </a:r>
                    </a:p>
                  </a:txBody>
                  <a:tcPr marL="73152" marR="73152" marT="27432" marB="27432" anchor="ctr">
                    <a:solidFill>
                      <a:srgbClr val="F2F5F8"/>
                    </a:solidFill>
                  </a:tcPr>
                </a:tc>
                <a:tc>
                  <a:txBody>
                    <a:bodyPr wrap="square"/>
                    <a:lstStyle/>
                    <a:p>
                      <a:r>
                        <a:rPr sz="1500" b="0">
                          <a:solidFill>
                            <a:srgbClr val="222222"/>
                          </a:solidFill>
                          <a:latin typeface="Calibri"/>
                        </a:rPr>
                        <a:t>One weight per input, no penalty</a:t>
                      </a:r>
                    </a:p>
                  </a:txBody>
                  <a:tcPr marL="73152" marR="73152" marT="27432" marB="27432" anchor="ctr">
                    <a:solidFill>
                      <a:srgbClr val="F2F5F8"/>
                    </a:solidFill>
                  </a:tcPr>
                </a:tc>
                <a:tc>
                  <a:txBody>
                    <a:bodyPr wrap="square"/>
                    <a:lstStyle/>
                    <a:p>
                      <a:r>
                        <a:rPr sz="1500" b="0">
                          <a:solidFill>
                            <a:srgbClr val="222222"/>
                          </a:solidFill>
                          <a:latin typeface="Calibri"/>
                        </a:rPr>
                        <a:t>Yes (straight line)</a:t>
                      </a:r>
                    </a:p>
                  </a:txBody>
                  <a:tcPr marL="73152" marR="73152" marT="27432" marB="27432" anchor="ctr">
                    <a:solidFill>
                      <a:srgbClr val="F2F5F8"/>
                    </a:solidFill>
                  </a:tcPr>
                </a:tc>
                <a:tc>
                  <a:txBody>
                    <a:bodyPr wrap="square"/>
                    <a:lstStyle/>
                    <a:p>
                      <a:r>
                        <a:rPr sz="1500" b="0">
                          <a:solidFill>
                            <a:srgbClr val="222222"/>
                          </a:solidFill>
                          <a:latin typeface="Calibri"/>
                        </a:rPr>
                        <a:t>Explainable; cannot bend</a:t>
                      </a:r>
                    </a:p>
                  </a:txBody>
                  <a:tcPr marL="73152" marR="73152" marT="27432" marB="27432" anchor="ctr">
                    <a:solidFill>
                      <a:srgbClr val="F2F5F8"/>
                    </a:solidFill>
                  </a:tcPr>
                </a:tc>
              </a:tr>
              <a:tr h="868680">
                <a:tc>
                  <a:txBody>
                    <a:bodyPr wrap="square"/>
                    <a:lstStyle/>
                    <a:p>
                      <a:r>
                        <a:rPr sz="1500" b="1">
                          <a:solidFill>
                            <a:srgbClr val="222222"/>
                          </a:solidFill>
                          <a:latin typeface="Calibri"/>
                        </a:rPr>
                        <a:t>Ridge</a:t>
                      </a:r>
                    </a:p>
                  </a:txBody>
                  <a:tcPr marL="73152" marR="73152" marT="27432" marB="27432" anchor="ctr">
                    <a:solidFill>
                      <a:srgbClr val="FFFFFF"/>
                    </a:solidFill>
                  </a:tcPr>
                </a:tc>
                <a:tc>
                  <a:txBody>
                    <a:bodyPr wrap="square"/>
                    <a:lstStyle/>
                    <a:p>
                      <a:r>
                        <a:rPr sz="1500" b="0">
                          <a:solidFill>
                            <a:srgbClr val="222222"/>
                          </a:solidFill>
                          <a:latin typeface="Calibri"/>
                        </a:rPr>
                        <a:t>Our model 1</a:t>
                      </a:r>
                    </a:p>
                  </a:txBody>
                  <a:tcPr marL="73152" marR="73152" marT="27432" marB="27432" anchor="ctr">
                    <a:solidFill>
                      <a:srgbClr val="FFFFFF"/>
                    </a:solidFill>
                  </a:tcPr>
                </a:tc>
                <a:tc>
                  <a:txBody>
                    <a:bodyPr wrap="square"/>
                    <a:lstStyle/>
                    <a:p>
                      <a:r>
                        <a:rPr sz="1500" b="0">
                          <a:solidFill>
                            <a:srgbClr val="222222"/>
                          </a:solidFill>
                          <a:latin typeface="Calibri"/>
                        </a:rPr>
                        <a:t>Same, with an L2 penalty chosen by cross-validation</a:t>
                      </a:r>
                    </a:p>
                  </a:txBody>
                  <a:tcPr marL="73152" marR="73152" marT="27432" marB="27432" anchor="ctr">
                    <a:solidFill>
                      <a:srgbClr val="FFFFFF"/>
                    </a:solidFill>
                  </a:tcPr>
                </a:tc>
                <a:tc>
                  <a:txBody>
                    <a:bodyPr wrap="square"/>
                    <a:lstStyle/>
                    <a:p>
                      <a:r>
                        <a:rPr sz="1500" b="0">
                          <a:solidFill>
                            <a:srgbClr val="222222"/>
                          </a:solidFill>
                          <a:latin typeface="Calibri"/>
                        </a:rPr>
                        <a:t>Yes (straight line)</a:t>
                      </a:r>
                    </a:p>
                  </a:txBody>
                  <a:tcPr marL="73152" marR="73152" marT="27432" marB="27432" anchor="ctr">
                    <a:solidFill>
                      <a:srgbClr val="FFFFFF"/>
                    </a:solidFill>
                  </a:tcPr>
                </a:tc>
                <a:tc>
                  <a:txBody>
                    <a:bodyPr wrap="square"/>
                    <a:lstStyle/>
                    <a:p>
                      <a:r>
                        <a:rPr sz="1500" b="0">
                          <a:solidFill>
                            <a:srgbClr val="222222"/>
                          </a:solidFill>
                          <a:latin typeface="Calibri"/>
                        </a:rPr>
                        <a:t>Stable with many inputs</a:t>
                      </a:r>
                    </a:p>
                  </a:txBody>
                  <a:tcPr marL="73152" marR="73152" marT="27432" marB="27432" anchor="ctr">
                    <a:solidFill>
                      <a:srgbClr val="FFFFFF"/>
                    </a:solidFill>
                  </a:tcPr>
                </a:tc>
              </a:tr>
              <a:tr h="868680">
                <a:tc>
                  <a:txBody>
                    <a:bodyPr wrap="square"/>
                    <a:lstStyle/>
                    <a:p>
                      <a:r>
                        <a:rPr sz="1500" b="1">
                          <a:solidFill>
                            <a:srgbClr val="222222"/>
                          </a:solidFill>
                          <a:latin typeface="Calibri"/>
                        </a:rPr>
                        <a:t>Random Forest</a:t>
                      </a:r>
                    </a:p>
                  </a:txBody>
                  <a:tcPr marL="73152" marR="73152" marT="27432" marB="27432" anchor="ctr">
                    <a:solidFill>
                      <a:srgbClr val="F2F5F8"/>
                    </a:solidFill>
                  </a:tcPr>
                </a:tc>
                <a:tc>
                  <a:txBody>
                    <a:bodyPr wrap="square"/>
                    <a:lstStyle/>
                    <a:p>
                      <a:r>
                        <a:rPr sz="1500" b="0">
                          <a:solidFill>
                            <a:srgbClr val="222222"/>
                          </a:solidFill>
                          <a:latin typeface="Calibri"/>
                        </a:rPr>
                        <a:t>Classic ML baseline</a:t>
                      </a:r>
                    </a:p>
                  </a:txBody>
                  <a:tcPr marL="73152" marR="73152" marT="27432" marB="27432" anchor="ctr">
                    <a:solidFill>
                      <a:srgbClr val="F2F5F8"/>
                    </a:solidFill>
                  </a:tcPr>
                </a:tc>
                <a:tc>
                  <a:txBody>
                    <a:bodyPr wrap="square"/>
                    <a:lstStyle/>
                    <a:p>
                      <a:r>
                        <a:rPr sz="1500" b="0">
                          <a:solidFill>
                            <a:srgbClr val="222222"/>
                          </a:solidFill>
                          <a:latin typeface="Calibri"/>
                        </a:rPr>
                        <a:t>300 trees on random subsets, averaged</a:t>
                      </a:r>
                    </a:p>
                  </a:txBody>
                  <a:tcPr marL="73152" marR="73152" marT="27432" marB="27432" anchor="ctr">
                    <a:solidFill>
                      <a:srgbClr val="F2F5F8"/>
                    </a:solidFill>
                  </a:tcPr>
                </a:tc>
                <a:tc>
                  <a:txBody>
                    <a:bodyPr wrap="square"/>
                    <a:lstStyle/>
                    <a:p>
                      <a:r>
                        <a:rPr sz="1500" b="0">
                          <a:solidFill>
                            <a:srgbClr val="222222"/>
                          </a:solidFill>
                          <a:latin typeface="Calibri"/>
                        </a:rPr>
                        <a:t>No (flat beyond training range)</a:t>
                      </a:r>
                    </a:p>
                  </a:txBody>
                  <a:tcPr marL="73152" marR="73152" marT="27432" marB="27432" anchor="ctr">
                    <a:solidFill>
                      <a:srgbClr val="F2F5F8"/>
                    </a:solidFill>
                  </a:tcPr>
                </a:tc>
                <a:tc>
                  <a:txBody>
                    <a:bodyPr wrap="square"/>
                    <a:lstStyle/>
                    <a:p>
                      <a:r>
                        <a:rPr sz="1500" b="0">
                          <a:solidFill>
                            <a:srgbClr val="222222"/>
                          </a:solidFill>
                          <a:latin typeface="Calibri"/>
                        </a:rPr>
                        <a:t>Few settings; handles thresholds</a:t>
                      </a:r>
                    </a:p>
                  </a:txBody>
                  <a:tcPr marL="73152" marR="73152" marT="27432" marB="27432" anchor="ctr">
                    <a:solidFill>
                      <a:srgbClr val="F2F5F8"/>
                    </a:solidFill>
                  </a:tcPr>
                </a:tc>
              </a:tr>
              <a:tr h="868680">
                <a:tc>
                  <a:txBody>
                    <a:bodyPr wrap="square"/>
                    <a:lstStyle/>
                    <a:p>
                      <a:r>
                        <a:rPr sz="1500" b="1">
                          <a:solidFill>
                            <a:srgbClr val="222222"/>
                          </a:solidFill>
                          <a:latin typeface="Calibri"/>
                        </a:rPr>
                        <a:t>XGBoost</a:t>
                      </a:r>
                    </a:p>
                  </a:txBody>
                  <a:tcPr marL="73152" marR="73152" marT="27432" marB="27432" anchor="ctr">
                    <a:solidFill>
                      <a:srgbClr val="FFFFFF"/>
                    </a:solidFill>
                  </a:tcPr>
                </a:tc>
                <a:tc>
                  <a:txBody>
                    <a:bodyPr wrap="square"/>
                    <a:lstStyle/>
                    <a:p>
                      <a:r>
                        <a:rPr sz="1500" b="0">
                          <a:solidFill>
                            <a:srgbClr val="222222"/>
                          </a:solidFill>
                          <a:latin typeface="Calibri"/>
                        </a:rPr>
                        <a:t>Our model 2</a:t>
                      </a:r>
                    </a:p>
                  </a:txBody>
                  <a:tcPr marL="73152" marR="73152" marT="27432" marB="27432" anchor="ctr">
                    <a:solidFill>
                      <a:srgbClr val="FFFFFF"/>
                    </a:solidFill>
                  </a:tcPr>
                </a:tc>
                <a:tc>
                  <a:txBody>
                    <a:bodyPr wrap="square"/>
                    <a:lstStyle/>
                    <a:p>
                      <a:r>
                        <a:rPr sz="1500" b="0">
                          <a:solidFill>
                            <a:srgbClr val="222222"/>
                          </a:solidFill>
                          <a:latin typeface="Calibri"/>
                        </a:rPr>
                        <a:t>400 or 300 small trees, each fixing the errors of the previous ones</a:t>
                      </a:r>
                    </a:p>
                  </a:txBody>
                  <a:tcPr marL="73152" marR="73152" marT="27432" marB="27432" anchor="ctr">
                    <a:solidFill>
                      <a:srgbClr val="FFFFFF"/>
                    </a:solidFill>
                  </a:tcPr>
                </a:tc>
                <a:tc>
                  <a:txBody>
                    <a:bodyPr wrap="square"/>
                    <a:lstStyle/>
                    <a:p>
                      <a:r>
                        <a:rPr sz="1500" b="0">
                          <a:solidFill>
                            <a:srgbClr val="222222"/>
                          </a:solidFill>
                          <a:latin typeface="Calibri"/>
                        </a:rPr>
                        <a:t>No (flat beyond training range)</a:t>
                      </a:r>
                    </a:p>
                  </a:txBody>
                  <a:tcPr marL="73152" marR="73152" marT="27432" marB="27432" anchor="ctr">
                    <a:solidFill>
                      <a:srgbClr val="FFFFFF"/>
                    </a:solidFill>
                  </a:tcPr>
                </a:tc>
                <a:tc>
                  <a:txBody>
                    <a:bodyPr wrap="square"/>
                    <a:lstStyle/>
                    <a:p>
                      <a:r>
                        <a:rPr sz="1500" b="0">
                          <a:solidFill>
                            <a:srgbClr val="222222"/>
                          </a:solidFill>
                          <a:latin typeface="Calibri"/>
                        </a:rPr>
                        <a:t>Most accurate on tables</a:t>
                      </a:r>
                    </a:p>
                  </a:txBody>
                  <a:tcPr marL="73152" marR="73152" marT="27432" marB="27432"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Why trees go flat outside their training range</a:t>
            </a:r>
          </a:p>
        </p:txBody>
      </p:sp>
      <p:sp>
        <p:nvSpPr>
          <p:cNvPr id="3" name="Rectangle 2"/>
          <p:cNvSpPr/>
          <p:nvPr/>
        </p:nvSpPr>
        <p:spPr>
          <a:xfrm>
            <a:off x="411480" y="868680"/>
            <a:ext cx="11384280" cy="45720"/>
          </a:xfrm>
          <a:prstGeom prst="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6: Model selection</a:t>
            </a:r>
          </a:p>
          <a:p>
            <a:pPr algn="ctr"/>
            <a:r>
              <a:rPr sz="1000">
                <a:solidFill>
                  <a:srgbClr val="FFFFFF"/>
                </a:solidFill>
                <a:latin typeface="Calibri"/>
              </a:rPr>
              <a:t>Ankit Kumar</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27</a:t>
            </a:r>
          </a:p>
        </p:txBody>
      </p:sp>
      <p:pic>
        <p:nvPicPr>
          <p:cNvPr id="7" name="Picture 6" descr="s6_02_extrapolation_toy.png"/>
          <p:cNvPicPr>
            <a:picLocks noChangeAspect="1"/>
          </p:cNvPicPr>
          <p:nvPr/>
        </p:nvPicPr>
        <p:blipFill>
          <a:blip r:embed="rId3"/>
          <a:stretch>
            <a:fillRect/>
          </a:stretch>
        </p:blipFill>
        <p:spPr>
          <a:xfrm>
            <a:off x="840641" y="1005840"/>
            <a:ext cx="10507669" cy="5440679"/>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Every model on every test</a:t>
            </a:r>
          </a:p>
        </p:txBody>
      </p:sp>
      <p:sp>
        <p:nvSpPr>
          <p:cNvPr id="3" name="Rectangle 2"/>
          <p:cNvSpPr/>
          <p:nvPr/>
        </p:nvSpPr>
        <p:spPr>
          <a:xfrm>
            <a:off x="411480" y="868680"/>
            <a:ext cx="11384280" cy="45720"/>
          </a:xfrm>
          <a:prstGeom prst="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6: Model selection</a:t>
            </a:r>
          </a:p>
          <a:p>
            <a:pPr algn="ctr"/>
            <a:r>
              <a:rPr sz="1000">
                <a:solidFill>
                  <a:srgbClr val="FFFFFF"/>
                </a:solidFill>
                <a:latin typeface="Calibri"/>
              </a:rPr>
              <a:t>Ankit Kumar</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28</a:t>
            </a:r>
          </a:p>
        </p:txBody>
      </p:sp>
      <p:pic>
        <p:nvPicPr>
          <p:cNvPr id="7" name="Picture 6" descr="s6_03_performance_matrix.png"/>
          <p:cNvPicPr>
            <a:picLocks noChangeAspect="1"/>
          </p:cNvPicPr>
          <p:nvPr/>
        </p:nvPicPr>
        <p:blipFill>
          <a:blip r:embed="rId3"/>
          <a:stretch>
            <a:fillRect/>
          </a:stretch>
        </p:blipFill>
        <p:spPr>
          <a:xfrm>
            <a:off x="320040" y="1076162"/>
            <a:ext cx="11548872" cy="530003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Tie rule: the simplest model within one std wins</a:t>
            </a:r>
          </a:p>
        </p:txBody>
      </p:sp>
      <p:sp>
        <p:nvSpPr>
          <p:cNvPr id="3" name="Rectangle 2"/>
          <p:cNvSpPr/>
          <p:nvPr/>
        </p:nvSpPr>
        <p:spPr>
          <a:xfrm>
            <a:off x="411480" y="868680"/>
            <a:ext cx="11384280" cy="45720"/>
          </a:xfrm>
          <a:prstGeom prst="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6: Model selection</a:t>
            </a:r>
          </a:p>
          <a:p>
            <a:pPr algn="ctr"/>
            <a:r>
              <a:rPr sz="1000">
                <a:solidFill>
                  <a:srgbClr val="FFFFFF"/>
                </a:solidFill>
                <a:latin typeface="Calibri"/>
              </a:rPr>
              <a:t>Ankit Kumar</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29</a:t>
            </a:r>
          </a:p>
        </p:txBody>
      </p:sp>
      <p:pic>
        <p:nvPicPr>
          <p:cNvPr id="7" name="Picture 6" descr="s6_04_selection_rule.png"/>
          <p:cNvPicPr>
            <a:picLocks noChangeAspect="1"/>
          </p:cNvPicPr>
          <p:nvPr/>
        </p:nvPicPr>
        <p:blipFill>
          <a:blip r:embed="rId3"/>
          <a:stretch>
            <a:fillRect/>
          </a:stretch>
        </p:blipFill>
        <p:spPr>
          <a:xfrm>
            <a:off x="320040" y="1005840"/>
            <a:ext cx="11548872" cy="3970050"/>
          </a:xfrm>
          <a:prstGeom prst="rect">
            <a:avLst/>
          </a:prstGeom>
        </p:spPr>
      </p:pic>
      <p:sp>
        <p:nvSpPr>
          <p:cNvPr id="8" name="Oval 7"/>
          <p:cNvSpPr/>
          <p:nvPr/>
        </p:nvSpPr>
        <p:spPr>
          <a:xfrm>
            <a:off x="548640" y="5250210"/>
            <a:ext cx="128016" cy="128016"/>
          </a:xfrm>
          <a:prstGeom prst="ellipse">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140482"/>
            <a:ext cx="10972800" cy="822960"/>
          </a:xfrm>
          <a:prstGeom prst="rect">
            <a:avLst/>
          </a:prstGeom>
          <a:noFill/>
        </p:spPr>
        <p:txBody>
          <a:bodyPr wrap="square" anchor="t" lIns="45720" rIns="45720">
            <a:spAutoFit/>
          </a:bodyPr>
          <a:lstStyle/>
          <a:p>
            <a:pPr algn="l"/>
            <a:r>
              <a:rPr sz="1600" b="0" i="0">
                <a:solidFill>
                  <a:srgbClr val="222222"/>
                </a:solidFill>
                <a:latin typeface="Calibri"/>
              </a:rPr>
              <a:t>For failure, Random Forest and XGBoost tie.</a:t>
            </a:r>
          </a:p>
        </p:txBody>
      </p:sp>
      <p:sp>
        <p:nvSpPr>
          <p:cNvPr id="10" name="Oval 9"/>
          <p:cNvSpPr/>
          <p:nvPr/>
        </p:nvSpPr>
        <p:spPr>
          <a:xfrm>
            <a:off x="548640" y="5716554"/>
            <a:ext cx="128016" cy="128016"/>
          </a:xfrm>
          <a:prstGeom prst="ellipse">
            <a:avLst/>
          </a:prstGeom>
          <a:solidFill>
            <a:srgbClr val="3A9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606826"/>
            <a:ext cx="10972800" cy="822960"/>
          </a:xfrm>
          <a:prstGeom prst="rect">
            <a:avLst/>
          </a:prstGeom>
          <a:noFill/>
        </p:spPr>
        <p:txBody>
          <a:bodyPr wrap="square" anchor="t" lIns="45720" rIns="45720">
            <a:spAutoFit/>
          </a:bodyPr>
          <a:lstStyle/>
          <a:p>
            <a:pPr algn="l"/>
            <a:r>
              <a:rPr sz="1600" b="0" i="0">
                <a:solidFill>
                  <a:srgbClr val="222222"/>
                </a:solidFill>
                <a:latin typeface="Calibri"/>
              </a:rPr>
              <a:t>For churn, five models tie, so the simplest, logistic regression, wins.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One protocol for every model, repeated with five seeds</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7: Model training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30</a:t>
            </a:r>
          </a:p>
        </p:txBody>
      </p:sp>
      <p:pic>
        <p:nvPicPr>
          <p:cNvPr id="7" name="Picture 6" descr="s7_01_training_protocol.png"/>
          <p:cNvPicPr>
            <a:picLocks noChangeAspect="1"/>
          </p:cNvPicPr>
          <p:nvPr/>
        </p:nvPicPr>
        <p:blipFill>
          <a:blip r:embed="rId3"/>
          <a:stretch>
            <a:fillRect/>
          </a:stretch>
        </p:blipFill>
        <p:spPr>
          <a:xfrm>
            <a:off x="320040" y="1005840"/>
            <a:ext cx="11548872" cy="4008137"/>
          </a:xfrm>
          <a:prstGeom prst="rect">
            <a:avLst/>
          </a:prstGeom>
        </p:spPr>
      </p:pic>
      <p:sp>
        <p:nvSpPr>
          <p:cNvPr id="8" name="Oval 7"/>
          <p:cNvSpPr/>
          <p:nvPr/>
        </p:nvSpPr>
        <p:spPr>
          <a:xfrm>
            <a:off x="548640" y="5288297"/>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178569"/>
            <a:ext cx="10972800" cy="822960"/>
          </a:xfrm>
          <a:prstGeom prst="rect">
            <a:avLst/>
          </a:prstGeom>
          <a:noFill/>
        </p:spPr>
        <p:txBody>
          <a:bodyPr wrap="square" anchor="t" lIns="45720" rIns="45720">
            <a:spAutoFit/>
          </a:bodyPr>
          <a:lstStyle/>
          <a:p>
            <a:pPr algn="l"/>
            <a:r>
              <a:rPr sz="1600" b="0" i="0">
                <a:solidFill>
                  <a:srgbClr val="222222"/>
                </a:solidFill>
                <a:latin typeface="Calibri"/>
              </a:rPr>
              <a:t>Split, features, tune the penalty by cross-validation on training rows, fit once, choose the threshold from out-of-fold scores, test once.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Settings fixed in advance</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7: Model training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31</a:t>
            </a:r>
          </a:p>
        </p:txBody>
      </p:sp>
      <p:graphicFrame>
        <p:nvGraphicFramePr>
          <p:cNvPr id="7" name="Table 6"/>
          <p:cNvGraphicFramePr>
            <a:graphicFrameLocks noGrp="1"/>
          </p:cNvGraphicFramePr>
          <p:nvPr/>
        </p:nvGraphicFramePr>
        <p:xfrm>
          <a:off x="365760" y="1097280"/>
          <a:ext cx="11430000" cy="5029200"/>
        </p:xfrm>
        <a:graphic>
          <a:graphicData uri="http://schemas.openxmlformats.org/drawingml/2006/table">
            <a:tbl>
              <a:tblPr firstRow="0" bandRow="0">
                <a:tableStyleId>{5C22544A-7EE6-4342-B048-85BDC9FD1C3A}</a:tableStyleId>
              </a:tblPr>
              <a:tblGrid>
                <a:gridCol w="3238500"/>
                <a:gridCol w="5715000"/>
                <a:gridCol w="2476500"/>
              </a:tblGrid>
              <a:tr h="457200">
                <a:tc>
                  <a:txBody>
                    <a:bodyPr wrap="square"/>
                    <a:lstStyle/>
                    <a:p>
                      <a:r>
                        <a:rPr sz="1400" b="1">
                          <a:solidFill>
                            <a:srgbClr val="FFFFFF"/>
                          </a:solidFill>
                          <a:latin typeface="Calibri"/>
                        </a:rPr>
                        <a:t>Setting</a:t>
                      </a:r>
                    </a:p>
                  </a:txBody>
                  <a:tcPr marL="73152" marR="73152" marT="27432" marB="27432" anchor="ctr">
                    <a:solidFill>
                      <a:srgbClr val="1F4E79"/>
                    </a:solidFill>
                  </a:tcPr>
                </a:tc>
                <a:tc>
                  <a:txBody>
                    <a:bodyPr wrap="square"/>
                    <a:lstStyle/>
                    <a:p>
                      <a:r>
                        <a:rPr sz="1400" b="1">
                          <a:solidFill>
                            <a:srgbClr val="FFFFFF"/>
                          </a:solidFill>
                          <a:latin typeface="Calibri"/>
                        </a:rPr>
                        <a:t>Value</a:t>
                      </a:r>
                    </a:p>
                  </a:txBody>
                  <a:tcPr marL="73152" marR="73152" marT="27432" marB="27432" anchor="ctr">
                    <a:solidFill>
                      <a:srgbClr val="1F4E79"/>
                    </a:solidFill>
                  </a:tcPr>
                </a:tc>
                <a:tc>
                  <a:txBody>
                    <a:bodyPr wrap="square"/>
                    <a:lstStyle/>
                    <a:p>
                      <a:r>
                        <a:rPr sz="1400" b="1">
                          <a:solidFill>
                            <a:srgbClr val="FFFFFF"/>
                          </a:solidFill>
                          <a:latin typeface="Calibri"/>
                        </a:rPr>
                        <a:t>Applies to</a:t>
                      </a:r>
                    </a:p>
                  </a:txBody>
                  <a:tcPr marL="73152" marR="73152" marT="27432" marB="27432" anchor="ctr">
                    <a:solidFill>
                      <a:srgbClr val="1F4E79"/>
                    </a:solidFill>
                  </a:tcPr>
                </a:tc>
              </a:tr>
              <a:tr h="457200">
                <a:tc>
                  <a:txBody>
                    <a:bodyPr wrap="square"/>
                    <a:lstStyle/>
                    <a:p>
                      <a:r>
                        <a:rPr sz="1400" b="1">
                          <a:solidFill>
                            <a:srgbClr val="222222"/>
                          </a:solidFill>
                          <a:latin typeface="Calibri"/>
                        </a:rPr>
                        <a:t>Seeds</a:t>
                      </a:r>
                    </a:p>
                  </a:txBody>
                  <a:tcPr marL="73152" marR="73152" marT="27432" marB="27432" anchor="ctr">
                    <a:solidFill>
                      <a:srgbClr val="FFFFFF"/>
                    </a:solidFill>
                  </a:tcPr>
                </a:tc>
                <a:tc>
                  <a:txBody>
                    <a:bodyPr wrap="square"/>
                    <a:lstStyle/>
                    <a:p>
                      <a:r>
                        <a:rPr sz="1400" b="0">
                          <a:solidFill>
                            <a:srgbClr val="222222"/>
                          </a:solidFill>
                          <a:latin typeface="Calibri"/>
                        </a:rPr>
                        <a:t>42, 43, 44, 45, 46</a:t>
                      </a:r>
                    </a:p>
                  </a:txBody>
                  <a:tcPr marL="73152" marR="73152" marT="27432" marB="27432" anchor="ctr">
                    <a:solidFill>
                      <a:srgbClr val="FFFFFF"/>
                    </a:solidFill>
                  </a:tcPr>
                </a:tc>
                <a:tc>
                  <a:txBody>
                    <a:bodyPr wrap="square"/>
                    <a:lstStyle/>
                    <a:p>
                      <a:r>
                        <a:rPr sz="1400" b="0">
                          <a:solidFill>
                            <a:srgbClr val="222222"/>
                          </a:solidFill>
                          <a:latin typeface="Calibri"/>
                        </a:rPr>
                        <a:t>All experiments</a:t>
                      </a:r>
                    </a:p>
                  </a:txBody>
                  <a:tcPr marL="73152" marR="73152" marT="27432" marB="27432" anchor="ctr">
                    <a:solidFill>
                      <a:srgbClr val="FFFFFF"/>
                    </a:solidFill>
                  </a:tcPr>
                </a:tc>
              </a:tr>
              <a:tr h="457200">
                <a:tc>
                  <a:txBody>
                    <a:bodyPr wrap="square"/>
                    <a:lstStyle/>
                    <a:p>
                      <a:r>
                        <a:rPr sz="1400" b="1">
                          <a:solidFill>
                            <a:srgbClr val="222222"/>
                          </a:solidFill>
                          <a:latin typeface="Calibri"/>
                        </a:rPr>
                        <a:t>Held-out share</a:t>
                      </a:r>
                    </a:p>
                  </a:txBody>
                  <a:tcPr marL="73152" marR="73152" marT="27432" marB="27432" anchor="ctr">
                    <a:solidFill>
                      <a:srgbClr val="F2F5F8"/>
                    </a:solidFill>
                  </a:tcPr>
                </a:tc>
                <a:tc>
                  <a:txBody>
                    <a:bodyPr wrap="square"/>
                    <a:lstStyle/>
                    <a:p>
                      <a:r>
                        <a:rPr sz="1400" b="0">
                          <a:solidFill>
                            <a:srgbClr val="222222"/>
                          </a:solidFill>
                          <a:latin typeface="Calibri"/>
                        </a:rPr>
                        <a:t>20% of rows, customers or hours</a:t>
                      </a:r>
                    </a:p>
                  </a:txBody>
                  <a:tcPr marL="73152" marR="73152" marT="27432" marB="27432" anchor="ctr">
                    <a:solidFill>
                      <a:srgbClr val="F2F5F8"/>
                    </a:solidFill>
                  </a:tcPr>
                </a:tc>
                <a:tc>
                  <a:txBody>
                    <a:bodyPr wrap="square"/>
                    <a:lstStyle/>
                    <a:p>
                      <a:r>
                        <a:rPr sz="1400" b="0">
                          <a:solidFill>
                            <a:srgbClr val="222222"/>
                          </a:solidFill>
                          <a:latin typeface="Calibri"/>
                        </a:rPr>
                        <a:t>All pillars</a:t>
                      </a:r>
                    </a:p>
                  </a:txBody>
                  <a:tcPr marL="73152" marR="73152" marT="27432" marB="27432" anchor="ctr">
                    <a:solidFill>
                      <a:srgbClr val="F2F5F8"/>
                    </a:solidFill>
                  </a:tcPr>
                </a:tc>
              </a:tr>
              <a:tr h="457200">
                <a:tc>
                  <a:txBody>
                    <a:bodyPr wrap="square"/>
                    <a:lstStyle/>
                    <a:p>
                      <a:r>
                        <a:rPr sz="1400" b="1">
                          <a:solidFill>
                            <a:srgbClr val="222222"/>
                          </a:solidFill>
                          <a:latin typeface="Calibri"/>
                        </a:rPr>
                        <a:t>Held-out months / forecast months</a:t>
                      </a:r>
                    </a:p>
                  </a:txBody>
                  <a:tcPr marL="73152" marR="73152" marT="27432" marB="27432" anchor="ctr">
                    <a:solidFill>
                      <a:srgbClr val="FFFFFF"/>
                    </a:solidFill>
                  </a:tcPr>
                </a:tc>
                <a:tc>
                  <a:txBody>
                    <a:bodyPr wrap="square"/>
                    <a:lstStyle/>
                    <a:p>
                      <a:r>
                        <a:rPr sz="1400" b="0">
                          <a:solidFill>
                            <a:srgbClr val="222222"/>
                          </a:solidFill>
                          <a:latin typeface="Calibri"/>
                        </a:rPr>
                        <a:t>3, 6, 9, 12 / 10, 11, 12</a:t>
                      </a:r>
                    </a:p>
                  </a:txBody>
                  <a:tcPr marL="73152" marR="73152" marT="27432" marB="27432" anchor="ctr">
                    <a:solidFill>
                      <a:srgbClr val="FFFFFF"/>
                    </a:solidFill>
                  </a:tcPr>
                </a:tc>
                <a:tc>
                  <a:txBody>
                    <a:bodyPr wrap="square"/>
                    <a:lstStyle/>
                    <a:p>
                      <a:r>
                        <a:rPr sz="1400" b="0">
                          <a:solidFill>
                            <a:srgbClr val="222222"/>
                          </a:solidFill>
                          <a:latin typeface="Calibri"/>
                        </a:rPr>
                        <a:t>Demand</a:t>
                      </a:r>
                    </a:p>
                  </a:txBody>
                  <a:tcPr marL="73152" marR="73152" marT="27432" marB="27432" anchor="ctr">
                    <a:solidFill>
                      <a:srgbClr val="FFFFFF"/>
                    </a:solidFill>
                  </a:tcPr>
                </a:tc>
              </a:tr>
              <a:tr h="457200">
                <a:tc>
                  <a:txBody>
                    <a:bodyPr wrap="square"/>
                    <a:lstStyle/>
                    <a:p>
                      <a:r>
                        <a:rPr sz="1400" b="1">
                          <a:solidFill>
                            <a:srgbClr val="222222"/>
                          </a:solidFill>
                          <a:latin typeface="Calibri"/>
                        </a:rPr>
                        <a:t>Heatwave threshold</a:t>
                      </a:r>
                    </a:p>
                  </a:txBody>
                  <a:tcPr marL="73152" marR="73152" marT="27432" marB="27432" anchor="ctr">
                    <a:solidFill>
                      <a:srgbClr val="F2F5F8"/>
                    </a:solidFill>
                  </a:tcPr>
                </a:tc>
                <a:tc>
                  <a:txBody>
                    <a:bodyPr wrap="square"/>
                    <a:lstStyle/>
                    <a:p>
                      <a:r>
                        <a:rPr sz="1400" b="0">
                          <a:solidFill>
                            <a:srgbClr val="222222"/>
                          </a:solidFill>
                          <a:latin typeface="Calibri"/>
                        </a:rPr>
                        <a:t>40 °C</a:t>
                      </a:r>
                    </a:p>
                  </a:txBody>
                  <a:tcPr marL="73152" marR="73152" marT="27432" marB="27432" anchor="ctr">
                    <a:solidFill>
                      <a:srgbClr val="F2F5F8"/>
                    </a:solidFill>
                  </a:tcPr>
                </a:tc>
                <a:tc>
                  <a:txBody>
                    <a:bodyPr wrap="square"/>
                    <a:lstStyle/>
                    <a:p>
                      <a:r>
                        <a:rPr sz="1400" b="0">
                          <a:solidFill>
                            <a:srgbClr val="222222"/>
                          </a:solidFill>
                          <a:latin typeface="Calibri"/>
                        </a:rPr>
                        <a:t>Demand</a:t>
                      </a:r>
                    </a:p>
                  </a:txBody>
                  <a:tcPr marL="73152" marR="73152" marT="27432" marB="27432" anchor="ctr">
                    <a:solidFill>
                      <a:srgbClr val="F2F5F8"/>
                    </a:solidFill>
                  </a:tcPr>
                </a:tc>
              </a:tr>
              <a:tr h="457200">
                <a:tc>
                  <a:txBody>
                    <a:bodyPr wrap="square"/>
                    <a:lstStyle/>
                    <a:p>
                      <a:r>
                        <a:rPr sz="1400" b="1">
                          <a:solidFill>
                            <a:srgbClr val="222222"/>
                          </a:solidFill>
                          <a:latin typeface="Calibri"/>
                        </a:rPr>
                        <a:t>Churn cutoffs</a:t>
                      </a:r>
                    </a:p>
                  </a:txBody>
                  <a:tcPr marL="73152" marR="73152" marT="27432" marB="27432" anchor="ctr">
                    <a:solidFill>
                      <a:srgbClr val="FFFFFF"/>
                    </a:solidFill>
                  </a:tcPr>
                </a:tc>
                <a:tc>
                  <a:txBody>
                    <a:bodyPr wrap="square"/>
                    <a:lstStyle/>
                    <a:p>
                      <a:r>
                        <a:rPr sz="1400" b="0">
                          <a:solidFill>
                            <a:srgbClr val="222222"/>
                          </a:solidFill>
                          <a:latin typeface="Calibri"/>
                        </a:rPr>
                        <a:t>1 Jun, 1 Sep, 1 Dec 2010; 1 Mar, 1 Jun 2011; test 9 Sep 2011</a:t>
                      </a:r>
                    </a:p>
                  </a:txBody>
                  <a:tcPr marL="73152" marR="73152" marT="27432" marB="27432" anchor="ctr">
                    <a:solidFill>
                      <a:srgbClr val="FFFFFF"/>
                    </a:solidFill>
                  </a:tcPr>
                </a:tc>
                <a:tc>
                  <a:txBody>
                    <a:bodyPr wrap="square"/>
                    <a:lstStyle/>
                    <a:p>
                      <a:r>
                        <a:rPr sz="1400" b="0">
                          <a:solidFill>
                            <a:srgbClr val="222222"/>
                          </a:solidFill>
                          <a:latin typeface="Calibri"/>
                        </a:rPr>
                        <a:t>Churn</a:t>
                      </a:r>
                    </a:p>
                  </a:txBody>
                  <a:tcPr marL="73152" marR="73152" marT="27432" marB="27432" anchor="ctr">
                    <a:solidFill>
                      <a:srgbClr val="FFFFFF"/>
                    </a:solidFill>
                  </a:tcPr>
                </a:tc>
              </a:tr>
              <a:tr h="457200">
                <a:tc>
                  <a:txBody>
                    <a:bodyPr wrap="square"/>
                    <a:lstStyle/>
                    <a:p>
                      <a:r>
                        <a:rPr sz="1400" b="1">
                          <a:solidFill>
                            <a:srgbClr val="222222"/>
                          </a:solidFill>
                          <a:latin typeface="Calibri"/>
                        </a:rPr>
                        <a:t>Ridge penalty candidates</a:t>
                      </a:r>
                    </a:p>
                  </a:txBody>
                  <a:tcPr marL="73152" marR="73152" marT="27432" marB="27432" anchor="ctr">
                    <a:solidFill>
                      <a:srgbClr val="F2F5F8"/>
                    </a:solidFill>
                  </a:tcPr>
                </a:tc>
                <a:tc>
                  <a:txBody>
                    <a:bodyPr wrap="square"/>
                    <a:lstStyle/>
                    <a:p>
                      <a:r>
                        <a:rPr sz="1400" b="0">
                          <a:solidFill>
                            <a:srgbClr val="222222"/>
                          </a:solidFill>
                          <a:latin typeface="Calibri"/>
                        </a:rPr>
                        <a:t>0.001 to 1,000 (alpha); 0.01 to 100 (C); 5-fold cross-validation</a:t>
                      </a:r>
                    </a:p>
                  </a:txBody>
                  <a:tcPr marL="73152" marR="73152" marT="27432" marB="27432" anchor="ctr">
                    <a:solidFill>
                      <a:srgbClr val="F2F5F8"/>
                    </a:solidFill>
                  </a:tcPr>
                </a:tc>
                <a:tc>
                  <a:txBody>
                    <a:bodyPr wrap="square"/>
                    <a:lstStyle/>
                    <a:p>
                      <a:r>
                        <a:rPr sz="1400" b="0">
                          <a:solidFill>
                            <a:srgbClr val="222222"/>
                          </a:solidFill>
                          <a:latin typeface="Calibri"/>
                        </a:rPr>
                        <a:t>Demand; failure and churn</a:t>
                      </a:r>
                    </a:p>
                  </a:txBody>
                  <a:tcPr marL="73152" marR="73152" marT="27432" marB="27432" anchor="ctr">
                    <a:solidFill>
                      <a:srgbClr val="F2F5F8"/>
                    </a:solidFill>
                  </a:tcPr>
                </a:tc>
              </a:tr>
              <a:tr h="457200">
                <a:tc>
                  <a:txBody>
                    <a:bodyPr wrap="square"/>
                    <a:lstStyle/>
                    <a:p>
                      <a:r>
                        <a:rPr sz="1400" b="1">
                          <a:solidFill>
                            <a:srgbClr val="222222"/>
                          </a:solidFill>
                          <a:latin typeface="Calibri"/>
                        </a:rPr>
                        <a:t>XGBoost, demand</a:t>
                      </a:r>
                    </a:p>
                  </a:txBody>
                  <a:tcPr marL="73152" marR="73152" marT="27432" marB="27432" anchor="ctr">
                    <a:solidFill>
                      <a:srgbClr val="FFFFFF"/>
                    </a:solidFill>
                  </a:tcPr>
                </a:tc>
                <a:tc>
                  <a:txBody>
                    <a:bodyPr wrap="square"/>
                    <a:lstStyle/>
                    <a:p>
                      <a:r>
                        <a:rPr sz="1400" b="0">
                          <a:solidFill>
                            <a:srgbClr val="222222"/>
                          </a:solidFill>
                          <a:latin typeface="Calibri"/>
                        </a:rPr>
                        <a:t>400 trees, depth 4, learning rate 0.05, 80% rows and columns</a:t>
                      </a:r>
                    </a:p>
                  </a:txBody>
                  <a:tcPr marL="73152" marR="73152" marT="27432" marB="27432" anchor="ctr">
                    <a:solidFill>
                      <a:srgbClr val="FFFFFF"/>
                    </a:solidFill>
                  </a:tcPr>
                </a:tc>
                <a:tc>
                  <a:txBody>
                    <a:bodyPr wrap="square"/>
                    <a:lstStyle/>
                    <a:p>
                      <a:r>
                        <a:rPr sz="1400" b="0">
                          <a:solidFill>
                            <a:srgbClr val="222222"/>
                          </a:solidFill>
                          <a:latin typeface="Calibri"/>
                        </a:rPr>
                        <a:t>Pillar 1</a:t>
                      </a:r>
                    </a:p>
                  </a:txBody>
                  <a:tcPr marL="73152" marR="73152" marT="27432" marB="27432" anchor="ctr">
                    <a:solidFill>
                      <a:srgbClr val="FFFFFF"/>
                    </a:solidFill>
                  </a:tcPr>
                </a:tc>
              </a:tr>
              <a:tr h="457200">
                <a:tc>
                  <a:txBody>
                    <a:bodyPr wrap="square"/>
                    <a:lstStyle/>
                    <a:p>
                      <a:r>
                        <a:rPr sz="1400" b="1">
                          <a:solidFill>
                            <a:srgbClr val="222222"/>
                          </a:solidFill>
                          <a:latin typeface="Calibri"/>
                        </a:rPr>
                        <a:t>XGBoost, failure and churn</a:t>
                      </a:r>
                    </a:p>
                  </a:txBody>
                  <a:tcPr marL="73152" marR="73152" marT="27432" marB="27432" anchor="ctr">
                    <a:solidFill>
                      <a:srgbClr val="F2F5F8"/>
                    </a:solidFill>
                  </a:tcPr>
                </a:tc>
                <a:tc>
                  <a:txBody>
                    <a:bodyPr wrap="square"/>
                    <a:lstStyle/>
                    <a:p>
                      <a:r>
                        <a:rPr sz="1400" b="0">
                          <a:solidFill>
                            <a:srgbClr val="222222"/>
                          </a:solidFill>
                          <a:latin typeface="Calibri"/>
                        </a:rPr>
                        <a:t>300 trees, depth 3, learning rate 0.05, 80% rows and columns</a:t>
                      </a:r>
                    </a:p>
                  </a:txBody>
                  <a:tcPr marL="73152" marR="73152" marT="27432" marB="27432" anchor="ctr">
                    <a:solidFill>
                      <a:srgbClr val="F2F5F8"/>
                    </a:solidFill>
                  </a:tcPr>
                </a:tc>
                <a:tc>
                  <a:txBody>
                    <a:bodyPr wrap="square"/>
                    <a:lstStyle/>
                    <a:p>
                      <a:r>
                        <a:rPr sz="1400" b="0">
                          <a:solidFill>
                            <a:srgbClr val="222222"/>
                          </a:solidFill>
                          <a:latin typeface="Calibri"/>
                        </a:rPr>
                        <a:t>Pillars 2 and 3</a:t>
                      </a:r>
                    </a:p>
                  </a:txBody>
                  <a:tcPr marL="73152" marR="73152" marT="27432" marB="27432" anchor="ctr">
                    <a:solidFill>
                      <a:srgbClr val="F2F5F8"/>
                    </a:solidFill>
                  </a:tcPr>
                </a:tc>
              </a:tr>
              <a:tr h="457200">
                <a:tc>
                  <a:txBody>
                    <a:bodyPr wrap="square"/>
                    <a:lstStyle/>
                    <a:p>
                      <a:r>
                        <a:rPr sz="1400" b="1">
                          <a:solidFill>
                            <a:srgbClr val="222222"/>
                          </a:solidFill>
                          <a:latin typeface="Calibri"/>
                        </a:rPr>
                        <a:t>Random Forest</a:t>
                      </a:r>
                    </a:p>
                  </a:txBody>
                  <a:tcPr marL="73152" marR="73152" marT="27432" marB="27432" anchor="ctr">
                    <a:solidFill>
                      <a:srgbClr val="FFFFFF"/>
                    </a:solidFill>
                  </a:tcPr>
                </a:tc>
                <a:tc>
                  <a:txBody>
                    <a:bodyPr wrap="square"/>
                    <a:lstStyle/>
                    <a:p>
                      <a:r>
                        <a:rPr sz="1400" b="0">
                          <a:solidFill>
                            <a:srgbClr val="222222"/>
                          </a:solidFill>
                          <a:latin typeface="Calibri"/>
                        </a:rPr>
                        <a:t>300 trees, at least 5 rows per leaf</a:t>
                      </a:r>
                    </a:p>
                  </a:txBody>
                  <a:tcPr marL="73152" marR="73152" marT="27432" marB="27432" anchor="ctr">
                    <a:solidFill>
                      <a:srgbClr val="FFFFFF"/>
                    </a:solidFill>
                  </a:tcPr>
                </a:tc>
                <a:tc>
                  <a:txBody>
                    <a:bodyPr wrap="square"/>
                    <a:lstStyle/>
                    <a:p>
                      <a:r>
                        <a:rPr sz="1400" b="0">
                          <a:solidFill>
                            <a:srgbClr val="222222"/>
                          </a:solidFill>
                          <a:latin typeface="Calibri"/>
                        </a:rPr>
                        <a:t>All pillars</a:t>
                      </a:r>
                    </a:p>
                  </a:txBody>
                  <a:tcPr marL="73152" marR="73152" marT="27432" marB="27432" anchor="ctr">
                    <a:solidFill>
                      <a:srgbClr val="FFFFFF"/>
                    </a:solidFill>
                  </a:tcPr>
                </a:tc>
              </a:tr>
              <a:tr h="457200">
                <a:tc>
                  <a:txBody>
                    <a:bodyPr wrap="square"/>
                    <a:lstStyle/>
                    <a:p>
                      <a:r>
                        <a:rPr sz="1400" b="1">
                          <a:solidFill>
                            <a:srgbClr val="222222"/>
                          </a:solidFill>
                          <a:latin typeface="Calibri"/>
                        </a:rPr>
                        <a:t>Linear and logistic regression</a:t>
                      </a:r>
                    </a:p>
                  </a:txBody>
                  <a:tcPr marL="73152" marR="73152" marT="27432" marB="27432" anchor="ctr">
                    <a:solidFill>
                      <a:srgbClr val="F2F5F8"/>
                    </a:solidFill>
                  </a:tcPr>
                </a:tc>
                <a:tc>
                  <a:txBody>
                    <a:bodyPr wrap="square"/>
                    <a:lstStyle/>
                    <a:p>
                      <a:r>
                        <a:rPr sz="1400" b="0">
                          <a:solidFill>
                            <a:srgbClr val="222222"/>
                          </a:solidFill>
                          <a:latin typeface="Calibri"/>
                        </a:rPr>
                        <a:t>No penalty</a:t>
                      </a:r>
                    </a:p>
                  </a:txBody>
                  <a:tcPr marL="73152" marR="73152" marT="27432" marB="27432" anchor="ctr">
                    <a:solidFill>
                      <a:srgbClr val="F2F5F8"/>
                    </a:solidFill>
                  </a:tcPr>
                </a:tc>
                <a:tc>
                  <a:txBody>
                    <a:bodyPr wrap="square"/>
                    <a:lstStyle/>
                    <a:p>
                      <a:r>
                        <a:rPr sz="1400" b="0">
                          <a:solidFill>
                            <a:srgbClr val="222222"/>
                          </a:solidFill>
                          <a:latin typeface="Calibri"/>
                        </a:rPr>
                        <a:t>Statistical baseline</a:t>
                      </a:r>
                    </a:p>
                  </a:txBody>
                  <a:tcPr marL="73152" marR="73152" marT="27432" marB="27432" anchor="ctr">
                    <a:solidFill>
                      <a:srgbClr val="F2F5F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Trees need more data than Ridge, and for churn never pass it</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7: Model training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32</a:t>
            </a:r>
          </a:p>
        </p:txBody>
      </p:sp>
      <p:pic>
        <p:nvPicPr>
          <p:cNvPr id="7" name="Picture 6" descr="s7_02_learning_curves.png"/>
          <p:cNvPicPr>
            <a:picLocks noChangeAspect="1"/>
          </p:cNvPicPr>
          <p:nvPr/>
        </p:nvPicPr>
        <p:blipFill>
          <a:blip r:embed="rId3"/>
          <a:stretch>
            <a:fillRect/>
          </a:stretch>
        </p:blipFill>
        <p:spPr>
          <a:xfrm>
            <a:off x="320040" y="1005840"/>
            <a:ext cx="11548872" cy="3547236"/>
          </a:xfrm>
          <a:prstGeom prst="rect">
            <a:avLst/>
          </a:prstGeom>
        </p:spPr>
      </p:pic>
      <p:sp>
        <p:nvSpPr>
          <p:cNvPr id="8" name="Oval 7"/>
          <p:cNvSpPr/>
          <p:nvPr/>
        </p:nvSpPr>
        <p:spPr>
          <a:xfrm>
            <a:off x="548640" y="4827396"/>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717668"/>
            <a:ext cx="10972800" cy="822960"/>
          </a:xfrm>
          <a:prstGeom prst="rect">
            <a:avLst/>
          </a:prstGeom>
          <a:noFill/>
        </p:spPr>
        <p:txBody>
          <a:bodyPr wrap="square" anchor="t" lIns="45720" rIns="45720">
            <a:spAutoFit/>
          </a:bodyPr>
          <a:lstStyle/>
          <a:p>
            <a:pPr algn="l"/>
            <a:r>
              <a:rPr sz="1600" b="0" i="0">
                <a:solidFill>
                  <a:srgbClr val="222222"/>
                </a:solidFill>
                <a:latin typeface="Calibri"/>
              </a:rPr>
              <a:t>Ridge learns its straight line early.</a:t>
            </a:r>
          </a:p>
        </p:txBody>
      </p:sp>
      <p:sp>
        <p:nvSpPr>
          <p:cNvPr id="10" name="Oval 9"/>
          <p:cNvSpPr/>
          <p:nvPr/>
        </p:nvSpPr>
        <p:spPr>
          <a:xfrm>
            <a:off x="548640" y="5293740"/>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84012"/>
            <a:ext cx="10972800" cy="822960"/>
          </a:xfrm>
          <a:prstGeom prst="rect">
            <a:avLst/>
          </a:prstGeom>
          <a:noFill/>
        </p:spPr>
        <p:txBody>
          <a:bodyPr wrap="square" anchor="t" lIns="45720" rIns="45720">
            <a:spAutoFit/>
          </a:bodyPr>
          <a:lstStyle/>
          <a:p>
            <a:pPr algn="l"/>
            <a:r>
              <a:rPr sz="1600" b="0" i="0">
                <a:solidFill>
                  <a:srgbClr val="222222"/>
                </a:solidFill>
                <a:latin typeface="Calibri"/>
              </a:rPr>
              <a:t>XGBoost climbs for failure and keeps improving slowly.</a:t>
            </a:r>
          </a:p>
        </p:txBody>
      </p:sp>
      <p:sp>
        <p:nvSpPr>
          <p:cNvPr id="12" name="Oval 11"/>
          <p:cNvSpPr/>
          <p:nvPr/>
        </p:nvSpPr>
        <p:spPr>
          <a:xfrm>
            <a:off x="548640" y="5760084"/>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650356"/>
            <a:ext cx="10972800" cy="822960"/>
          </a:xfrm>
          <a:prstGeom prst="rect">
            <a:avLst/>
          </a:prstGeom>
          <a:noFill/>
        </p:spPr>
        <p:txBody>
          <a:bodyPr wrap="square" anchor="t" lIns="45720" rIns="45720">
            <a:spAutoFit/>
          </a:bodyPr>
          <a:lstStyle/>
          <a:p>
            <a:pPr algn="l"/>
            <a:r>
              <a:rPr sz="1600" b="0" i="0">
                <a:solidFill>
                  <a:srgbClr val="222222"/>
                </a:solidFill>
                <a:latin typeface="Calibri"/>
              </a:rPr>
              <a:t>For churn both end at about 0.74 ROC-AUC.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The results do not hinge on a lucky setting</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7: Model training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33</a:t>
            </a:r>
          </a:p>
        </p:txBody>
      </p:sp>
      <p:pic>
        <p:nvPicPr>
          <p:cNvPr id="7" name="Picture 6" descr="s7_03_sensitivity.png"/>
          <p:cNvPicPr>
            <a:picLocks noChangeAspect="1"/>
          </p:cNvPicPr>
          <p:nvPr/>
        </p:nvPicPr>
        <p:blipFill>
          <a:blip r:embed="rId3"/>
          <a:stretch>
            <a:fillRect/>
          </a:stretch>
        </p:blipFill>
        <p:spPr>
          <a:xfrm>
            <a:off x="320039" y="1005839"/>
            <a:ext cx="11548872" cy="3171489"/>
          </a:xfrm>
          <a:prstGeom prst="rect">
            <a:avLst/>
          </a:prstGeom>
        </p:spPr>
      </p:pic>
      <p:sp>
        <p:nvSpPr>
          <p:cNvPr id="8" name="Oval 7"/>
          <p:cNvSpPr/>
          <p:nvPr/>
        </p:nvSpPr>
        <p:spPr>
          <a:xfrm>
            <a:off x="548640" y="4451649"/>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341921"/>
            <a:ext cx="10972800" cy="822960"/>
          </a:xfrm>
          <a:prstGeom prst="rect">
            <a:avLst/>
          </a:prstGeom>
          <a:noFill/>
        </p:spPr>
        <p:txBody>
          <a:bodyPr wrap="square" anchor="t" lIns="45720" rIns="45720">
            <a:spAutoFit/>
          </a:bodyPr>
          <a:lstStyle/>
          <a:p>
            <a:pPr algn="l"/>
            <a:r>
              <a:rPr sz="1800" b="0" i="0">
                <a:solidFill>
                  <a:srgbClr val="222222"/>
                </a:solidFill>
                <a:latin typeface="Calibri"/>
              </a:rPr>
              <a:t>Ridge penalty, number of trees, tree depth and churn penalty all move the score only a little.</a:t>
            </a:r>
          </a:p>
        </p:txBody>
      </p:sp>
      <p:sp>
        <p:nvSpPr>
          <p:cNvPr id="10" name="Oval 9"/>
          <p:cNvSpPr/>
          <p:nvPr/>
        </p:nvSpPr>
        <p:spPr>
          <a:xfrm>
            <a:off x="548640" y="4982001"/>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872273"/>
            <a:ext cx="10972800" cy="822960"/>
          </a:xfrm>
          <a:prstGeom prst="rect">
            <a:avLst/>
          </a:prstGeom>
          <a:noFill/>
        </p:spPr>
        <p:txBody>
          <a:bodyPr wrap="square" anchor="t" lIns="45720" rIns="45720">
            <a:spAutoFit/>
          </a:bodyPr>
          <a:lstStyle/>
          <a:p>
            <a:pPr algn="l"/>
            <a:r>
              <a:rPr sz="1800" b="0" i="0">
                <a:solidFill>
                  <a:srgbClr val="222222"/>
                </a:solidFill>
                <a:latin typeface="Calibri"/>
              </a:rPr>
              <a:t>In the heatwave no number of trees fixes XGBoost.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Training costs seconds, not hours</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7: Model training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34</a:t>
            </a:r>
          </a:p>
        </p:txBody>
      </p:sp>
      <p:pic>
        <p:nvPicPr>
          <p:cNvPr id="7" name="Picture 6" descr="s7_04_fit_times.png"/>
          <p:cNvPicPr>
            <a:picLocks noChangeAspect="1"/>
          </p:cNvPicPr>
          <p:nvPr/>
        </p:nvPicPr>
        <p:blipFill>
          <a:blip r:embed="rId3"/>
          <a:stretch>
            <a:fillRect/>
          </a:stretch>
        </p:blipFill>
        <p:spPr>
          <a:xfrm>
            <a:off x="320040" y="1341448"/>
            <a:ext cx="11548872" cy="476946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Demand: error in kW on unseen data</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35</a:t>
            </a:r>
          </a:p>
        </p:txBody>
      </p:sp>
      <p:graphicFrame>
        <p:nvGraphicFramePr>
          <p:cNvPr id="7" name="Table 6"/>
          <p:cNvGraphicFramePr>
            <a:graphicFrameLocks noGrp="1"/>
          </p:cNvGraphicFramePr>
          <p:nvPr/>
        </p:nvGraphicFramePr>
        <p:xfrm>
          <a:off x="365760" y="1097280"/>
          <a:ext cx="11430000" cy="3657600"/>
        </p:xfrm>
        <a:graphic>
          <a:graphicData uri="http://schemas.openxmlformats.org/drawingml/2006/table">
            <a:tbl>
              <a:tblPr firstRow="0" bandRow="0">
                <a:tableStyleId>{5C22544A-7EE6-4342-B048-85BDC9FD1C3A}</a:tableStyleId>
              </a:tblPr>
              <a:tblGrid>
                <a:gridCol w="2160000"/>
                <a:gridCol w="1260000"/>
                <a:gridCol w="1260000"/>
                <a:gridCol w="1260000"/>
                <a:gridCol w="1080000"/>
                <a:gridCol w="990000"/>
                <a:gridCol w="1260000"/>
                <a:gridCol w="1170000"/>
                <a:gridCol w="990000"/>
              </a:tblGrid>
              <a:tr h="731520">
                <a:tc>
                  <a:txBody>
                    <a:bodyPr wrap="square"/>
                    <a:lstStyle/>
                    <a:p>
                      <a:r>
                        <a:rPr sz="1300" b="1">
                          <a:solidFill>
                            <a:srgbClr val="FFFFFF"/>
                          </a:solidFill>
                          <a:latin typeface="Calibri"/>
                        </a:rPr>
                        <a:t>Test</a:t>
                      </a:r>
                    </a:p>
                  </a:txBody>
                  <a:tcPr marL="73152" marR="73152" marT="27432" marB="27432" anchor="ctr">
                    <a:solidFill>
                      <a:srgbClr val="1F4E79"/>
                    </a:solidFill>
                  </a:tcPr>
                </a:tc>
                <a:tc>
                  <a:txBody>
                    <a:bodyPr wrap="square"/>
                    <a:lstStyle/>
                    <a:p>
                      <a:pPr algn="ctr"/>
                      <a:r>
                        <a:rPr sz="1300" b="1">
                          <a:solidFill>
                            <a:srgbClr val="FFFFFF"/>
                          </a:solidFill>
                          <a:latin typeface="Calibri"/>
                        </a:rPr>
                        <a:t>Rule: training mean</a:t>
                      </a:r>
                    </a:p>
                  </a:txBody>
                  <a:tcPr marL="73152" marR="73152" marT="27432" marB="27432" anchor="ctr">
                    <a:solidFill>
                      <a:srgbClr val="1F4E79"/>
                    </a:solidFill>
                  </a:tcPr>
                </a:tc>
                <a:tc>
                  <a:txBody>
                    <a:bodyPr wrap="square"/>
                    <a:lstStyle/>
                    <a:p>
                      <a:pPr algn="ctr"/>
                      <a:r>
                        <a:rPr sz="1300" b="1">
                          <a:solidFill>
                            <a:srgbClr val="FFFFFF"/>
                          </a:solidFill>
                          <a:latin typeface="Calibri"/>
                        </a:rPr>
                        <a:t>Rule: average by hour</a:t>
                      </a:r>
                    </a:p>
                  </a:txBody>
                  <a:tcPr marL="73152" marR="73152" marT="27432" marB="27432" anchor="ctr">
                    <a:solidFill>
                      <a:srgbClr val="1F4E79"/>
                    </a:solidFill>
                  </a:tcPr>
                </a:tc>
                <a:tc>
                  <a:txBody>
                    <a:bodyPr wrap="square"/>
                    <a:lstStyle/>
                    <a:p>
                      <a:pPr algn="ctr"/>
                      <a:r>
                        <a:rPr sz="1300" b="1">
                          <a:solidFill>
                            <a:srgbClr val="FFFFFF"/>
                          </a:solidFill>
                          <a:latin typeface="Calibri"/>
                        </a:rPr>
                        <a:t>Linear regression</a:t>
                      </a:r>
                    </a:p>
                  </a:txBody>
                  <a:tcPr marL="73152" marR="73152" marT="27432" marB="27432" anchor="ctr">
                    <a:solidFill>
                      <a:srgbClr val="1F4E79"/>
                    </a:solidFill>
                  </a:tcPr>
                </a:tc>
                <a:tc>
                  <a:txBody>
                    <a:bodyPr wrap="square"/>
                    <a:lstStyle/>
                    <a:p>
                      <a:pPr algn="ctr"/>
                      <a:r>
                        <a:rPr sz="1300" b="1">
                          <a:solidFill>
                            <a:srgbClr val="FFFFFF"/>
                          </a:solidFill>
                          <a:latin typeface="Calibri"/>
                        </a:rPr>
                        <a:t>Ridge, basic</a:t>
                      </a:r>
                    </a:p>
                  </a:txBody>
                  <a:tcPr marL="73152" marR="73152" marT="27432" marB="27432" anchor="ctr">
                    <a:solidFill>
                      <a:srgbClr val="1F4E79"/>
                    </a:solidFill>
                  </a:tcPr>
                </a:tc>
                <a:tc>
                  <a:txBody>
                    <a:bodyPr wrap="square"/>
                    <a:lstStyle/>
                    <a:p>
                      <a:pPr algn="ctr"/>
                      <a:r>
                        <a:rPr sz="1300" b="1">
                          <a:solidFill>
                            <a:srgbClr val="FFFFFF"/>
                          </a:solidFill>
                          <a:latin typeface="Calibri"/>
                        </a:rPr>
                        <a:t>Ridge</a:t>
                      </a:r>
                    </a:p>
                  </a:txBody>
                  <a:tcPr marL="73152" marR="73152" marT="27432" marB="27432" anchor="ctr">
                    <a:solidFill>
                      <a:srgbClr val="1F4E79"/>
                    </a:solidFill>
                  </a:tcPr>
                </a:tc>
                <a:tc>
                  <a:txBody>
                    <a:bodyPr wrap="square"/>
                    <a:lstStyle/>
                    <a:p>
                      <a:pPr algn="ctr"/>
                      <a:r>
                        <a:rPr sz="1300" b="1">
                          <a:solidFill>
                            <a:srgbClr val="FFFFFF"/>
                          </a:solidFill>
                          <a:latin typeface="Calibri"/>
                        </a:rPr>
                        <a:t>Random Forest</a:t>
                      </a:r>
                    </a:p>
                  </a:txBody>
                  <a:tcPr marL="73152" marR="73152" marT="27432" marB="27432" anchor="ctr">
                    <a:solidFill>
                      <a:srgbClr val="1F4E79"/>
                    </a:solidFill>
                  </a:tcPr>
                </a:tc>
                <a:tc>
                  <a:txBody>
                    <a:bodyPr wrap="square"/>
                    <a:lstStyle/>
                    <a:p>
                      <a:pPr algn="ctr"/>
                      <a:r>
                        <a:rPr sz="1300" b="1">
                          <a:solidFill>
                            <a:srgbClr val="FFFFFF"/>
                          </a:solidFill>
                          <a:latin typeface="Calibri"/>
                        </a:rPr>
                        <a:t>XGBoost, basic</a:t>
                      </a:r>
                    </a:p>
                  </a:txBody>
                  <a:tcPr marL="73152" marR="73152" marT="27432" marB="27432" anchor="ctr">
                    <a:solidFill>
                      <a:srgbClr val="1F4E79"/>
                    </a:solidFill>
                  </a:tcPr>
                </a:tc>
                <a:tc>
                  <a:txBody>
                    <a:bodyPr wrap="square"/>
                    <a:lstStyle/>
                    <a:p>
                      <a:pPr algn="ctr"/>
                      <a:r>
                        <a:rPr sz="1300" b="1">
                          <a:solidFill>
                            <a:srgbClr val="FFFFFF"/>
                          </a:solidFill>
                          <a:latin typeface="Calibri"/>
                        </a:rPr>
                        <a:t>XGBoost</a:t>
                      </a:r>
                    </a:p>
                  </a:txBody>
                  <a:tcPr marL="73152" marR="73152" marT="27432" marB="27432" anchor="ctr">
                    <a:solidFill>
                      <a:srgbClr val="1F4E79"/>
                    </a:solidFill>
                  </a:tcPr>
                </a:tc>
              </a:tr>
              <a:tr h="731520">
                <a:tc>
                  <a:txBody>
                    <a:bodyPr wrap="square"/>
                    <a:lstStyle/>
                    <a:p>
                      <a:r>
                        <a:rPr sz="1300" b="1">
                          <a:solidFill>
                            <a:srgbClr val="222222"/>
                          </a:solidFill>
                          <a:latin typeface="Calibri"/>
                        </a:rPr>
                        <a:t>Random 20% of hours</a:t>
                      </a:r>
                    </a:p>
                  </a:txBody>
                  <a:tcPr marL="73152" marR="73152" marT="27432" marB="27432" anchor="ctr">
                    <a:solidFill>
                      <a:srgbClr val="FFFFFF"/>
                    </a:solidFill>
                  </a:tcPr>
                </a:tc>
                <a:tc>
                  <a:txBody>
                    <a:bodyPr wrap="square"/>
                    <a:lstStyle/>
                    <a:p>
                      <a:pPr algn="ctr"/>
                      <a:r>
                        <a:rPr sz="1300" b="0">
                          <a:solidFill>
                            <a:srgbClr val="222222"/>
                          </a:solidFill>
                          <a:latin typeface="Calibri"/>
                        </a:rPr>
                        <a:t>0.942</a:t>
                      </a:r>
                    </a:p>
                  </a:txBody>
                  <a:tcPr marL="73152" marR="73152" marT="27432" marB="27432" anchor="ctr">
                    <a:solidFill>
                      <a:srgbClr val="FFFFFF"/>
                    </a:solidFill>
                  </a:tcPr>
                </a:tc>
                <a:tc>
                  <a:txBody>
                    <a:bodyPr wrap="square"/>
                    <a:lstStyle/>
                    <a:p>
                      <a:pPr algn="ctr"/>
                      <a:r>
                        <a:rPr sz="1300" b="0">
                          <a:solidFill>
                            <a:srgbClr val="222222"/>
                          </a:solidFill>
                          <a:latin typeface="Calibri"/>
                        </a:rPr>
                        <a:t>0.934</a:t>
                      </a:r>
                    </a:p>
                  </a:txBody>
                  <a:tcPr marL="73152" marR="73152" marT="27432" marB="27432" anchor="ctr">
                    <a:solidFill>
                      <a:srgbClr val="FFFFFF"/>
                    </a:solidFill>
                  </a:tcPr>
                </a:tc>
                <a:tc>
                  <a:txBody>
                    <a:bodyPr wrap="square"/>
                    <a:lstStyle/>
                    <a:p>
                      <a:pPr algn="ctr"/>
                      <a:r>
                        <a:rPr sz="1300" b="0">
                          <a:solidFill>
                            <a:srgbClr val="222222"/>
                          </a:solidFill>
                          <a:latin typeface="Calibri"/>
                        </a:rPr>
                        <a:t>0.096</a:t>
                      </a:r>
                    </a:p>
                  </a:txBody>
                  <a:tcPr marL="73152" marR="73152" marT="27432" marB="27432" anchor="ctr">
                    <a:solidFill>
                      <a:srgbClr val="FFFFFF"/>
                    </a:solidFill>
                  </a:tcPr>
                </a:tc>
                <a:tc>
                  <a:txBody>
                    <a:bodyPr wrap="square"/>
                    <a:lstStyle/>
                    <a:p>
                      <a:pPr algn="ctr"/>
                      <a:r>
                        <a:rPr sz="1300" b="0">
                          <a:solidFill>
                            <a:srgbClr val="222222"/>
                          </a:solidFill>
                          <a:latin typeface="Calibri"/>
                        </a:rPr>
                        <a:t>0.182</a:t>
                      </a:r>
                    </a:p>
                  </a:txBody>
                  <a:tcPr marL="73152" marR="73152" marT="27432" marB="27432" anchor="ctr">
                    <a:solidFill>
                      <a:srgbClr val="FFFFFF"/>
                    </a:solidFill>
                  </a:tcPr>
                </a:tc>
                <a:tc>
                  <a:txBody>
                    <a:bodyPr wrap="square"/>
                    <a:lstStyle/>
                    <a:p>
                      <a:pPr algn="ctr"/>
                      <a:r>
                        <a:rPr sz="1300" b="0">
                          <a:solidFill>
                            <a:srgbClr val="222222"/>
                          </a:solidFill>
                          <a:latin typeface="Calibri"/>
                        </a:rPr>
                        <a:t>0.096</a:t>
                      </a:r>
                    </a:p>
                  </a:txBody>
                  <a:tcPr marL="73152" marR="73152" marT="27432" marB="27432" anchor="ctr">
                    <a:solidFill>
                      <a:srgbClr val="FFFFFF"/>
                    </a:solidFill>
                  </a:tcPr>
                </a:tc>
                <a:tc>
                  <a:txBody>
                    <a:bodyPr wrap="square"/>
                    <a:lstStyle/>
                    <a:p>
                      <a:pPr algn="ctr"/>
                      <a:r>
                        <a:rPr sz="1300" b="0">
                          <a:solidFill>
                            <a:srgbClr val="222222"/>
                          </a:solidFill>
                          <a:latin typeface="Calibri"/>
                        </a:rPr>
                        <a:t>0.066</a:t>
                      </a:r>
                    </a:p>
                  </a:txBody>
                  <a:tcPr marL="73152" marR="73152" marT="27432" marB="27432" anchor="ctr">
                    <a:solidFill>
                      <a:srgbClr val="FFFFFF"/>
                    </a:solidFill>
                  </a:tcPr>
                </a:tc>
                <a:tc>
                  <a:txBody>
                    <a:bodyPr wrap="square"/>
                    <a:lstStyle/>
                    <a:p>
                      <a:pPr algn="ctr"/>
                      <a:r>
                        <a:rPr sz="1300" b="0">
                          <a:solidFill>
                            <a:srgbClr val="222222"/>
                          </a:solidFill>
                          <a:latin typeface="Calibri"/>
                        </a:rPr>
                        <a:t>0.065</a:t>
                      </a:r>
                    </a:p>
                  </a:txBody>
                  <a:tcPr marL="73152" marR="73152" marT="27432" marB="27432" anchor="ctr">
                    <a:solidFill>
                      <a:srgbClr val="FFFFFF"/>
                    </a:solidFill>
                  </a:tcPr>
                </a:tc>
                <a:tc>
                  <a:txBody>
                    <a:bodyPr wrap="square"/>
                    <a:lstStyle/>
                    <a:p>
                      <a:pPr algn="ctr"/>
                      <a:r>
                        <a:rPr sz="1300" b="0">
                          <a:solidFill>
                            <a:srgbClr val="222222"/>
                          </a:solidFill>
                          <a:latin typeface="Calibri"/>
                        </a:rPr>
                        <a:t>0.065</a:t>
                      </a:r>
                    </a:p>
                  </a:txBody>
                  <a:tcPr marL="73152" marR="73152" marT="27432" marB="27432" anchor="ctr">
                    <a:solidFill>
                      <a:srgbClr val="FFFFFF"/>
                    </a:solidFill>
                  </a:tcPr>
                </a:tc>
              </a:tr>
              <a:tr h="731520">
                <a:tc>
                  <a:txBody>
                    <a:bodyPr wrap="square"/>
                    <a:lstStyle/>
                    <a:p>
                      <a:r>
                        <a:rPr sz="1300" b="1">
                          <a:solidFill>
                            <a:srgbClr val="222222"/>
                          </a:solidFill>
                          <a:latin typeface="Calibri"/>
                        </a:rPr>
                        <a:t>Unseen months</a:t>
                      </a:r>
                    </a:p>
                  </a:txBody>
                  <a:tcPr marL="73152" marR="73152" marT="27432" marB="27432" anchor="ctr">
                    <a:solidFill>
                      <a:srgbClr val="F2F5F8"/>
                    </a:solidFill>
                  </a:tcPr>
                </a:tc>
                <a:tc>
                  <a:txBody>
                    <a:bodyPr wrap="square"/>
                    <a:lstStyle/>
                    <a:p>
                      <a:pPr algn="ctr"/>
                      <a:r>
                        <a:rPr sz="1300" b="0">
                          <a:solidFill>
                            <a:srgbClr val="222222"/>
                          </a:solidFill>
                          <a:latin typeface="Calibri"/>
                        </a:rPr>
                        <a:t>1.017</a:t>
                      </a:r>
                    </a:p>
                  </a:txBody>
                  <a:tcPr marL="73152" marR="73152" marT="27432" marB="27432" anchor="ctr">
                    <a:solidFill>
                      <a:srgbClr val="F2F5F8"/>
                    </a:solidFill>
                  </a:tcPr>
                </a:tc>
                <a:tc>
                  <a:txBody>
                    <a:bodyPr wrap="square"/>
                    <a:lstStyle/>
                    <a:p>
                      <a:pPr algn="ctr"/>
                      <a:r>
                        <a:rPr sz="1300" b="0">
                          <a:solidFill>
                            <a:srgbClr val="222222"/>
                          </a:solidFill>
                          <a:latin typeface="Calibri"/>
                        </a:rPr>
                        <a:t>0.995</a:t>
                      </a:r>
                    </a:p>
                  </a:txBody>
                  <a:tcPr marL="73152" marR="73152" marT="27432" marB="27432" anchor="ctr">
                    <a:solidFill>
                      <a:srgbClr val="F2F5F8"/>
                    </a:solidFill>
                  </a:tcPr>
                </a:tc>
                <a:tc>
                  <a:txBody>
                    <a:bodyPr wrap="square"/>
                    <a:lstStyle/>
                    <a:p>
                      <a:pPr algn="ctr"/>
                      <a:r>
                        <a:rPr sz="1300" b="0">
                          <a:solidFill>
                            <a:srgbClr val="222222"/>
                          </a:solidFill>
                          <a:latin typeface="Calibri"/>
                        </a:rPr>
                        <a:t>0.118</a:t>
                      </a:r>
                    </a:p>
                  </a:txBody>
                  <a:tcPr marL="73152" marR="73152" marT="27432" marB="27432" anchor="ctr">
                    <a:solidFill>
                      <a:srgbClr val="F2F5F8"/>
                    </a:solidFill>
                  </a:tcPr>
                </a:tc>
                <a:tc>
                  <a:txBody>
                    <a:bodyPr wrap="square"/>
                    <a:lstStyle/>
                    <a:p>
                      <a:pPr algn="ctr"/>
                      <a:r>
                        <a:rPr sz="1300" b="0">
                          <a:solidFill>
                            <a:srgbClr val="222222"/>
                          </a:solidFill>
                          <a:latin typeface="Calibri"/>
                        </a:rPr>
                        <a:t>0.224</a:t>
                      </a:r>
                    </a:p>
                  </a:txBody>
                  <a:tcPr marL="73152" marR="73152" marT="27432" marB="27432" anchor="ctr">
                    <a:solidFill>
                      <a:srgbClr val="F2F5F8"/>
                    </a:solidFill>
                  </a:tcPr>
                </a:tc>
                <a:tc>
                  <a:txBody>
                    <a:bodyPr wrap="square"/>
                    <a:lstStyle/>
                    <a:p>
                      <a:pPr algn="ctr"/>
                      <a:r>
                        <a:rPr sz="1300" b="0">
                          <a:solidFill>
                            <a:srgbClr val="222222"/>
                          </a:solidFill>
                          <a:latin typeface="Calibri"/>
                        </a:rPr>
                        <a:t>0.118</a:t>
                      </a:r>
                    </a:p>
                  </a:txBody>
                  <a:tcPr marL="73152" marR="73152" marT="27432" marB="27432" anchor="ctr">
                    <a:solidFill>
                      <a:srgbClr val="F2F5F8"/>
                    </a:solidFill>
                  </a:tcPr>
                </a:tc>
                <a:tc>
                  <a:txBody>
                    <a:bodyPr wrap="square"/>
                    <a:lstStyle/>
                    <a:p>
                      <a:pPr algn="ctr"/>
                      <a:r>
                        <a:rPr sz="1300" b="0">
                          <a:solidFill>
                            <a:srgbClr val="222222"/>
                          </a:solidFill>
                          <a:latin typeface="Calibri"/>
                        </a:rPr>
                        <a:t>0.077</a:t>
                      </a:r>
                    </a:p>
                  </a:txBody>
                  <a:tcPr marL="73152" marR="73152" marT="27432" marB="27432" anchor="ctr">
                    <a:solidFill>
                      <a:srgbClr val="F2F5F8"/>
                    </a:solidFill>
                  </a:tcPr>
                </a:tc>
                <a:tc>
                  <a:txBody>
                    <a:bodyPr wrap="square"/>
                    <a:lstStyle/>
                    <a:p>
                      <a:pPr algn="ctr"/>
                      <a:r>
                        <a:rPr sz="1300" b="0">
                          <a:solidFill>
                            <a:srgbClr val="222222"/>
                          </a:solidFill>
                          <a:latin typeface="Calibri"/>
                        </a:rPr>
                        <a:t>0.070</a:t>
                      </a:r>
                    </a:p>
                  </a:txBody>
                  <a:tcPr marL="73152" marR="73152" marT="27432" marB="27432" anchor="ctr">
                    <a:solidFill>
                      <a:srgbClr val="F2F5F8"/>
                    </a:solidFill>
                  </a:tcPr>
                </a:tc>
                <a:tc>
                  <a:txBody>
                    <a:bodyPr wrap="square"/>
                    <a:lstStyle/>
                    <a:p>
                      <a:pPr algn="ctr"/>
                      <a:r>
                        <a:rPr sz="1300" b="0">
                          <a:solidFill>
                            <a:srgbClr val="222222"/>
                          </a:solidFill>
                          <a:latin typeface="Calibri"/>
                        </a:rPr>
                        <a:t>0.072</a:t>
                      </a:r>
                    </a:p>
                  </a:txBody>
                  <a:tcPr marL="73152" marR="73152" marT="27432" marB="27432" anchor="ctr">
                    <a:solidFill>
                      <a:srgbClr val="F2F5F8"/>
                    </a:solidFill>
                  </a:tcPr>
                </a:tc>
              </a:tr>
              <a:tr h="731520">
                <a:tc>
                  <a:txBody>
                    <a:bodyPr wrap="square"/>
                    <a:lstStyle/>
                    <a:p>
                      <a:r>
                        <a:rPr sz="1300" b="1">
                          <a:solidFill>
                            <a:srgbClr val="222222"/>
                          </a:solidFill>
                          <a:latin typeface="Calibri"/>
                        </a:rPr>
                        <a:t>Forecast, months 10-12</a:t>
                      </a:r>
                    </a:p>
                  </a:txBody>
                  <a:tcPr marL="73152" marR="73152" marT="27432" marB="27432" anchor="ctr">
                    <a:solidFill>
                      <a:srgbClr val="FFFFFF"/>
                    </a:solidFill>
                  </a:tcPr>
                </a:tc>
                <a:tc>
                  <a:txBody>
                    <a:bodyPr wrap="square"/>
                    <a:lstStyle/>
                    <a:p>
                      <a:pPr algn="ctr"/>
                      <a:r>
                        <a:rPr sz="1300" b="0">
                          <a:solidFill>
                            <a:srgbClr val="222222"/>
                          </a:solidFill>
                          <a:latin typeface="Calibri"/>
                        </a:rPr>
                        <a:t>1.012</a:t>
                      </a:r>
                    </a:p>
                  </a:txBody>
                  <a:tcPr marL="73152" marR="73152" marT="27432" marB="27432" anchor="ctr">
                    <a:solidFill>
                      <a:srgbClr val="FFFFFF"/>
                    </a:solidFill>
                  </a:tcPr>
                </a:tc>
                <a:tc>
                  <a:txBody>
                    <a:bodyPr wrap="square"/>
                    <a:lstStyle/>
                    <a:p>
                      <a:pPr algn="ctr"/>
                      <a:r>
                        <a:rPr sz="1300" b="0">
                          <a:solidFill>
                            <a:srgbClr val="222222"/>
                          </a:solidFill>
                          <a:latin typeface="Calibri"/>
                        </a:rPr>
                        <a:t>1.024</a:t>
                      </a:r>
                    </a:p>
                  </a:txBody>
                  <a:tcPr marL="73152" marR="73152" marT="27432" marB="27432" anchor="ctr">
                    <a:solidFill>
                      <a:srgbClr val="FFFFFF"/>
                    </a:solidFill>
                  </a:tcPr>
                </a:tc>
                <a:tc>
                  <a:txBody>
                    <a:bodyPr wrap="square"/>
                    <a:lstStyle/>
                    <a:p>
                      <a:pPr algn="ctr"/>
                      <a:r>
                        <a:rPr sz="1300" b="0">
                          <a:solidFill>
                            <a:srgbClr val="222222"/>
                          </a:solidFill>
                          <a:latin typeface="Calibri"/>
                        </a:rPr>
                        <a:t>0.101</a:t>
                      </a:r>
                    </a:p>
                  </a:txBody>
                  <a:tcPr marL="73152" marR="73152" marT="27432" marB="27432" anchor="ctr">
                    <a:solidFill>
                      <a:srgbClr val="FFFFFF"/>
                    </a:solidFill>
                  </a:tcPr>
                </a:tc>
                <a:tc>
                  <a:txBody>
                    <a:bodyPr wrap="square"/>
                    <a:lstStyle/>
                    <a:p>
                      <a:pPr algn="ctr"/>
                      <a:r>
                        <a:rPr sz="1300" b="0">
                          <a:solidFill>
                            <a:srgbClr val="222222"/>
                          </a:solidFill>
                          <a:latin typeface="Calibri"/>
                        </a:rPr>
                        <a:t>0.242</a:t>
                      </a:r>
                    </a:p>
                  </a:txBody>
                  <a:tcPr marL="73152" marR="73152" marT="27432" marB="27432" anchor="ctr">
                    <a:solidFill>
                      <a:srgbClr val="FFFFFF"/>
                    </a:solidFill>
                  </a:tcPr>
                </a:tc>
                <a:tc>
                  <a:txBody>
                    <a:bodyPr wrap="square"/>
                    <a:lstStyle/>
                    <a:p>
                      <a:pPr algn="ctr"/>
                      <a:r>
                        <a:rPr sz="1300" b="0">
                          <a:solidFill>
                            <a:srgbClr val="222222"/>
                          </a:solidFill>
                          <a:latin typeface="Calibri"/>
                        </a:rPr>
                        <a:t>0.100</a:t>
                      </a:r>
                    </a:p>
                  </a:txBody>
                  <a:tcPr marL="73152" marR="73152" marT="27432" marB="27432" anchor="ctr">
                    <a:solidFill>
                      <a:srgbClr val="FFFFFF"/>
                    </a:solidFill>
                  </a:tcPr>
                </a:tc>
                <a:tc>
                  <a:txBody>
                    <a:bodyPr wrap="square"/>
                    <a:lstStyle/>
                    <a:p>
                      <a:pPr algn="ctr"/>
                      <a:r>
                        <a:rPr sz="1300" b="0">
                          <a:solidFill>
                            <a:srgbClr val="222222"/>
                          </a:solidFill>
                          <a:latin typeface="Calibri"/>
                        </a:rPr>
                        <a:t>0.083</a:t>
                      </a:r>
                    </a:p>
                  </a:txBody>
                  <a:tcPr marL="73152" marR="73152" marT="27432" marB="27432" anchor="ctr">
                    <a:solidFill>
                      <a:srgbClr val="FFFFFF"/>
                    </a:solidFill>
                  </a:tcPr>
                </a:tc>
                <a:tc>
                  <a:txBody>
                    <a:bodyPr wrap="square"/>
                    <a:lstStyle/>
                    <a:p>
                      <a:pPr algn="ctr"/>
                      <a:r>
                        <a:rPr sz="1300" b="0">
                          <a:solidFill>
                            <a:srgbClr val="222222"/>
                          </a:solidFill>
                          <a:latin typeface="Calibri"/>
                        </a:rPr>
                        <a:t>0.085</a:t>
                      </a:r>
                    </a:p>
                  </a:txBody>
                  <a:tcPr marL="73152" marR="73152" marT="27432" marB="27432" anchor="ctr">
                    <a:solidFill>
                      <a:srgbClr val="FFFFFF"/>
                    </a:solidFill>
                  </a:tcPr>
                </a:tc>
                <a:tc>
                  <a:txBody>
                    <a:bodyPr wrap="square"/>
                    <a:lstStyle/>
                    <a:p>
                      <a:pPr algn="ctr"/>
                      <a:r>
                        <a:rPr sz="1300" b="0">
                          <a:solidFill>
                            <a:srgbClr val="222222"/>
                          </a:solidFill>
                          <a:latin typeface="Calibri"/>
                        </a:rPr>
                        <a:t>0.076</a:t>
                      </a:r>
                    </a:p>
                  </a:txBody>
                  <a:tcPr marL="73152" marR="73152" marT="27432" marB="27432" anchor="ctr">
                    <a:solidFill>
                      <a:srgbClr val="FFFFFF"/>
                    </a:solidFill>
                  </a:tcPr>
                </a:tc>
              </a:tr>
              <a:tr h="731520">
                <a:tc>
                  <a:txBody>
                    <a:bodyPr wrap="square"/>
                    <a:lstStyle/>
                    <a:p>
                      <a:r>
                        <a:rPr sz="1300" b="1">
                          <a:solidFill>
                            <a:srgbClr val="222222"/>
                          </a:solidFill>
                          <a:latin typeface="Calibri"/>
                        </a:rPr>
                        <a:t>Heatwave, 40 °C and above</a:t>
                      </a:r>
                    </a:p>
                  </a:txBody>
                  <a:tcPr marL="73152" marR="73152" marT="27432" marB="27432" anchor="ctr">
                    <a:solidFill>
                      <a:srgbClr val="F2F5F8"/>
                    </a:solidFill>
                  </a:tcPr>
                </a:tc>
                <a:tc>
                  <a:txBody>
                    <a:bodyPr wrap="square"/>
                    <a:lstStyle/>
                    <a:p>
                      <a:pPr algn="ctr"/>
                      <a:r>
                        <a:rPr sz="1300" b="0">
                          <a:solidFill>
                            <a:srgbClr val="222222"/>
                          </a:solidFill>
                          <a:latin typeface="Calibri"/>
                        </a:rPr>
                        <a:t>1.648</a:t>
                      </a:r>
                    </a:p>
                  </a:txBody>
                  <a:tcPr marL="73152" marR="73152" marT="27432" marB="27432" anchor="ctr">
                    <a:solidFill>
                      <a:srgbClr val="F2F5F8"/>
                    </a:solidFill>
                  </a:tcPr>
                </a:tc>
                <a:tc>
                  <a:txBody>
                    <a:bodyPr wrap="square"/>
                    <a:lstStyle/>
                    <a:p>
                      <a:pPr algn="ctr"/>
                      <a:r>
                        <a:rPr sz="1300" b="0">
                          <a:solidFill>
                            <a:srgbClr val="222222"/>
                          </a:solidFill>
                          <a:latin typeface="Calibri"/>
                        </a:rPr>
                        <a:t>1.574</a:t>
                      </a:r>
                    </a:p>
                  </a:txBody>
                  <a:tcPr marL="73152" marR="73152" marT="27432" marB="27432" anchor="ctr">
                    <a:solidFill>
                      <a:srgbClr val="F2F5F8"/>
                    </a:solidFill>
                  </a:tcPr>
                </a:tc>
                <a:tc>
                  <a:txBody>
                    <a:bodyPr wrap="square"/>
                    <a:lstStyle/>
                    <a:p>
                      <a:pPr algn="ctr"/>
                      <a:r>
                        <a:rPr sz="1300" b="0">
                          <a:solidFill>
                            <a:srgbClr val="222222"/>
                          </a:solidFill>
                          <a:latin typeface="Calibri"/>
                        </a:rPr>
                        <a:t>0.077</a:t>
                      </a:r>
                    </a:p>
                  </a:txBody>
                  <a:tcPr marL="73152" marR="73152" marT="27432" marB="27432" anchor="ctr">
                    <a:solidFill>
                      <a:srgbClr val="F2F5F8"/>
                    </a:solidFill>
                  </a:tcPr>
                </a:tc>
                <a:tc>
                  <a:txBody>
                    <a:bodyPr wrap="square"/>
                    <a:lstStyle/>
                    <a:p>
                      <a:pPr algn="ctr"/>
                      <a:r>
                        <a:rPr sz="1300" b="0">
                          <a:solidFill>
                            <a:srgbClr val="222222"/>
                          </a:solidFill>
                          <a:latin typeface="Calibri"/>
                        </a:rPr>
                        <a:t>0.468</a:t>
                      </a:r>
                    </a:p>
                  </a:txBody>
                  <a:tcPr marL="73152" marR="73152" marT="27432" marB="27432" anchor="ctr">
                    <a:solidFill>
                      <a:srgbClr val="F2F5F8"/>
                    </a:solidFill>
                  </a:tcPr>
                </a:tc>
                <a:tc>
                  <a:txBody>
                    <a:bodyPr wrap="square"/>
                    <a:lstStyle/>
                    <a:p>
                      <a:pPr algn="ctr"/>
                      <a:r>
                        <a:rPr sz="1300" b="0">
                          <a:solidFill>
                            <a:srgbClr val="222222"/>
                          </a:solidFill>
                          <a:latin typeface="Calibri"/>
                        </a:rPr>
                        <a:t>0.077</a:t>
                      </a:r>
                    </a:p>
                  </a:txBody>
                  <a:tcPr marL="73152" marR="73152" marT="27432" marB="27432" anchor="ctr">
                    <a:solidFill>
                      <a:srgbClr val="F2F5F8"/>
                    </a:solidFill>
                  </a:tcPr>
                </a:tc>
                <a:tc>
                  <a:txBody>
                    <a:bodyPr wrap="square"/>
                    <a:lstStyle/>
                    <a:p>
                      <a:pPr algn="ctr"/>
                      <a:r>
                        <a:rPr sz="1300" b="0">
                          <a:solidFill>
                            <a:srgbClr val="222222"/>
                          </a:solidFill>
                          <a:latin typeface="Calibri"/>
                        </a:rPr>
                        <a:t>0.365</a:t>
                      </a:r>
                    </a:p>
                  </a:txBody>
                  <a:tcPr marL="73152" marR="73152" marT="27432" marB="27432" anchor="ctr">
                    <a:solidFill>
                      <a:srgbClr val="F2F5F8"/>
                    </a:solidFill>
                  </a:tcPr>
                </a:tc>
                <a:tc>
                  <a:txBody>
                    <a:bodyPr wrap="square"/>
                    <a:lstStyle/>
                    <a:p>
                      <a:pPr algn="ctr"/>
                      <a:r>
                        <a:rPr sz="1300" b="0">
                          <a:solidFill>
                            <a:srgbClr val="222222"/>
                          </a:solidFill>
                          <a:latin typeface="Calibri"/>
                        </a:rPr>
                        <a:t>0.332</a:t>
                      </a:r>
                    </a:p>
                  </a:txBody>
                  <a:tcPr marL="73152" marR="73152" marT="27432" marB="27432" anchor="ctr">
                    <a:solidFill>
                      <a:srgbClr val="F2F5F8"/>
                    </a:solidFill>
                  </a:tcPr>
                </a:tc>
                <a:tc>
                  <a:txBody>
                    <a:bodyPr wrap="square"/>
                    <a:lstStyle/>
                    <a:p>
                      <a:pPr algn="ctr"/>
                      <a:r>
                        <a:rPr sz="1300" b="0">
                          <a:solidFill>
                            <a:srgbClr val="222222"/>
                          </a:solidFill>
                          <a:latin typeface="Calibri"/>
                        </a:rPr>
                        <a:t>0.336</a:t>
                      </a:r>
                    </a:p>
                  </a:txBody>
                  <a:tcPr marL="73152" marR="73152" marT="27432" marB="27432" anchor="ctr">
                    <a:solidFill>
                      <a:srgbClr val="F2F5F8"/>
                    </a:solidFill>
                  </a:tcPr>
                </a:tc>
              </a:tr>
            </a:tbl>
          </a:graphicData>
        </a:graphic>
      </p:graphicFrame>
      <p:sp>
        <p:nvSpPr>
          <p:cNvPr id="8" name="TextBox 7"/>
          <p:cNvSpPr txBox="1"/>
          <p:nvPr/>
        </p:nvSpPr>
        <p:spPr>
          <a:xfrm>
            <a:off x="411480" y="6108192"/>
            <a:ext cx="11338560" cy="365760"/>
          </a:xfrm>
          <a:prstGeom prst="rect">
            <a:avLst/>
          </a:prstGeom>
          <a:noFill/>
        </p:spPr>
        <p:txBody>
          <a:bodyPr wrap="square" anchor="t" lIns="45720" rIns="45720">
            <a:spAutoFit/>
          </a:bodyPr>
          <a:lstStyle/>
          <a:p>
            <a:pPr algn="l"/>
            <a:r>
              <a:rPr sz="1250" b="0" i="1">
                <a:solidFill>
                  <a:srgbClr val="333333"/>
                </a:solidFill>
                <a:latin typeface="Calibri"/>
              </a:rPr>
              <a:t>Heatwave: Ridge 0.077 kW, XGBoost 0.336 kW, Random Forest 0.365 kW. Trees cannot predict above the temperatures they saw.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In the heatwave XGBoost under-predicts by up to 0.8 kW</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36</a:t>
            </a:r>
          </a:p>
        </p:txBody>
      </p:sp>
      <p:pic>
        <p:nvPicPr>
          <p:cNvPr id="7" name="Picture 6" descr="s8_01_p1_residuals.png"/>
          <p:cNvPicPr>
            <a:picLocks noChangeAspect="1"/>
          </p:cNvPicPr>
          <p:nvPr/>
        </p:nvPicPr>
        <p:blipFill>
          <a:blip r:embed="rId3"/>
          <a:stretch>
            <a:fillRect/>
          </a:stretch>
        </p:blipFill>
        <p:spPr>
          <a:xfrm>
            <a:off x="1414184" y="1005839"/>
            <a:ext cx="9360582" cy="544068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Error by hour and by month</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37</a:t>
            </a:r>
          </a:p>
        </p:txBody>
      </p:sp>
      <p:pic>
        <p:nvPicPr>
          <p:cNvPr id="7" name="Picture 6" descr="s8_02_p1_error_by_time.png"/>
          <p:cNvPicPr>
            <a:picLocks noChangeAspect="1"/>
          </p:cNvPicPr>
          <p:nvPr/>
        </p:nvPicPr>
        <p:blipFill>
          <a:blip r:embed="rId3"/>
          <a:stretch>
            <a:fillRect/>
          </a:stretch>
        </p:blipFill>
        <p:spPr>
          <a:xfrm>
            <a:off x="320039" y="1005840"/>
            <a:ext cx="11548872" cy="3703053"/>
          </a:xfrm>
          <a:prstGeom prst="rect">
            <a:avLst/>
          </a:prstGeom>
        </p:spPr>
      </p:pic>
      <p:sp>
        <p:nvSpPr>
          <p:cNvPr id="8" name="Oval 7"/>
          <p:cNvSpPr/>
          <p:nvPr/>
        </p:nvSpPr>
        <p:spPr>
          <a:xfrm>
            <a:off x="548640" y="4983213"/>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873485"/>
            <a:ext cx="10972800" cy="822960"/>
          </a:xfrm>
          <a:prstGeom prst="rect">
            <a:avLst/>
          </a:prstGeom>
          <a:noFill/>
        </p:spPr>
        <p:txBody>
          <a:bodyPr wrap="square" anchor="t" lIns="45720" rIns="45720">
            <a:spAutoFit/>
          </a:bodyPr>
          <a:lstStyle/>
          <a:p>
            <a:pPr algn="l"/>
            <a:r>
              <a:rPr sz="1600" b="0" i="0">
                <a:solidFill>
                  <a:srgbClr val="222222"/>
                </a:solidFill>
                <a:latin typeface="Calibri"/>
              </a:rPr>
              <a:t>Ridge struggles in the afternoon and in March.</a:t>
            </a:r>
          </a:p>
        </p:txBody>
      </p:sp>
      <p:sp>
        <p:nvSpPr>
          <p:cNvPr id="10" name="Oval 9"/>
          <p:cNvSpPr/>
          <p:nvPr/>
        </p:nvSpPr>
        <p:spPr>
          <a:xfrm>
            <a:off x="548640" y="5449557"/>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39829"/>
            <a:ext cx="10972800" cy="822960"/>
          </a:xfrm>
          <a:prstGeom prst="rect">
            <a:avLst/>
          </a:prstGeom>
          <a:noFill/>
        </p:spPr>
        <p:txBody>
          <a:bodyPr wrap="square" anchor="t" lIns="45720" rIns="45720">
            <a:spAutoFit/>
          </a:bodyPr>
          <a:lstStyle/>
          <a:p>
            <a:pPr algn="l"/>
            <a:r>
              <a:rPr sz="1600" b="0" i="0">
                <a:solidFill>
                  <a:srgbClr val="222222"/>
                </a:solidFill>
                <a:latin typeface="Calibri"/>
              </a:rPr>
              <a:t>XGBoost stays between 0.06 and 0.085 kW in every held-out month.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Failure: trees find 94% of failures in the top 10% of machines</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38</a:t>
            </a:r>
          </a:p>
        </p:txBody>
      </p:sp>
      <p:graphicFrame>
        <p:nvGraphicFramePr>
          <p:cNvPr id="7" name="Table 6"/>
          <p:cNvGraphicFramePr>
            <a:graphicFrameLocks noGrp="1"/>
          </p:cNvGraphicFramePr>
          <p:nvPr/>
        </p:nvGraphicFramePr>
        <p:xfrm>
          <a:off x="365760" y="1097280"/>
          <a:ext cx="11429997" cy="4535424"/>
        </p:xfrm>
        <a:graphic>
          <a:graphicData uri="http://schemas.openxmlformats.org/drawingml/2006/table">
            <a:tbl>
              <a:tblPr firstRow="0" bandRow="0">
                <a:tableStyleId>{5C22544A-7EE6-4342-B048-85BDC9FD1C3A}</a:tableStyleId>
              </a:tblPr>
              <a:tblGrid>
                <a:gridCol w="2424545"/>
                <a:gridCol w="1472045"/>
                <a:gridCol w="1472045"/>
                <a:gridCol w="1472045"/>
                <a:gridCol w="1472045"/>
                <a:gridCol w="1472045"/>
                <a:gridCol w="1645227"/>
              </a:tblGrid>
              <a:tr h="566928">
                <a:tc>
                  <a:txBody>
                    <a:bodyPr wrap="square"/>
                    <a:lstStyle/>
                    <a:p>
                      <a:r>
                        <a:rPr sz="1400" b="1">
                          <a:solidFill>
                            <a:srgbClr val="FFFFFF"/>
                          </a:solidFill>
                          <a:latin typeface="Calibri"/>
                        </a:rPr>
                        <a:t>Model</a:t>
                      </a:r>
                    </a:p>
                  </a:txBody>
                  <a:tcPr marL="73152" marR="73152" marT="27432" marB="27432" anchor="ctr">
                    <a:solidFill>
                      <a:srgbClr val="1F4E79"/>
                    </a:solidFill>
                  </a:tcPr>
                </a:tc>
                <a:tc>
                  <a:txBody>
                    <a:bodyPr wrap="square"/>
                    <a:lstStyle/>
                    <a:p>
                      <a:pPr algn="ctr"/>
                      <a:r>
                        <a:rPr sz="1400" b="1">
                          <a:solidFill>
                            <a:srgbClr val="FFFFFF"/>
                          </a:solidFill>
                          <a:latin typeface="Calibri"/>
                        </a:rPr>
                        <a:t>ROC-AUC</a:t>
                      </a:r>
                    </a:p>
                  </a:txBody>
                  <a:tcPr marL="73152" marR="73152" marT="27432" marB="27432" anchor="ctr">
                    <a:solidFill>
                      <a:srgbClr val="1F4E79"/>
                    </a:solidFill>
                  </a:tcPr>
                </a:tc>
                <a:tc>
                  <a:txBody>
                    <a:bodyPr wrap="square"/>
                    <a:lstStyle/>
                    <a:p>
                      <a:pPr algn="ctr"/>
                      <a:r>
                        <a:rPr sz="1400" b="1">
                          <a:solidFill>
                            <a:srgbClr val="FFFFFF"/>
                          </a:solidFill>
                          <a:latin typeface="Calibri"/>
                        </a:rPr>
                        <a:t>PR-AUC</a:t>
                      </a:r>
                    </a:p>
                  </a:txBody>
                  <a:tcPr marL="73152" marR="73152" marT="27432" marB="27432" anchor="ctr">
                    <a:solidFill>
                      <a:srgbClr val="1F4E79"/>
                    </a:solidFill>
                  </a:tcPr>
                </a:tc>
                <a:tc>
                  <a:txBody>
                    <a:bodyPr wrap="square"/>
                    <a:lstStyle/>
                    <a:p>
                      <a:pPr algn="ctr"/>
                      <a:r>
                        <a:rPr sz="1400" b="1">
                          <a:solidFill>
                            <a:srgbClr val="FFFFFF"/>
                          </a:solidFill>
                          <a:latin typeface="Calibri"/>
                        </a:rPr>
                        <a:t>F1</a:t>
                      </a:r>
                    </a:p>
                  </a:txBody>
                  <a:tcPr marL="73152" marR="73152" marT="27432" marB="27432" anchor="ctr">
                    <a:solidFill>
                      <a:srgbClr val="1F4E79"/>
                    </a:solidFill>
                  </a:tcPr>
                </a:tc>
                <a:tc>
                  <a:txBody>
                    <a:bodyPr wrap="square"/>
                    <a:lstStyle/>
                    <a:p>
                      <a:pPr algn="ctr"/>
                      <a:r>
                        <a:rPr sz="1400" b="1">
                          <a:solidFill>
                            <a:srgbClr val="FFFFFF"/>
                          </a:solidFill>
                          <a:latin typeface="Calibri"/>
                        </a:rPr>
                        <a:t>Precision</a:t>
                      </a:r>
                    </a:p>
                  </a:txBody>
                  <a:tcPr marL="73152" marR="73152" marT="27432" marB="27432" anchor="ctr">
                    <a:solidFill>
                      <a:srgbClr val="1F4E79"/>
                    </a:solidFill>
                  </a:tcPr>
                </a:tc>
                <a:tc>
                  <a:txBody>
                    <a:bodyPr wrap="square"/>
                    <a:lstStyle/>
                    <a:p>
                      <a:pPr algn="ctr"/>
                      <a:r>
                        <a:rPr sz="1400" b="1">
                          <a:solidFill>
                            <a:srgbClr val="FFFFFF"/>
                          </a:solidFill>
                          <a:latin typeface="Calibri"/>
                        </a:rPr>
                        <a:t>Recall</a:t>
                      </a:r>
                    </a:p>
                  </a:txBody>
                  <a:tcPr marL="73152" marR="73152" marT="27432" marB="27432" anchor="ctr">
                    <a:solidFill>
                      <a:srgbClr val="1F4E79"/>
                    </a:solidFill>
                  </a:tcPr>
                </a:tc>
                <a:tc>
                  <a:txBody>
                    <a:bodyPr wrap="square"/>
                    <a:lstStyle/>
                    <a:p>
                      <a:pPr algn="ctr"/>
                      <a:r>
                        <a:rPr sz="1400" b="1">
                          <a:solidFill>
                            <a:srgbClr val="FFFFFF"/>
                          </a:solidFill>
                          <a:latin typeface="Calibri"/>
                        </a:rPr>
                        <a:t>Failures in top 10%</a:t>
                      </a:r>
                    </a:p>
                  </a:txBody>
                  <a:tcPr marL="73152" marR="73152" marT="27432" marB="27432" anchor="ctr">
                    <a:solidFill>
                      <a:srgbClr val="1F4E79"/>
                    </a:solidFill>
                  </a:tcPr>
                </a:tc>
              </a:tr>
              <a:tr h="566928">
                <a:tc>
                  <a:txBody>
                    <a:bodyPr wrap="square"/>
                    <a:lstStyle/>
                    <a:p>
                      <a:r>
                        <a:rPr sz="1400" b="1">
                          <a:solidFill>
                            <a:srgbClr val="222222"/>
                          </a:solidFill>
                          <a:latin typeface="Calibri"/>
                        </a:rPr>
                        <a:t>Rule: most worn tool first</a:t>
                      </a:r>
                    </a:p>
                  </a:txBody>
                  <a:tcPr marL="73152" marR="73152" marT="27432" marB="27432" anchor="ctr">
                    <a:solidFill>
                      <a:srgbClr val="FFFFFF"/>
                    </a:solidFill>
                  </a:tcPr>
                </a:tc>
                <a:tc>
                  <a:txBody>
                    <a:bodyPr wrap="square"/>
                    <a:lstStyle/>
                    <a:p>
                      <a:pPr algn="ctr"/>
                      <a:r>
                        <a:rPr sz="1400" b="0">
                          <a:solidFill>
                            <a:srgbClr val="222222"/>
                          </a:solidFill>
                          <a:latin typeface="Calibri"/>
                        </a:rPr>
                        <a:t>0.655 ± 0.027</a:t>
                      </a:r>
                    </a:p>
                  </a:txBody>
                  <a:tcPr marL="73152" marR="73152" marT="27432" marB="27432" anchor="ctr">
                    <a:solidFill>
                      <a:srgbClr val="FFFFFF"/>
                    </a:solidFill>
                  </a:tcPr>
                </a:tc>
                <a:tc>
                  <a:txBody>
                    <a:bodyPr wrap="square"/>
                    <a:lstStyle/>
                    <a:p>
                      <a:pPr algn="ctr"/>
                      <a:r>
                        <a:rPr sz="1400" b="0">
                          <a:solidFill>
                            <a:srgbClr val="222222"/>
                          </a:solidFill>
                          <a:latin typeface="Calibri"/>
                        </a:rPr>
                        <a:t>0.123 ± 0.013</a:t>
                      </a:r>
                    </a:p>
                  </a:txBody>
                  <a:tcPr marL="73152" marR="73152" marT="27432" marB="27432" anchor="ctr">
                    <a:solidFill>
                      <a:srgbClr val="FFFFFF"/>
                    </a:solidFill>
                  </a:tcPr>
                </a:tc>
                <a:tc>
                  <a:txBody>
                    <a:bodyPr wrap="square"/>
                    <a:lstStyle/>
                    <a:p>
                      <a:pPr algn="ctr"/>
                      <a:r>
                        <a:rPr sz="1400" b="0">
                          <a:solidFill>
                            <a:srgbClr val="222222"/>
                          </a:solidFill>
                          <a:latin typeface="Calibri"/>
                        </a:rPr>
                        <a:t>0.197 ± 0.011</a:t>
                      </a:r>
                    </a:p>
                  </a:txBody>
                  <a:tcPr marL="73152" marR="73152" marT="27432" marB="27432" anchor="ctr">
                    <a:solidFill>
                      <a:srgbClr val="FFFFFF"/>
                    </a:solidFill>
                  </a:tcPr>
                </a:tc>
                <a:tc>
                  <a:txBody>
                    <a:bodyPr wrap="square"/>
                    <a:lstStyle/>
                    <a:p>
                      <a:pPr algn="ctr"/>
                      <a:r>
                        <a:rPr sz="1400" b="0">
                          <a:solidFill>
                            <a:srgbClr val="222222"/>
                          </a:solidFill>
                          <a:latin typeface="Calibri"/>
                        </a:rPr>
                        <a:t>0.158 ± 0.013</a:t>
                      </a:r>
                    </a:p>
                  </a:txBody>
                  <a:tcPr marL="73152" marR="73152" marT="27432" marB="27432" anchor="ctr">
                    <a:solidFill>
                      <a:srgbClr val="FFFFFF"/>
                    </a:solidFill>
                  </a:tcPr>
                </a:tc>
                <a:tc>
                  <a:txBody>
                    <a:bodyPr wrap="square"/>
                    <a:lstStyle/>
                    <a:p>
                      <a:pPr algn="ctr"/>
                      <a:r>
                        <a:rPr sz="1400" b="0">
                          <a:solidFill>
                            <a:srgbClr val="222222"/>
                          </a:solidFill>
                          <a:latin typeface="Calibri"/>
                        </a:rPr>
                        <a:t>0.262 ± 0.012</a:t>
                      </a:r>
                    </a:p>
                  </a:txBody>
                  <a:tcPr marL="73152" marR="73152" marT="27432" marB="27432" anchor="ctr">
                    <a:solidFill>
                      <a:srgbClr val="FFFFFF"/>
                    </a:solidFill>
                  </a:tcPr>
                </a:tc>
                <a:tc>
                  <a:txBody>
                    <a:bodyPr wrap="square"/>
                    <a:lstStyle/>
                    <a:p>
                      <a:pPr algn="ctr"/>
                      <a:r>
                        <a:rPr sz="1400" b="0">
                          <a:solidFill>
                            <a:srgbClr val="222222"/>
                          </a:solidFill>
                          <a:latin typeface="Calibri"/>
                        </a:rPr>
                        <a:t>0.365 ± 0.024</a:t>
                      </a:r>
                    </a:p>
                  </a:txBody>
                  <a:tcPr marL="73152" marR="73152" marT="27432" marB="27432" anchor="ctr">
                    <a:solidFill>
                      <a:srgbClr val="FFFFFF"/>
                    </a:solidFill>
                  </a:tcPr>
                </a:tc>
              </a:tr>
              <a:tr h="566928">
                <a:tc>
                  <a:txBody>
                    <a:bodyPr wrap="square"/>
                    <a:lstStyle/>
                    <a:p>
                      <a:r>
                        <a:rPr sz="1400" b="1">
                          <a:solidFill>
                            <a:srgbClr val="222222"/>
                          </a:solidFill>
                          <a:latin typeface="Calibri"/>
                        </a:rPr>
                        <a:t>Logistic regression</a:t>
                      </a:r>
                    </a:p>
                  </a:txBody>
                  <a:tcPr marL="73152" marR="73152" marT="27432" marB="27432" anchor="ctr">
                    <a:solidFill>
                      <a:srgbClr val="F2F5F8"/>
                    </a:solidFill>
                  </a:tcPr>
                </a:tc>
                <a:tc>
                  <a:txBody>
                    <a:bodyPr wrap="square"/>
                    <a:lstStyle/>
                    <a:p>
                      <a:pPr algn="ctr"/>
                      <a:r>
                        <a:rPr sz="1400" b="0">
                          <a:solidFill>
                            <a:srgbClr val="222222"/>
                          </a:solidFill>
                          <a:latin typeface="Calibri"/>
                        </a:rPr>
                        <a:t>0.930 ± 0.021</a:t>
                      </a:r>
                    </a:p>
                  </a:txBody>
                  <a:tcPr marL="73152" marR="73152" marT="27432" marB="27432" anchor="ctr">
                    <a:solidFill>
                      <a:srgbClr val="F2F5F8"/>
                    </a:solidFill>
                  </a:tcPr>
                </a:tc>
                <a:tc>
                  <a:txBody>
                    <a:bodyPr wrap="square"/>
                    <a:lstStyle/>
                    <a:p>
                      <a:pPr algn="ctr"/>
                      <a:r>
                        <a:rPr sz="1400" b="0">
                          <a:solidFill>
                            <a:srgbClr val="222222"/>
                          </a:solidFill>
                          <a:latin typeface="Calibri"/>
                        </a:rPr>
                        <a:t>0.487 ± 0.080</a:t>
                      </a:r>
                    </a:p>
                  </a:txBody>
                  <a:tcPr marL="73152" marR="73152" marT="27432" marB="27432" anchor="ctr">
                    <a:solidFill>
                      <a:srgbClr val="F2F5F8"/>
                    </a:solidFill>
                  </a:tcPr>
                </a:tc>
                <a:tc>
                  <a:txBody>
                    <a:bodyPr wrap="square"/>
                    <a:lstStyle/>
                    <a:p>
                      <a:pPr algn="ctr"/>
                      <a:r>
                        <a:rPr sz="1400" b="0">
                          <a:solidFill>
                            <a:srgbClr val="222222"/>
                          </a:solidFill>
                          <a:latin typeface="Calibri"/>
                        </a:rPr>
                        <a:t>0.480 ± 0.059</a:t>
                      </a:r>
                    </a:p>
                  </a:txBody>
                  <a:tcPr marL="73152" marR="73152" marT="27432" marB="27432" anchor="ctr">
                    <a:solidFill>
                      <a:srgbClr val="F2F5F8"/>
                    </a:solidFill>
                  </a:tcPr>
                </a:tc>
                <a:tc>
                  <a:txBody>
                    <a:bodyPr wrap="square"/>
                    <a:lstStyle/>
                    <a:p>
                      <a:pPr algn="ctr"/>
                      <a:r>
                        <a:rPr sz="1400" b="0">
                          <a:solidFill>
                            <a:srgbClr val="222222"/>
                          </a:solidFill>
                          <a:latin typeface="Calibri"/>
                        </a:rPr>
                        <a:t>0.457 ± 0.065</a:t>
                      </a:r>
                    </a:p>
                  </a:txBody>
                  <a:tcPr marL="73152" marR="73152" marT="27432" marB="27432" anchor="ctr">
                    <a:solidFill>
                      <a:srgbClr val="F2F5F8"/>
                    </a:solidFill>
                  </a:tcPr>
                </a:tc>
                <a:tc>
                  <a:txBody>
                    <a:bodyPr wrap="square"/>
                    <a:lstStyle/>
                    <a:p>
                      <a:pPr algn="ctr"/>
                      <a:r>
                        <a:rPr sz="1400" b="0">
                          <a:solidFill>
                            <a:srgbClr val="222222"/>
                          </a:solidFill>
                          <a:latin typeface="Calibri"/>
                        </a:rPr>
                        <a:t>0.512 ± 0.075</a:t>
                      </a:r>
                    </a:p>
                  </a:txBody>
                  <a:tcPr marL="73152" marR="73152" marT="27432" marB="27432" anchor="ctr">
                    <a:solidFill>
                      <a:srgbClr val="F2F5F8"/>
                    </a:solidFill>
                  </a:tcPr>
                </a:tc>
                <a:tc>
                  <a:txBody>
                    <a:bodyPr wrap="square"/>
                    <a:lstStyle/>
                    <a:p>
                      <a:pPr algn="ctr"/>
                      <a:r>
                        <a:rPr sz="1400" b="0">
                          <a:solidFill>
                            <a:srgbClr val="222222"/>
                          </a:solidFill>
                          <a:latin typeface="Calibri"/>
                        </a:rPr>
                        <a:t>0.744 ± 0.069</a:t>
                      </a:r>
                    </a:p>
                  </a:txBody>
                  <a:tcPr marL="73152" marR="73152" marT="27432" marB="27432" anchor="ctr">
                    <a:solidFill>
                      <a:srgbClr val="F2F5F8"/>
                    </a:solidFill>
                  </a:tcPr>
                </a:tc>
              </a:tr>
              <a:tr h="566928">
                <a:tc>
                  <a:txBody>
                    <a:bodyPr wrap="square"/>
                    <a:lstStyle/>
                    <a:p>
                      <a:r>
                        <a:rPr sz="1400" b="1">
                          <a:solidFill>
                            <a:srgbClr val="222222"/>
                          </a:solidFill>
                          <a:latin typeface="Calibri"/>
                        </a:rPr>
                        <a:t>Ridge, basic</a:t>
                      </a:r>
                    </a:p>
                  </a:txBody>
                  <a:tcPr marL="73152" marR="73152" marT="27432" marB="27432" anchor="ctr">
                    <a:solidFill>
                      <a:srgbClr val="FFFFFF"/>
                    </a:solidFill>
                  </a:tcPr>
                </a:tc>
                <a:tc>
                  <a:txBody>
                    <a:bodyPr wrap="square"/>
                    <a:lstStyle/>
                    <a:p>
                      <a:pPr algn="ctr"/>
                      <a:r>
                        <a:rPr sz="1400" b="0">
                          <a:solidFill>
                            <a:srgbClr val="222222"/>
                          </a:solidFill>
                          <a:latin typeface="Calibri"/>
                        </a:rPr>
                        <a:t>0.898 ± 0.022</a:t>
                      </a:r>
                    </a:p>
                  </a:txBody>
                  <a:tcPr marL="73152" marR="73152" marT="27432" marB="27432" anchor="ctr">
                    <a:solidFill>
                      <a:srgbClr val="FFFFFF"/>
                    </a:solidFill>
                  </a:tcPr>
                </a:tc>
                <a:tc>
                  <a:txBody>
                    <a:bodyPr wrap="square"/>
                    <a:lstStyle/>
                    <a:p>
                      <a:pPr algn="ctr"/>
                      <a:r>
                        <a:rPr sz="1400" b="0">
                          <a:solidFill>
                            <a:srgbClr val="222222"/>
                          </a:solidFill>
                          <a:latin typeface="Calibri"/>
                        </a:rPr>
                        <a:t>0.445 ± 0.050</a:t>
                      </a:r>
                    </a:p>
                  </a:txBody>
                  <a:tcPr marL="73152" marR="73152" marT="27432" marB="27432" anchor="ctr">
                    <a:solidFill>
                      <a:srgbClr val="FFFFFF"/>
                    </a:solidFill>
                  </a:tcPr>
                </a:tc>
                <a:tc>
                  <a:txBody>
                    <a:bodyPr wrap="square"/>
                    <a:lstStyle/>
                    <a:p>
                      <a:pPr algn="ctr"/>
                      <a:r>
                        <a:rPr sz="1400" b="0">
                          <a:solidFill>
                            <a:srgbClr val="222222"/>
                          </a:solidFill>
                          <a:latin typeface="Calibri"/>
                        </a:rPr>
                        <a:t>0.470 ± 0.048</a:t>
                      </a:r>
                    </a:p>
                  </a:txBody>
                  <a:tcPr marL="73152" marR="73152" marT="27432" marB="27432" anchor="ctr">
                    <a:solidFill>
                      <a:srgbClr val="FFFFFF"/>
                    </a:solidFill>
                  </a:tcPr>
                </a:tc>
                <a:tc>
                  <a:txBody>
                    <a:bodyPr wrap="square"/>
                    <a:lstStyle/>
                    <a:p>
                      <a:pPr algn="ctr"/>
                      <a:r>
                        <a:rPr sz="1400" b="0">
                          <a:solidFill>
                            <a:srgbClr val="222222"/>
                          </a:solidFill>
                          <a:latin typeface="Calibri"/>
                        </a:rPr>
                        <a:t>0.456 ± 0.060</a:t>
                      </a:r>
                    </a:p>
                  </a:txBody>
                  <a:tcPr marL="73152" marR="73152" marT="27432" marB="27432" anchor="ctr">
                    <a:solidFill>
                      <a:srgbClr val="FFFFFF"/>
                    </a:solidFill>
                  </a:tcPr>
                </a:tc>
                <a:tc>
                  <a:txBody>
                    <a:bodyPr wrap="square"/>
                    <a:lstStyle/>
                    <a:p>
                      <a:pPr algn="ctr"/>
                      <a:r>
                        <a:rPr sz="1400" b="0">
                          <a:solidFill>
                            <a:srgbClr val="222222"/>
                          </a:solidFill>
                          <a:latin typeface="Calibri"/>
                        </a:rPr>
                        <a:t>0.497 ± 0.085</a:t>
                      </a:r>
                    </a:p>
                  </a:txBody>
                  <a:tcPr marL="73152" marR="73152" marT="27432" marB="27432" anchor="ctr">
                    <a:solidFill>
                      <a:srgbClr val="FFFFFF"/>
                    </a:solidFill>
                  </a:tcPr>
                </a:tc>
                <a:tc>
                  <a:txBody>
                    <a:bodyPr wrap="square"/>
                    <a:lstStyle/>
                    <a:p>
                      <a:pPr algn="ctr"/>
                      <a:r>
                        <a:rPr sz="1400" b="0">
                          <a:solidFill>
                            <a:srgbClr val="222222"/>
                          </a:solidFill>
                          <a:latin typeface="Calibri"/>
                        </a:rPr>
                        <a:t>0.662 ± 0.067</a:t>
                      </a:r>
                    </a:p>
                  </a:txBody>
                  <a:tcPr marL="73152" marR="73152" marT="27432" marB="27432" anchor="ctr">
                    <a:solidFill>
                      <a:srgbClr val="FFFFFF"/>
                    </a:solidFill>
                  </a:tcPr>
                </a:tc>
              </a:tr>
              <a:tr h="566928">
                <a:tc>
                  <a:txBody>
                    <a:bodyPr wrap="square"/>
                    <a:lstStyle/>
                    <a:p>
                      <a:r>
                        <a:rPr sz="1400" b="1">
                          <a:solidFill>
                            <a:srgbClr val="222222"/>
                          </a:solidFill>
                          <a:latin typeface="Calibri"/>
                        </a:rPr>
                        <a:t>Ridge</a:t>
                      </a:r>
                    </a:p>
                  </a:txBody>
                  <a:tcPr marL="73152" marR="73152" marT="27432" marB="27432" anchor="ctr">
                    <a:solidFill>
                      <a:srgbClr val="F2F5F8"/>
                    </a:solidFill>
                  </a:tcPr>
                </a:tc>
                <a:tc>
                  <a:txBody>
                    <a:bodyPr wrap="square"/>
                    <a:lstStyle/>
                    <a:p>
                      <a:pPr algn="ctr"/>
                      <a:r>
                        <a:rPr sz="1400" b="0">
                          <a:solidFill>
                            <a:srgbClr val="222222"/>
                          </a:solidFill>
                          <a:latin typeface="Calibri"/>
                        </a:rPr>
                        <a:t>0.925 ± 0.021</a:t>
                      </a:r>
                    </a:p>
                  </a:txBody>
                  <a:tcPr marL="73152" marR="73152" marT="27432" marB="27432" anchor="ctr">
                    <a:solidFill>
                      <a:srgbClr val="F2F5F8"/>
                    </a:solidFill>
                  </a:tcPr>
                </a:tc>
                <a:tc>
                  <a:txBody>
                    <a:bodyPr wrap="square"/>
                    <a:lstStyle/>
                    <a:p>
                      <a:pPr algn="ctr"/>
                      <a:r>
                        <a:rPr sz="1400" b="0">
                          <a:solidFill>
                            <a:srgbClr val="222222"/>
                          </a:solidFill>
                          <a:latin typeface="Calibri"/>
                        </a:rPr>
                        <a:t>0.492 ± 0.074</a:t>
                      </a:r>
                    </a:p>
                  </a:txBody>
                  <a:tcPr marL="73152" marR="73152" marT="27432" marB="27432" anchor="ctr">
                    <a:solidFill>
                      <a:srgbClr val="F2F5F8"/>
                    </a:solidFill>
                  </a:tcPr>
                </a:tc>
                <a:tc>
                  <a:txBody>
                    <a:bodyPr wrap="square"/>
                    <a:lstStyle/>
                    <a:p>
                      <a:pPr algn="ctr"/>
                      <a:r>
                        <a:rPr sz="1400" b="0">
                          <a:solidFill>
                            <a:srgbClr val="222222"/>
                          </a:solidFill>
                          <a:latin typeface="Calibri"/>
                        </a:rPr>
                        <a:t>0.489 ± 0.059</a:t>
                      </a:r>
                    </a:p>
                  </a:txBody>
                  <a:tcPr marL="73152" marR="73152" marT="27432" marB="27432" anchor="ctr">
                    <a:solidFill>
                      <a:srgbClr val="F2F5F8"/>
                    </a:solidFill>
                  </a:tcPr>
                </a:tc>
                <a:tc>
                  <a:txBody>
                    <a:bodyPr wrap="square"/>
                    <a:lstStyle/>
                    <a:p>
                      <a:pPr algn="ctr"/>
                      <a:r>
                        <a:rPr sz="1400" b="0">
                          <a:solidFill>
                            <a:srgbClr val="222222"/>
                          </a:solidFill>
                          <a:latin typeface="Calibri"/>
                        </a:rPr>
                        <a:t>0.514 ± 0.088</a:t>
                      </a:r>
                    </a:p>
                  </a:txBody>
                  <a:tcPr marL="73152" marR="73152" marT="27432" marB="27432" anchor="ctr">
                    <a:solidFill>
                      <a:srgbClr val="F2F5F8"/>
                    </a:solidFill>
                  </a:tcPr>
                </a:tc>
                <a:tc>
                  <a:txBody>
                    <a:bodyPr wrap="square"/>
                    <a:lstStyle/>
                    <a:p>
                      <a:pPr algn="ctr"/>
                      <a:r>
                        <a:rPr sz="1400" b="0">
                          <a:solidFill>
                            <a:srgbClr val="222222"/>
                          </a:solidFill>
                          <a:latin typeface="Calibri"/>
                        </a:rPr>
                        <a:t>0.471 ± 0.045</a:t>
                      </a:r>
                    </a:p>
                  </a:txBody>
                  <a:tcPr marL="73152" marR="73152" marT="27432" marB="27432" anchor="ctr">
                    <a:solidFill>
                      <a:srgbClr val="F2F5F8"/>
                    </a:solidFill>
                  </a:tcPr>
                </a:tc>
                <a:tc>
                  <a:txBody>
                    <a:bodyPr wrap="square"/>
                    <a:lstStyle/>
                    <a:p>
                      <a:pPr algn="ctr"/>
                      <a:r>
                        <a:rPr sz="1400" b="0">
                          <a:solidFill>
                            <a:srgbClr val="222222"/>
                          </a:solidFill>
                          <a:latin typeface="Calibri"/>
                        </a:rPr>
                        <a:t>0.732 ± 0.069</a:t>
                      </a:r>
                    </a:p>
                  </a:txBody>
                  <a:tcPr marL="73152" marR="73152" marT="27432" marB="27432" anchor="ctr">
                    <a:solidFill>
                      <a:srgbClr val="F2F5F8"/>
                    </a:solidFill>
                  </a:tcPr>
                </a:tc>
              </a:tr>
              <a:tr h="566928">
                <a:tc>
                  <a:txBody>
                    <a:bodyPr wrap="square"/>
                    <a:lstStyle/>
                    <a:p>
                      <a:r>
                        <a:rPr sz="1400" b="1">
                          <a:solidFill>
                            <a:srgbClr val="222222"/>
                          </a:solidFill>
                          <a:latin typeface="Calibri"/>
                        </a:rPr>
                        <a:t>Random Forest</a:t>
                      </a:r>
                    </a:p>
                  </a:txBody>
                  <a:tcPr marL="73152" marR="73152" marT="27432" marB="27432" anchor="ctr">
                    <a:solidFill>
                      <a:srgbClr val="FFFFFF"/>
                    </a:solidFill>
                  </a:tcPr>
                </a:tc>
                <a:tc>
                  <a:txBody>
                    <a:bodyPr wrap="square"/>
                    <a:lstStyle/>
                    <a:p>
                      <a:pPr algn="ctr"/>
                      <a:r>
                        <a:rPr sz="1400" b="0">
                          <a:solidFill>
                            <a:srgbClr val="222222"/>
                          </a:solidFill>
                          <a:latin typeface="Calibri"/>
                        </a:rPr>
                        <a:t>0.988 ± 0.007</a:t>
                      </a:r>
                    </a:p>
                  </a:txBody>
                  <a:tcPr marL="73152" marR="73152" marT="27432" marB="27432" anchor="ctr">
                    <a:solidFill>
                      <a:srgbClr val="FFFFFF"/>
                    </a:solidFill>
                  </a:tcPr>
                </a:tc>
                <a:tc>
                  <a:txBody>
                    <a:bodyPr wrap="square"/>
                    <a:lstStyle/>
                    <a:p>
                      <a:pPr algn="ctr"/>
                      <a:r>
                        <a:rPr sz="1400" b="0">
                          <a:solidFill>
                            <a:srgbClr val="222222"/>
                          </a:solidFill>
                          <a:latin typeface="Calibri"/>
                        </a:rPr>
                        <a:t>0.912 ± 0.037</a:t>
                      </a:r>
                    </a:p>
                  </a:txBody>
                  <a:tcPr marL="73152" marR="73152" marT="27432" marB="27432" anchor="ctr">
                    <a:solidFill>
                      <a:srgbClr val="FFFFFF"/>
                    </a:solidFill>
                  </a:tcPr>
                </a:tc>
                <a:tc>
                  <a:txBody>
                    <a:bodyPr wrap="square"/>
                    <a:lstStyle/>
                    <a:p>
                      <a:pPr algn="ctr"/>
                      <a:r>
                        <a:rPr sz="1400" b="0">
                          <a:solidFill>
                            <a:srgbClr val="222222"/>
                          </a:solidFill>
                          <a:latin typeface="Calibri"/>
                        </a:rPr>
                        <a:t>0.887 ± 0.041</a:t>
                      </a:r>
                    </a:p>
                  </a:txBody>
                  <a:tcPr marL="73152" marR="73152" marT="27432" marB="27432" anchor="ctr">
                    <a:solidFill>
                      <a:srgbClr val="FFFFFF"/>
                    </a:solidFill>
                  </a:tcPr>
                </a:tc>
                <a:tc>
                  <a:txBody>
                    <a:bodyPr wrap="square"/>
                    <a:lstStyle/>
                    <a:p>
                      <a:pPr algn="ctr"/>
                      <a:r>
                        <a:rPr sz="1400" b="0">
                          <a:solidFill>
                            <a:srgbClr val="222222"/>
                          </a:solidFill>
                          <a:latin typeface="Calibri"/>
                        </a:rPr>
                        <a:t>0.927 ± 0.046</a:t>
                      </a:r>
                    </a:p>
                  </a:txBody>
                  <a:tcPr marL="73152" marR="73152" marT="27432" marB="27432" anchor="ctr">
                    <a:solidFill>
                      <a:srgbClr val="FFFFFF"/>
                    </a:solidFill>
                  </a:tcPr>
                </a:tc>
                <a:tc>
                  <a:txBody>
                    <a:bodyPr wrap="square"/>
                    <a:lstStyle/>
                    <a:p>
                      <a:pPr algn="ctr"/>
                      <a:r>
                        <a:rPr sz="1400" b="0">
                          <a:solidFill>
                            <a:srgbClr val="222222"/>
                          </a:solidFill>
                          <a:latin typeface="Calibri"/>
                        </a:rPr>
                        <a:t>0.850 ± 0.041</a:t>
                      </a:r>
                    </a:p>
                  </a:txBody>
                  <a:tcPr marL="73152" marR="73152" marT="27432" marB="27432" anchor="ctr">
                    <a:solidFill>
                      <a:srgbClr val="FFFFFF"/>
                    </a:solidFill>
                  </a:tcPr>
                </a:tc>
                <a:tc>
                  <a:txBody>
                    <a:bodyPr wrap="square"/>
                    <a:lstStyle/>
                    <a:p>
                      <a:pPr algn="ctr"/>
                      <a:r>
                        <a:rPr sz="1400" b="0">
                          <a:solidFill>
                            <a:srgbClr val="222222"/>
                          </a:solidFill>
                          <a:latin typeface="Calibri"/>
                        </a:rPr>
                        <a:t>0.941 ± 0.040</a:t>
                      </a:r>
                    </a:p>
                  </a:txBody>
                  <a:tcPr marL="73152" marR="73152" marT="27432" marB="27432" anchor="ctr">
                    <a:solidFill>
                      <a:srgbClr val="FFFFFF"/>
                    </a:solidFill>
                  </a:tcPr>
                </a:tc>
              </a:tr>
              <a:tr h="566928">
                <a:tc>
                  <a:txBody>
                    <a:bodyPr wrap="square"/>
                    <a:lstStyle/>
                    <a:p>
                      <a:r>
                        <a:rPr sz="1400" b="1">
                          <a:solidFill>
                            <a:srgbClr val="222222"/>
                          </a:solidFill>
                          <a:latin typeface="Calibri"/>
                        </a:rPr>
                        <a:t>XGBoost, basic</a:t>
                      </a:r>
                    </a:p>
                  </a:txBody>
                  <a:tcPr marL="73152" marR="73152" marT="27432" marB="27432" anchor="ctr">
                    <a:solidFill>
                      <a:srgbClr val="F2F5F8"/>
                    </a:solidFill>
                  </a:tcPr>
                </a:tc>
                <a:tc>
                  <a:txBody>
                    <a:bodyPr wrap="square"/>
                    <a:lstStyle/>
                    <a:p>
                      <a:pPr algn="ctr"/>
                      <a:r>
                        <a:rPr sz="1400" b="0">
                          <a:solidFill>
                            <a:srgbClr val="222222"/>
                          </a:solidFill>
                          <a:latin typeface="Calibri"/>
                        </a:rPr>
                        <a:t>0.980 ± 0.009</a:t>
                      </a:r>
                    </a:p>
                  </a:txBody>
                  <a:tcPr marL="73152" marR="73152" marT="27432" marB="27432" anchor="ctr">
                    <a:solidFill>
                      <a:srgbClr val="F2F5F8"/>
                    </a:solidFill>
                  </a:tcPr>
                </a:tc>
                <a:tc>
                  <a:txBody>
                    <a:bodyPr wrap="square"/>
                    <a:lstStyle/>
                    <a:p>
                      <a:pPr algn="ctr"/>
                      <a:r>
                        <a:rPr sz="1400" b="0">
                          <a:solidFill>
                            <a:srgbClr val="222222"/>
                          </a:solidFill>
                          <a:latin typeface="Calibri"/>
                        </a:rPr>
                        <a:t>0.790 ± 0.088</a:t>
                      </a:r>
                    </a:p>
                  </a:txBody>
                  <a:tcPr marL="73152" marR="73152" marT="27432" marB="27432" anchor="ctr">
                    <a:solidFill>
                      <a:srgbClr val="F2F5F8"/>
                    </a:solidFill>
                  </a:tcPr>
                </a:tc>
                <a:tc>
                  <a:txBody>
                    <a:bodyPr wrap="square"/>
                    <a:lstStyle/>
                    <a:p>
                      <a:pPr algn="ctr"/>
                      <a:r>
                        <a:rPr sz="1400" b="0">
                          <a:solidFill>
                            <a:srgbClr val="222222"/>
                          </a:solidFill>
                          <a:latin typeface="Calibri"/>
                        </a:rPr>
                        <a:t>0.727 ± 0.094</a:t>
                      </a:r>
                    </a:p>
                  </a:txBody>
                  <a:tcPr marL="73152" marR="73152" marT="27432" marB="27432" anchor="ctr">
                    <a:solidFill>
                      <a:srgbClr val="F2F5F8"/>
                    </a:solidFill>
                  </a:tcPr>
                </a:tc>
                <a:tc>
                  <a:txBody>
                    <a:bodyPr wrap="square"/>
                    <a:lstStyle/>
                    <a:p>
                      <a:pPr algn="ctr"/>
                      <a:r>
                        <a:rPr sz="1400" b="0">
                          <a:solidFill>
                            <a:srgbClr val="222222"/>
                          </a:solidFill>
                          <a:latin typeface="Calibri"/>
                        </a:rPr>
                        <a:t>0.726 ± 0.138</a:t>
                      </a:r>
                    </a:p>
                  </a:txBody>
                  <a:tcPr marL="73152" marR="73152" marT="27432" marB="27432" anchor="ctr">
                    <a:solidFill>
                      <a:srgbClr val="F2F5F8"/>
                    </a:solidFill>
                  </a:tcPr>
                </a:tc>
                <a:tc>
                  <a:txBody>
                    <a:bodyPr wrap="square"/>
                    <a:lstStyle/>
                    <a:p>
                      <a:pPr algn="ctr"/>
                      <a:r>
                        <a:rPr sz="1400" b="0">
                          <a:solidFill>
                            <a:srgbClr val="222222"/>
                          </a:solidFill>
                          <a:latin typeface="Calibri"/>
                        </a:rPr>
                        <a:t>0.738 ± 0.070</a:t>
                      </a:r>
                    </a:p>
                  </a:txBody>
                  <a:tcPr marL="73152" marR="73152" marT="27432" marB="27432" anchor="ctr">
                    <a:solidFill>
                      <a:srgbClr val="F2F5F8"/>
                    </a:solidFill>
                  </a:tcPr>
                </a:tc>
                <a:tc>
                  <a:txBody>
                    <a:bodyPr wrap="square"/>
                    <a:lstStyle/>
                    <a:p>
                      <a:pPr algn="ctr"/>
                      <a:r>
                        <a:rPr sz="1400" b="0">
                          <a:solidFill>
                            <a:srgbClr val="222222"/>
                          </a:solidFill>
                          <a:latin typeface="Calibri"/>
                        </a:rPr>
                        <a:t>0.912 ± 0.039</a:t>
                      </a:r>
                    </a:p>
                  </a:txBody>
                  <a:tcPr marL="73152" marR="73152" marT="27432" marB="27432" anchor="ctr">
                    <a:solidFill>
                      <a:srgbClr val="F2F5F8"/>
                    </a:solidFill>
                  </a:tcPr>
                </a:tc>
              </a:tr>
              <a:tr h="566928">
                <a:tc>
                  <a:txBody>
                    <a:bodyPr wrap="square"/>
                    <a:lstStyle/>
                    <a:p>
                      <a:r>
                        <a:rPr sz="1400" b="1">
                          <a:solidFill>
                            <a:srgbClr val="222222"/>
                          </a:solidFill>
                          <a:latin typeface="Calibri"/>
                        </a:rPr>
                        <a:t>XGBoost</a:t>
                      </a:r>
                    </a:p>
                  </a:txBody>
                  <a:tcPr marL="73152" marR="73152" marT="27432" marB="27432" anchor="ctr">
                    <a:solidFill>
                      <a:srgbClr val="FFFFFF"/>
                    </a:solidFill>
                  </a:tcPr>
                </a:tc>
                <a:tc>
                  <a:txBody>
                    <a:bodyPr wrap="square"/>
                    <a:lstStyle/>
                    <a:p>
                      <a:pPr algn="ctr"/>
                      <a:r>
                        <a:rPr sz="1400" b="0">
                          <a:solidFill>
                            <a:srgbClr val="222222"/>
                          </a:solidFill>
                          <a:latin typeface="Calibri"/>
                        </a:rPr>
                        <a:t>0.987 ± 0.007</a:t>
                      </a:r>
                    </a:p>
                  </a:txBody>
                  <a:tcPr marL="73152" marR="73152" marT="27432" marB="27432" anchor="ctr">
                    <a:solidFill>
                      <a:srgbClr val="FFFFFF"/>
                    </a:solidFill>
                  </a:tcPr>
                </a:tc>
                <a:tc>
                  <a:txBody>
                    <a:bodyPr wrap="square"/>
                    <a:lstStyle/>
                    <a:p>
                      <a:pPr algn="ctr"/>
                      <a:r>
                        <a:rPr sz="1400" b="0">
                          <a:solidFill>
                            <a:srgbClr val="222222"/>
                          </a:solidFill>
                          <a:latin typeface="Calibri"/>
                        </a:rPr>
                        <a:t>0.893 ± 0.042</a:t>
                      </a:r>
                    </a:p>
                  </a:txBody>
                  <a:tcPr marL="73152" marR="73152" marT="27432" marB="27432" anchor="ctr">
                    <a:solidFill>
                      <a:srgbClr val="FFFFFF"/>
                    </a:solidFill>
                  </a:tcPr>
                </a:tc>
                <a:tc>
                  <a:txBody>
                    <a:bodyPr wrap="square"/>
                    <a:lstStyle/>
                    <a:p>
                      <a:pPr algn="ctr"/>
                      <a:r>
                        <a:rPr sz="1400" b="0">
                          <a:solidFill>
                            <a:srgbClr val="222222"/>
                          </a:solidFill>
                          <a:latin typeface="Calibri"/>
                        </a:rPr>
                        <a:t>0.851 ± 0.045</a:t>
                      </a:r>
                    </a:p>
                  </a:txBody>
                  <a:tcPr marL="73152" marR="73152" marT="27432" marB="27432" anchor="ctr">
                    <a:solidFill>
                      <a:srgbClr val="FFFFFF"/>
                    </a:solidFill>
                  </a:tcPr>
                </a:tc>
                <a:tc>
                  <a:txBody>
                    <a:bodyPr wrap="square"/>
                    <a:lstStyle/>
                    <a:p>
                      <a:pPr algn="ctr"/>
                      <a:r>
                        <a:rPr sz="1400" b="0">
                          <a:solidFill>
                            <a:srgbClr val="222222"/>
                          </a:solidFill>
                          <a:latin typeface="Calibri"/>
                        </a:rPr>
                        <a:t>0.901 ± 0.039</a:t>
                      </a:r>
                    </a:p>
                  </a:txBody>
                  <a:tcPr marL="73152" marR="73152" marT="27432" marB="27432" anchor="ctr">
                    <a:solidFill>
                      <a:srgbClr val="FFFFFF"/>
                    </a:solidFill>
                  </a:tcPr>
                </a:tc>
                <a:tc>
                  <a:txBody>
                    <a:bodyPr wrap="square"/>
                    <a:lstStyle/>
                    <a:p>
                      <a:pPr algn="ctr"/>
                      <a:r>
                        <a:rPr sz="1400" b="0">
                          <a:solidFill>
                            <a:srgbClr val="222222"/>
                          </a:solidFill>
                          <a:latin typeface="Calibri"/>
                        </a:rPr>
                        <a:t>0.806 ± 0.052</a:t>
                      </a:r>
                    </a:p>
                  </a:txBody>
                  <a:tcPr marL="73152" marR="73152" marT="27432" marB="27432" anchor="ctr">
                    <a:solidFill>
                      <a:srgbClr val="FFFFFF"/>
                    </a:solidFill>
                  </a:tcPr>
                </a:tc>
                <a:tc>
                  <a:txBody>
                    <a:bodyPr wrap="square"/>
                    <a:lstStyle/>
                    <a:p>
                      <a:pPr algn="ctr"/>
                      <a:r>
                        <a:rPr sz="1400" b="0">
                          <a:solidFill>
                            <a:srgbClr val="222222"/>
                          </a:solidFill>
                          <a:latin typeface="Calibri"/>
                        </a:rPr>
                        <a:t>0.938 ± 0.035</a:t>
                      </a:r>
                    </a:p>
                  </a:txBody>
                  <a:tcPr marL="73152" marR="73152" marT="27432" marB="27432"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Ranking quality and the alert threshold</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39</a:t>
            </a:r>
          </a:p>
        </p:txBody>
      </p:sp>
      <p:pic>
        <p:nvPicPr>
          <p:cNvPr id="7" name="Picture 6" descr="s8_03_p2_roc_threshold.png"/>
          <p:cNvPicPr>
            <a:picLocks noChangeAspect="1"/>
          </p:cNvPicPr>
          <p:nvPr/>
        </p:nvPicPr>
        <p:blipFill>
          <a:blip r:embed="rId3"/>
          <a:stretch>
            <a:fillRect/>
          </a:stretch>
        </p:blipFill>
        <p:spPr>
          <a:xfrm>
            <a:off x="320040" y="1005840"/>
            <a:ext cx="11548872" cy="4204882"/>
          </a:xfrm>
          <a:prstGeom prst="rect">
            <a:avLst/>
          </a:prstGeom>
        </p:spPr>
      </p:pic>
      <p:sp>
        <p:nvSpPr>
          <p:cNvPr id="8" name="Oval 7"/>
          <p:cNvSpPr/>
          <p:nvPr/>
        </p:nvSpPr>
        <p:spPr>
          <a:xfrm>
            <a:off x="548640" y="5485042"/>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75314"/>
            <a:ext cx="10972800" cy="822960"/>
          </a:xfrm>
          <a:prstGeom prst="rect">
            <a:avLst/>
          </a:prstGeom>
          <a:noFill/>
        </p:spPr>
        <p:txBody>
          <a:bodyPr wrap="square" anchor="t" lIns="45720" rIns="45720">
            <a:spAutoFit/>
          </a:bodyPr>
          <a:lstStyle/>
          <a:p>
            <a:pPr algn="l"/>
            <a:r>
              <a:rPr sz="1600" b="0" i="0">
                <a:solidFill>
                  <a:srgbClr val="222222"/>
                </a:solidFill>
                <a:latin typeface="Calibri"/>
              </a:rPr>
              <a:t>Random Forest and XGBoost rise almost vertically on the ROC curve.</a:t>
            </a:r>
          </a:p>
        </p:txBody>
      </p:sp>
      <p:sp>
        <p:nvSpPr>
          <p:cNvPr id="10" name="Oval 9"/>
          <p:cNvSpPr/>
          <p:nvPr/>
        </p:nvSpPr>
        <p:spPr>
          <a:xfrm>
            <a:off x="548640" y="5951386"/>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841658"/>
            <a:ext cx="10972800" cy="822960"/>
          </a:xfrm>
          <a:prstGeom prst="rect">
            <a:avLst/>
          </a:prstGeom>
          <a:noFill/>
        </p:spPr>
        <p:txBody>
          <a:bodyPr wrap="square" anchor="t" lIns="45720" rIns="45720">
            <a:spAutoFit/>
          </a:bodyPr>
          <a:lstStyle/>
          <a:p>
            <a:pPr algn="l"/>
            <a:r>
              <a:rPr sz="1600" b="0" i="0">
                <a:solidFill>
                  <a:srgbClr val="222222"/>
                </a:solidFill>
                <a:latin typeface="Calibri"/>
              </a:rPr>
              <a:t>F1 is flat from 0.2 to 0.6, so the result does not depend on a precise threshold.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Finding 80% of failures: 3% of machines, not 58%</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40</a:t>
            </a:r>
          </a:p>
        </p:txBody>
      </p:sp>
      <p:pic>
        <p:nvPicPr>
          <p:cNvPr id="7" name="Picture 6" descr="s8_07_failure_top_k.png"/>
          <p:cNvPicPr>
            <a:picLocks noChangeAspect="1"/>
          </p:cNvPicPr>
          <p:nvPr/>
        </p:nvPicPr>
        <p:blipFill>
          <a:blip r:embed="rId3"/>
          <a:stretch>
            <a:fillRect/>
          </a:stretch>
        </p:blipFill>
        <p:spPr>
          <a:xfrm>
            <a:off x="320040" y="1005840"/>
            <a:ext cx="11548872" cy="4025760"/>
          </a:xfrm>
          <a:prstGeom prst="rect">
            <a:avLst/>
          </a:prstGeom>
        </p:spPr>
      </p:pic>
      <p:sp>
        <p:nvSpPr>
          <p:cNvPr id="8" name="Oval 7"/>
          <p:cNvSpPr/>
          <p:nvPr/>
        </p:nvSpPr>
        <p:spPr>
          <a:xfrm>
            <a:off x="548640" y="5305920"/>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196192"/>
            <a:ext cx="10972800" cy="822960"/>
          </a:xfrm>
          <a:prstGeom prst="rect">
            <a:avLst/>
          </a:prstGeom>
          <a:noFill/>
        </p:spPr>
        <p:txBody>
          <a:bodyPr wrap="square" anchor="t" lIns="45720" rIns="45720">
            <a:spAutoFit/>
          </a:bodyPr>
          <a:lstStyle/>
          <a:p>
            <a:pPr algn="l"/>
            <a:r>
              <a:rPr sz="1600" b="0" i="0">
                <a:solidFill>
                  <a:srgbClr val="222222"/>
                </a:solidFill>
                <a:latin typeface="Calibri"/>
              </a:rPr>
              <a:t>The rule of thumb needs about 19 times as many inspections as XGBoost to catch the same share of failures.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Churn: every model reaches about 0.78 ROC-AUC</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41</a:t>
            </a:r>
          </a:p>
        </p:txBody>
      </p:sp>
      <p:graphicFrame>
        <p:nvGraphicFramePr>
          <p:cNvPr id="7" name="Table 6"/>
          <p:cNvGraphicFramePr>
            <a:graphicFrameLocks noGrp="1"/>
          </p:cNvGraphicFramePr>
          <p:nvPr/>
        </p:nvGraphicFramePr>
        <p:xfrm>
          <a:off x="365760" y="1097280"/>
          <a:ext cx="11429997" cy="4535424"/>
        </p:xfrm>
        <a:graphic>
          <a:graphicData uri="http://schemas.openxmlformats.org/drawingml/2006/table">
            <a:tbl>
              <a:tblPr firstRow="0" bandRow="0">
                <a:tableStyleId>{5C22544A-7EE6-4342-B048-85BDC9FD1C3A}</a:tableStyleId>
              </a:tblPr>
              <a:tblGrid>
                <a:gridCol w="2424545"/>
                <a:gridCol w="1472045"/>
                <a:gridCol w="1472045"/>
                <a:gridCol w="1472045"/>
                <a:gridCol w="1472045"/>
                <a:gridCol w="1472045"/>
                <a:gridCol w="1645227"/>
              </a:tblGrid>
              <a:tr h="566928">
                <a:tc>
                  <a:txBody>
                    <a:bodyPr wrap="square"/>
                    <a:lstStyle/>
                    <a:p>
                      <a:r>
                        <a:rPr sz="1400" b="1">
                          <a:solidFill>
                            <a:srgbClr val="FFFFFF"/>
                          </a:solidFill>
                          <a:latin typeface="Calibri"/>
                        </a:rPr>
                        <a:t>Model</a:t>
                      </a:r>
                    </a:p>
                  </a:txBody>
                  <a:tcPr marL="73152" marR="73152" marT="27432" marB="27432" anchor="ctr">
                    <a:solidFill>
                      <a:srgbClr val="1F4E79"/>
                    </a:solidFill>
                  </a:tcPr>
                </a:tc>
                <a:tc>
                  <a:txBody>
                    <a:bodyPr wrap="square"/>
                    <a:lstStyle/>
                    <a:p>
                      <a:pPr algn="ctr"/>
                      <a:r>
                        <a:rPr sz="1400" b="1">
                          <a:solidFill>
                            <a:srgbClr val="FFFFFF"/>
                          </a:solidFill>
                          <a:latin typeface="Calibri"/>
                        </a:rPr>
                        <a:t>ROC-AUC</a:t>
                      </a:r>
                    </a:p>
                  </a:txBody>
                  <a:tcPr marL="73152" marR="73152" marT="27432" marB="27432" anchor="ctr">
                    <a:solidFill>
                      <a:srgbClr val="1F4E79"/>
                    </a:solidFill>
                  </a:tcPr>
                </a:tc>
                <a:tc>
                  <a:txBody>
                    <a:bodyPr wrap="square"/>
                    <a:lstStyle/>
                    <a:p>
                      <a:pPr algn="ctr"/>
                      <a:r>
                        <a:rPr sz="1400" b="1">
                          <a:solidFill>
                            <a:srgbClr val="FFFFFF"/>
                          </a:solidFill>
                          <a:latin typeface="Calibri"/>
                        </a:rPr>
                        <a:t>PR-AUC</a:t>
                      </a:r>
                    </a:p>
                  </a:txBody>
                  <a:tcPr marL="73152" marR="73152" marT="27432" marB="27432" anchor="ctr">
                    <a:solidFill>
                      <a:srgbClr val="1F4E79"/>
                    </a:solidFill>
                  </a:tcPr>
                </a:tc>
                <a:tc>
                  <a:txBody>
                    <a:bodyPr wrap="square"/>
                    <a:lstStyle/>
                    <a:p>
                      <a:pPr algn="ctr"/>
                      <a:r>
                        <a:rPr sz="1400" b="1">
                          <a:solidFill>
                            <a:srgbClr val="FFFFFF"/>
                          </a:solidFill>
                          <a:latin typeface="Calibri"/>
                        </a:rPr>
                        <a:t>F1</a:t>
                      </a:r>
                    </a:p>
                  </a:txBody>
                  <a:tcPr marL="73152" marR="73152" marT="27432" marB="27432" anchor="ctr">
                    <a:solidFill>
                      <a:srgbClr val="1F4E79"/>
                    </a:solidFill>
                  </a:tcPr>
                </a:tc>
                <a:tc>
                  <a:txBody>
                    <a:bodyPr wrap="square"/>
                    <a:lstStyle/>
                    <a:p>
                      <a:pPr algn="ctr"/>
                      <a:r>
                        <a:rPr sz="1400" b="1">
                          <a:solidFill>
                            <a:srgbClr val="FFFFFF"/>
                          </a:solidFill>
                          <a:latin typeface="Calibri"/>
                        </a:rPr>
                        <a:t>Precision</a:t>
                      </a:r>
                    </a:p>
                  </a:txBody>
                  <a:tcPr marL="73152" marR="73152" marT="27432" marB="27432" anchor="ctr">
                    <a:solidFill>
                      <a:srgbClr val="1F4E79"/>
                    </a:solidFill>
                  </a:tcPr>
                </a:tc>
                <a:tc>
                  <a:txBody>
                    <a:bodyPr wrap="square"/>
                    <a:lstStyle/>
                    <a:p>
                      <a:pPr algn="ctr"/>
                      <a:r>
                        <a:rPr sz="1400" b="1">
                          <a:solidFill>
                            <a:srgbClr val="FFFFFF"/>
                          </a:solidFill>
                          <a:latin typeface="Calibri"/>
                        </a:rPr>
                        <a:t>Recall</a:t>
                      </a:r>
                    </a:p>
                  </a:txBody>
                  <a:tcPr marL="73152" marR="73152" marT="27432" marB="27432" anchor="ctr">
                    <a:solidFill>
                      <a:srgbClr val="1F4E79"/>
                    </a:solidFill>
                  </a:tcPr>
                </a:tc>
                <a:tc>
                  <a:txBody>
                    <a:bodyPr wrap="square"/>
                    <a:lstStyle/>
                    <a:p>
                      <a:pPr algn="ctr"/>
                      <a:r>
                        <a:rPr sz="1400" b="1">
                          <a:solidFill>
                            <a:srgbClr val="FFFFFF"/>
                          </a:solidFill>
                          <a:latin typeface="Calibri"/>
                        </a:rPr>
                        <a:t>Lapsers in top 10%</a:t>
                      </a:r>
                    </a:p>
                  </a:txBody>
                  <a:tcPr marL="73152" marR="73152" marT="27432" marB="27432" anchor="ctr">
                    <a:solidFill>
                      <a:srgbClr val="1F4E79"/>
                    </a:solidFill>
                  </a:tcPr>
                </a:tc>
              </a:tr>
              <a:tr h="566928">
                <a:tc>
                  <a:txBody>
                    <a:bodyPr wrap="square"/>
                    <a:lstStyle/>
                    <a:p>
                      <a:r>
                        <a:rPr sz="1400" b="1">
                          <a:solidFill>
                            <a:srgbClr val="222222"/>
                          </a:solidFill>
                          <a:latin typeface="Calibri"/>
                        </a:rPr>
                        <a:t>Rule: longest since purchase</a:t>
                      </a:r>
                    </a:p>
                  </a:txBody>
                  <a:tcPr marL="73152" marR="73152" marT="27432" marB="27432" anchor="ctr">
                    <a:solidFill>
                      <a:srgbClr val="FFFFFF"/>
                    </a:solidFill>
                  </a:tcPr>
                </a:tc>
                <a:tc>
                  <a:txBody>
                    <a:bodyPr wrap="square"/>
                    <a:lstStyle/>
                    <a:p>
                      <a:pPr algn="ctr"/>
                      <a:r>
                        <a:rPr sz="1400" b="0">
                          <a:solidFill>
                            <a:srgbClr val="222222"/>
                          </a:solidFill>
                          <a:latin typeface="Calibri"/>
                        </a:rPr>
                        <a:t>0.607 ± 0.041</a:t>
                      </a:r>
                    </a:p>
                  </a:txBody>
                  <a:tcPr marL="73152" marR="73152" marT="27432" marB="27432" anchor="ctr">
                    <a:solidFill>
                      <a:srgbClr val="FFFFFF"/>
                    </a:solidFill>
                  </a:tcPr>
                </a:tc>
                <a:tc>
                  <a:txBody>
                    <a:bodyPr wrap="square"/>
                    <a:lstStyle/>
                    <a:p>
                      <a:pPr algn="ctr"/>
                      <a:r>
                        <a:rPr sz="1400" b="0">
                          <a:solidFill>
                            <a:srgbClr val="222222"/>
                          </a:solidFill>
                          <a:latin typeface="Calibri"/>
                        </a:rPr>
                        <a:t>0.417 ± 0.019</a:t>
                      </a:r>
                    </a:p>
                  </a:txBody>
                  <a:tcPr marL="73152" marR="73152" marT="27432" marB="27432" anchor="ctr">
                    <a:solidFill>
                      <a:srgbClr val="FFFFFF"/>
                    </a:solidFill>
                  </a:tcPr>
                </a:tc>
                <a:tc>
                  <a:txBody>
                    <a:bodyPr wrap="square"/>
                    <a:lstStyle/>
                    <a:p>
                      <a:pPr algn="ctr"/>
                      <a:r>
                        <a:rPr sz="1400" b="0">
                          <a:solidFill>
                            <a:srgbClr val="222222"/>
                          </a:solidFill>
                          <a:latin typeface="Calibri"/>
                        </a:rPr>
                        <a:t>0.478 ± 0.022</a:t>
                      </a:r>
                    </a:p>
                  </a:txBody>
                  <a:tcPr marL="73152" marR="73152" marT="27432" marB="27432" anchor="ctr">
                    <a:solidFill>
                      <a:srgbClr val="FFFFFF"/>
                    </a:solidFill>
                  </a:tcPr>
                </a:tc>
                <a:tc>
                  <a:txBody>
                    <a:bodyPr wrap="square"/>
                    <a:lstStyle/>
                    <a:p>
                      <a:pPr algn="ctr"/>
                      <a:r>
                        <a:rPr sz="1400" b="0">
                          <a:solidFill>
                            <a:srgbClr val="222222"/>
                          </a:solidFill>
                          <a:latin typeface="Calibri"/>
                        </a:rPr>
                        <a:t>0.318 ± 0.020</a:t>
                      </a:r>
                    </a:p>
                  </a:txBody>
                  <a:tcPr marL="73152" marR="73152" marT="27432" marB="27432" anchor="ctr">
                    <a:solidFill>
                      <a:srgbClr val="FFFFFF"/>
                    </a:solidFill>
                  </a:tcPr>
                </a:tc>
                <a:tc>
                  <a:txBody>
                    <a:bodyPr wrap="square"/>
                    <a:lstStyle/>
                    <a:p>
                      <a:pPr algn="ctr"/>
                      <a:r>
                        <a:rPr sz="1400" b="0">
                          <a:solidFill>
                            <a:srgbClr val="222222"/>
                          </a:solidFill>
                          <a:latin typeface="Calibri"/>
                        </a:rPr>
                        <a:t>0.964 ± 0.019</a:t>
                      </a:r>
                    </a:p>
                  </a:txBody>
                  <a:tcPr marL="73152" marR="73152" marT="27432" marB="27432" anchor="ctr">
                    <a:solidFill>
                      <a:srgbClr val="FFFFFF"/>
                    </a:solidFill>
                  </a:tcPr>
                </a:tc>
                <a:tc>
                  <a:txBody>
                    <a:bodyPr wrap="square"/>
                    <a:lstStyle/>
                    <a:p>
                      <a:pPr algn="ctr"/>
                      <a:r>
                        <a:rPr sz="1400" b="0">
                          <a:solidFill>
                            <a:srgbClr val="222222"/>
                          </a:solidFill>
                          <a:latin typeface="Calibri"/>
                        </a:rPr>
                        <a:t>0.162 ± 0.017</a:t>
                      </a:r>
                    </a:p>
                  </a:txBody>
                  <a:tcPr marL="73152" marR="73152" marT="27432" marB="27432" anchor="ctr">
                    <a:solidFill>
                      <a:srgbClr val="FFFFFF"/>
                    </a:solidFill>
                  </a:tcPr>
                </a:tc>
              </a:tr>
              <a:tr h="566928">
                <a:tc>
                  <a:txBody>
                    <a:bodyPr wrap="square"/>
                    <a:lstStyle/>
                    <a:p>
                      <a:r>
                        <a:rPr sz="1400" b="1">
                          <a:solidFill>
                            <a:srgbClr val="222222"/>
                          </a:solidFill>
                          <a:latin typeface="Calibri"/>
                        </a:rPr>
                        <a:t>Logistic regression</a:t>
                      </a:r>
                    </a:p>
                  </a:txBody>
                  <a:tcPr marL="73152" marR="73152" marT="27432" marB="27432" anchor="ctr">
                    <a:solidFill>
                      <a:srgbClr val="F2F5F8"/>
                    </a:solidFill>
                  </a:tcPr>
                </a:tc>
                <a:tc>
                  <a:txBody>
                    <a:bodyPr wrap="square"/>
                    <a:lstStyle/>
                    <a:p>
                      <a:pPr algn="ctr"/>
                      <a:r>
                        <a:rPr sz="1400" b="0">
                          <a:solidFill>
                            <a:srgbClr val="222222"/>
                          </a:solidFill>
                          <a:latin typeface="Calibri"/>
                        </a:rPr>
                        <a:t>0.775 ± 0.033</a:t>
                      </a:r>
                    </a:p>
                  </a:txBody>
                  <a:tcPr marL="73152" marR="73152" marT="27432" marB="27432" anchor="ctr">
                    <a:solidFill>
                      <a:srgbClr val="F2F5F8"/>
                    </a:solidFill>
                  </a:tcPr>
                </a:tc>
                <a:tc>
                  <a:txBody>
                    <a:bodyPr wrap="square"/>
                    <a:lstStyle/>
                    <a:p>
                      <a:pPr algn="ctr"/>
                      <a:r>
                        <a:rPr sz="1400" b="0">
                          <a:solidFill>
                            <a:srgbClr val="222222"/>
                          </a:solidFill>
                          <a:latin typeface="Calibri"/>
                        </a:rPr>
                        <a:t>0.575 ± 0.049</a:t>
                      </a:r>
                    </a:p>
                  </a:txBody>
                  <a:tcPr marL="73152" marR="73152" marT="27432" marB="27432" anchor="ctr">
                    <a:solidFill>
                      <a:srgbClr val="F2F5F8"/>
                    </a:solidFill>
                  </a:tcPr>
                </a:tc>
                <a:tc>
                  <a:txBody>
                    <a:bodyPr wrap="square"/>
                    <a:lstStyle/>
                    <a:p>
                      <a:pPr algn="ctr"/>
                      <a:r>
                        <a:rPr sz="1400" b="0">
                          <a:solidFill>
                            <a:srgbClr val="222222"/>
                          </a:solidFill>
                          <a:latin typeface="Calibri"/>
                        </a:rPr>
                        <a:t>0.608 ± 0.024</a:t>
                      </a:r>
                    </a:p>
                  </a:txBody>
                  <a:tcPr marL="73152" marR="73152" marT="27432" marB="27432" anchor="ctr">
                    <a:solidFill>
                      <a:srgbClr val="F2F5F8"/>
                    </a:solidFill>
                  </a:tcPr>
                </a:tc>
                <a:tc>
                  <a:txBody>
                    <a:bodyPr wrap="square"/>
                    <a:lstStyle/>
                    <a:p>
                      <a:pPr algn="ctr"/>
                      <a:r>
                        <a:rPr sz="1400" b="0">
                          <a:solidFill>
                            <a:srgbClr val="222222"/>
                          </a:solidFill>
                          <a:latin typeface="Calibri"/>
                        </a:rPr>
                        <a:t>0.459 ± 0.024</a:t>
                      </a:r>
                    </a:p>
                  </a:txBody>
                  <a:tcPr marL="73152" marR="73152" marT="27432" marB="27432" anchor="ctr">
                    <a:solidFill>
                      <a:srgbClr val="F2F5F8"/>
                    </a:solidFill>
                  </a:tcPr>
                </a:tc>
                <a:tc>
                  <a:txBody>
                    <a:bodyPr wrap="square"/>
                    <a:lstStyle/>
                    <a:p>
                      <a:pPr algn="ctr"/>
                      <a:r>
                        <a:rPr sz="1400" b="0">
                          <a:solidFill>
                            <a:srgbClr val="222222"/>
                          </a:solidFill>
                          <a:latin typeface="Calibri"/>
                        </a:rPr>
                        <a:t>0.903 ± 0.019</a:t>
                      </a:r>
                    </a:p>
                  </a:txBody>
                  <a:tcPr marL="73152" marR="73152" marT="27432" marB="27432" anchor="ctr">
                    <a:solidFill>
                      <a:srgbClr val="F2F5F8"/>
                    </a:solidFill>
                  </a:tcPr>
                </a:tc>
                <a:tc>
                  <a:txBody>
                    <a:bodyPr wrap="square"/>
                    <a:lstStyle/>
                    <a:p>
                      <a:pPr algn="ctr"/>
                      <a:r>
                        <a:rPr sz="1400" b="0">
                          <a:solidFill>
                            <a:srgbClr val="222222"/>
                          </a:solidFill>
                          <a:latin typeface="Calibri"/>
                        </a:rPr>
                        <a:t>0.197 ± 0.021</a:t>
                      </a:r>
                    </a:p>
                  </a:txBody>
                  <a:tcPr marL="73152" marR="73152" marT="27432" marB="27432" anchor="ctr">
                    <a:solidFill>
                      <a:srgbClr val="F2F5F8"/>
                    </a:solidFill>
                  </a:tcPr>
                </a:tc>
              </a:tr>
              <a:tr h="566928">
                <a:tc>
                  <a:txBody>
                    <a:bodyPr wrap="square"/>
                    <a:lstStyle/>
                    <a:p>
                      <a:r>
                        <a:rPr sz="1400" b="1">
                          <a:solidFill>
                            <a:srgbClr val="222222"/>
                          </a:solidFill>
                          <a:latin typeface="Calibri"/>
                        </a:rPr>
                        <a:t>Random Forest</a:t>
                      </a:r>
                    </a:p>
                  </a:txBody>
                  <a:tcPr marL="73152" marR="73152" marT="27432" marB="27432" anchor="ctr">
                    <a:solidFill>
                      <a:srgbClr val="FFFFFF"/>
                    </a:solidFill>
                  </a:tcPr>
                </a:tc>
                <a:tc>
                  <a:txBody>
                    <a:bodyPr wrap="square"/>
                    <a:lstStyle/>
                    <a:p>
                      <a:pPr algn="ctr"/>
                      <a:r>
                        <a:rPr sz="1400" b="0">
                          <a:solidFill>
                            <a:srgbClr val="222222"/>
                          </a:solidFill>
                          <a:latin typeface="Calibri"/>
                        </a:rPr>
                        <a:t>0.772 ± 0.022</a:t>
                      </a:r>
                    </a:p>
                  </a:txBody>
                  <a:tcPr marL="73152" marR="73152" marT="27432" marB="27432" anchor="ctr">
                    <a:solidFill>
                      <a:srgbClr val="FFFFFF"/>
                    </a:solidFill>
                  </a:tcPr>
                </a:tc>
                <a:tc>
                  <a:txBody>
                    <a:bodyPr wrap="square"/>
                    <a:lstStyle/>
                    <a:p>
                      <a:pPr algn="ctr"/>
                      <a:r>
                        <a:rPr sz="1400" b="0">
                          <a:solidFill>
                            <a:srgbClr val="222222"/>
                          </a:solidFill>
                          <a:latin typeface="Calibri"/>
                        </a:rPr>
                        <a:t>0.563 ± 0.035</a:t>
                      </a:r>
                    </a:p>
                  </a:txBody>
                  <a:tcPr marL="73152" marR="73152" marT="27432" marB="27432" anchor="ctr">
                    <a:solidFill>
                      <a:srgbClr val="FFFFFF"/>
                    </a:solidFill>
                  </a:tcPr>
                </a:tc>
                <a:tc>
                  <a:txBody>
                    <a:bodyPr wrap="square"/>
                    <a:lstStyle/>
                    <a:p>
                      <a:pPr algn="ctr"/>
                      <a:r>
                        <a:rPr sz="1400" b="0">
                          <a:solidFill>
                            <a:srgbClr val="222222"/>
                          </a:solidFill>
                          <a:latin typeface="Calibri"/>
                        </a:rPr>
                        <a:t>0.595 ± 0.017</a:t>
                      </a:r>
                    </a:p>
                  </a:txBody>
                  <a:tcPr marL="73152" marR="73152" marT="27432" marB="27432" anchor="ctr">
                    <a:solidFill>
                      <a:srgbClr val="FFFFFF"/>
                    </a:solidFill>
                  </a:tcPr>
                </a:tc>
                <a:tc>
                  <a:txBody>
                    <a:bodyPr wrap="square"/>
                    <a:lstStyle/>
                    <a:p>
                      <a:pPr algn="ctr"/>
                      <a:r>
                        <a:rPr sz="1400" b="0">
                          <a:solidFill>
                            <a:srgbClr val="222222"/>
                          </a:solidFill>
                          <a:latin typeface="Calibri"/>
                        </a:rPr>
                        <a:t>0.445 ± 0.018</a:t>
                      </a:r>
                    </a:p>
                  </a:txBody>
                  <a:tcPr marL="73152" marR="73152" marT="27432" marB="27432" anchor="ctr">
                    <a:solidFill>
                      <a:srgbClr val="FFFFFF"/>
                    </a:solidFill>
                  </a:tcPr>
                </a:tc>
                <a:tc>
                  <a:txBody>
                    <a:bodyPr wrap="square"/>
                    <a:lstStyle/>
                    <a:p>
                      <a:pPr algn="ctr"/>
                      <a:r>
                        <a:rPr sz="1400" b="0">
                          <a:solidFill>
                            <a:srgbClr val="222222"/>
                          </a:solidFill>
                          <a:latin typeface="Calibri"/>
                        </a:rPr>
                        <a:t>0.901 ± 0.030</a:t>
                      </a:r>
                    </a:p>
                  </a:txBody>
                  <a:tcPr marL="73152" marR="73152" marT="27432" marB="27432" anchor="ctr">
                    <a:solidFill>
                      <a:srgbClr val="FFFFFF"/>
                    </a:solidFill>
                  </a:tcPr>
                </a:tc>
                <a:tc>
                  <a:txBody>
                    <a:bodyPr wrap="square"/>
                    <a:lstStyle/>
                    <a:p>
                      <a:pPr algn="ctr"/>
                      <a:r>
                        <a:rPr sz="1400" b="0">
                          <a:solidFill>
                            <a:srgbClr val="222222"/>
                          </a:solidFill>
                          <a:latin typeface="Calibri"/>
                        </a:rPr>
                        <a:t>0.201 ± 0.025</a:t>
                      </a:r>
                    </a:p>
                  </a:txBody>
                  <a:tcPr marL="73152" marR="73152" marT="27432" marB="27432" anchor="ctr">
                    <a:solidFill>
                      <a:srgbClr val="FFFFFF"/>
                    </a:solidFill>
                  </a:tcPr>
                </a:tc>
              </a:tr>
              <a:tr h="566928">
                <a:tc>
                  <a:txBody>
                    <a:bodyPr wrap="square"/>
                    <a:lstStyle/>
                    <a:p>
                      <a:r>
                        <a:rPr sz="1400" b="1">
                          <a:solidFill>
                            <a:srgbClr val="222222"/>
                          </a:solidFill>
                          <a:latin typeface="Calibri"/>
                        </a:rPr>
                        <a:t>Ridge, basic</a:t>
                      </a:r>
                    </a:p>
                  </a:txBody>
                  <a:tcPr marL="73152" marR="73152" marT="27432" marB="27432" anchor="ctr">
                    <a:solidFill>
                      <a:srgbClr val="F2F5F8"/>
                    </a:solidFill>
                  </a:tcPr>
                </a:tc>
                <a:tc>
                  <a:txBody>
                    <a:bodyPr wrap="square"/>
                    <a:lstStyle/>
                    <a:p>
                      <a:pPr algn="ctr"/>
                      <a:r>
                        <a:rPr sz="1400" b="0">
                          <a:solidFill>
                            <a:srgbClr val="222222"/>
                          </a:solidFill>
                          <a:latin typeface="Calibri"/>
                        </a:rPr>
                        <a:t>0.750 ± 0.033</a:t>
                      </a:r>
                    </a:p>
                  </a:txBody>
                  <a:tcPr marL="73152" marR="73152" marT="27432" marB="27432" anchor="ctr">
                    <a:solidFill>
                      <a:srgbClr val="F2F5F8"/>
                    </a:solidFill>
                  </a:tcPr>
                </a:tc>
                <a:tc>
                  <a:txBody>
                    <a:bodyPr wrap="square"/>
                    <a:lstStyle/>
                    <a:p>
                      <a:pPr algn="ctr"/>
                      <a:r>
                        <a:rPr sz="1400" b="0">
                          <a:solidFill>
                            <a:srgbClr val="222222"/>
                          </a:solidFill>
                          <a:latin typeface="Calibri"/>
                        </a:rPr>
                        <a:t>0.547 ± 0.041</a:t>
                      </a:r>
                    </a:p>
                  </a:txBody>
                  <a:tcPr marL="73152" marR="73152" marT="27432" marB="27432" anchor="ctr">
                    <a:solidFill>
                      <a:srgbClr val="F2F5F8"/>
                    </a:solidFill>
                  </a:tcPr>
                </a:tc>
                <a:tc>
                  <a:txBody>
                    <a:bodyPr wrap="square"/>
                    <a:lstStyle/>
                    <a:p>
                      <a:pPr algn="ctr"/>
                      <a:r>
                        <a:rPr sz="1400" b="0">
                          <a:solidFill>
                            <a:srgbClr val="222222"/>
                          </a:solidFill>
                          <a:latin typeface="Calibri"/>
                        </a:rPr>
                        <a:t>0.593 ± 0.032</a:t>
                      </a:r>
                    </a:p>
                  </a:txBody>
                  <a:tcPr marL="73152" marR="73152" marT="27432" marB="27432" anchor="ctr">
                    <a:solidFill>
                      <a:srgbClr val="F2F5F8"/>
                    </a:solidFill>
                  </a:tcPr>
                </a:tc>
                <a:tc>
                  <a:txBody>
                    <a:bodyPr wrap="square"/>
                    <a:lstStyle/>
                    <a:p>
                      <a:pPr algn="ctr"/>
                      <a:r>
                        <a:rPr sz="1400" b="0">
                          <a:solidFill>
                            <a:srgbClr val="222222"/>
                          </a:solidFill>
                          <a:latin typeface="Calibri"/>
                        </a:rPr>
                        <a:t>0.476 ± 0.034</a:t>
                      </a:r>
                    </a:p>
                  </a:txBody>
                  <a:tcPr marL="73152" marR="73152" marT="27432" marB="27432" anchor="ctr">
                    <a:solidFill>
                      <a:srgbClr val="F2F5F8"/>
                    </a:solidFill>
                  </a:tcPr>
                </a:tc>
                <a:tc>
                  <a:txBody>
                    <a:bodyPr wrap="square"/>
                    <a:lstStyle/>
                    <a:p>
                      <a:pPr algn="ctr"/>
                      <a:r>
                        <a:rPr sz="1400" b="0">
                          <a:solidFill>
                            <a:srgbClr val="222222"/>
                          </a:solidFill>
                          <a:latin typeface="Calibri"/>
                        </a:rPr>
                        <a:t>0.788 ± 0.039</a:t>
                      </a:r>
                    </a:p>
                  </a:txBody>
                  <a:tcPr marL="73152" marR="73152" marT="27432" marB="27432" anchor="ctr">
                    <a:solidFill>
                      <a:srgbClr val="F2F5F8"/>
                    </a:solidFill>
                  </a:tcPr>
                </a:tc>
                <a:tc>
                  <a:txBody>
                    <a:bodyPr wrap="square"/>
                    <a:lstStyle/>
                    <a:p>
                      <a:pPr algn="ctr"/>
                      <a:r>
                        <a:rPr sz="1400" b="0">
                          <a:solidFill>
                            <a:srgbClr val="222222"/>
                          </a:solidFill>
                          <a:latin typeface="Calibri"/>
                        </a:rPr>
                        <a:t>0.187 ± 0.039</a:t>
                      </a:r>
                    </a:p>
                  </a:txBody>
                  <a:tcPr marL="73152" marR="73152" marT="27432" marB="27432" anchor="ctr">
                    <a:solidFill>
                      <a:srgbClr val="F2F5F8"/>
                    </a:solidFill>
                  </a:tcPr>
                </a:tc>
              </a:tr>
              <a:tr h="566928">
                <a:tc>
                  <a:txBody>
                    <a:bodyPr wrap="square"/>
                    <a:lstStyle/>
                    <a:p>
                      <a:r>
                        <a:rPr sz="1400" b="1">
                          <a:solidFill>
                            <a:srgbClr val="222222"/>
                          </a:solidFill>
                          <a:latin typeface="Calibri"/>
                        </a:rPr>
                        <a:t>Ridge</a:t>
                      </a:r>
                    </a:p>
                  </a:txBody>
                  <a:tcPr marL="73152" marR="73152" marT="27432" marB="27432" anchor="ctr">
                    <a:solidFill>
                      <a:srgbClr val="FFFFFF"/>
                    </a:solidFill>
                  </a:tcPr>
                </a:tc>
                <a:tc>
                  <a:txBody>
                    <a:bodyPr wrap="square"/>
                    <a:lstStyle/>
                    <a:p>
                      <a:pPr algn="ctr"/>
                      <a:r>
                        <a:rPr sz="1400" b="0">
                          <a:solidFill>
                            <a:srgbClr val="222222"/>
                          </a:solidFill>
                          <a:latin typeface="Calibri"/>
                        </a:rPr>
                        <a:t>0.777 ± 0.032</a:t>
                      </a:r>
                    </a:p>
                  </a:txBody>
                  <a:tcPr marL="73152" marR="73152" marT="27432" marB="27432" anchor="ctr">
                    <a:solidFill>
                      <a:srgbClr val="FFFFFF"/>
                    </a:solidFill>
                  </a:tcPr>
                </a:tc>
                <a:tc>
                  <a:txBody>
                    <a:bodyPr wrap="square"/>
                    <a:lstStyle/>
                    <a:p>
                      <a:pPr algn="ctr"/>
                      <a:r>
                        <a:rPr sz="1400" b="0">
                          <a:solidFill>
                            <a:srgbClr val="222222"/>
                          </a:solidFill>
                          <a:latin typeface="Calibri"/>
                        </a:rPr>
                        <a:t>0.578 ± 0.048</a:t>
                      </a:r>
                    </a:p>
                  </a:txBody>
                  <a:tcPr marL="73152" marR="73152" marT="27432" marB="27432" anchor="ctr">
                    <a:solidFill>
                      <a:srgbClr val="FFFFFF"/>
                    </a:solidFill>
                  </a:tcPr>
                </a:tc>
                <a:tc>
                  <a:txBody>
                    <a:bodyPr wrap="square"/>
                    <a:lstStyle/>
                    <a:p>
                      <a:pPr algn="ctr"/>
                      <a:r>
                        <a:rPr sz="1400" b="0">
                          <a:solidFill>
                            <a:srgbClr val="222222"/>
                          </a:solidFill>
                          <a:latin typeface="Calibri"/>
                        </a:rPr>
                        <a:t>0.609 ± 0.032</a:t>
                      </a:r>
                    </a:p>
                  </a:txBody>
                  <a:tcPr marL="73152" marR="73152" marT="27432" marB="27432" anchor="ctr">
                    <a:solidFill>
                      <a:srgbClr val="FFFFFF"/>
                    </a:solidFill>
                  </a:tcPr>
                </a:tc>
                <a:tc>
                  <a:txBody>
                    <a:bodyPr wrap="square"/>
                    <a:lstStyle/>
                    <a:p>
                      <a:pPr algn="ctr"/>
                      <a:r>
                        <a:rPr sz="1400" b="0">
                          <a:solidFill>
                            <a:srgbClr val="222222"/>
                          </a:solidFill>
                          <a:latin typeface="Calibri"/>
                        </a:rPr>
                        <a:t>0.465 ± 0.035</a:t>
                      </a:r>
                    </a:p>
                  </a:txBody>
                  <a:tcPr marL="73152" marR="73152" marT="27432" marB="27432" anchor="ctr">
                    <a:solidFill>
                      <a:srgbClr val="FFFFFF"/>
                    </a:solidFill>
                  </a:tcPr>
                </a:tc>
                <a:tc>
                  <a:txBody>
                    <a:bodyPr wrap="square"/>
                    <a:lstStyle/>
                    <a:p>
                      <a:pPr algn="ctr"/>
                      <a:r>
                        <a:rPr sz="1400" b="0">
                          <a:solidFill>
                            <a:srgbClr val="222222"/>
                          </a:solidFill>
                          <a:latin typeface="Calibri"/>
                        </a:rPr>
                        <a:t>0.885 ± 0.020</a:t>
                      </a:r>
                    </a:p>
                  </a:txBody>
                  <a:tcPr marL="73152" marR="73152" marT="27432" marB="27432" anchor="ctr">
                    <a:solidFill>
                      <a:srgbClr val="FFFFFF"/>
                    </a:solidFill>
                  </a:tcPr>
                </a:tc>
                <a:tc>
                  <a:txBody>
                    <a:bodyPr wrap="square"/>
                    <a:lstStyle/>
                    <a:p>
                      <a:pPr algn="ctr"/>
                      <a:r>
                        <a:rPr sz="1400" b="0">
                          <a:solidFill>
                            <a:srgbClr val="222222"/>
                          </a:solidFill>
                          <a:latin typeface="Calibri"/>
                        </a:rPr>
                        <a:t>0.202 ± 0.020</a:t>
                      </a:r>
                    </a:p>
                  </a:txBody>
                  <a:tcPr marL="73152" marR="73152" marT="27432" marB="27432" anchor="ctr">
                    <a:solidFill>
                      <a:srgbClr val="FFFFFF"/>
                    </a:solidFill>
                  </a:tcPr>
                </a:tc>
              </a:tr>
              <a:tr h="566928">
                <a:tc>
                  <a:txBody>
                    <a:bodyPr wrap="square"/>
                    <a:lstStyle/>
                    <a:p>
                      <a:r>
                        <a:rPr sz="1400" b="1">
                          <a:solidFill>
                            <a:srgbClr val="222222"/>
                          </a:solidFill>
                          <a:latin typeface="Calibri"/>
                        </a:rPr>
                        <a:t>XGBoost, basic</a:t>
                      </a:r>
                    </a:p>
                  </a:txBody>
                  <a:tcPr marL="73152" marR="73152" marT="27432" marB="27432" anchor="ctr">
                    <a:solidFill>
                      <a:srgbClr val="F2F5F8"/>
                    </a:solidFill>
                  </a:tcPr>
                </a:tc>
                <a:tc>
                  <a:txBody>
                    <a:bodyPr wrap="square"/>
                    <a:lstStyle/>
                    <a:p>
                      <a:pPr algn="ctr"/>
                      <a:r>
                        <a:rPr sz="1400" b="0">
                          <a:solidFill>
                            <a:srgbClr val="222222"/>
                          </a:solidFill>
                          <a:latin typeface="Calibri"/>
                        </a:rPr>
                        <a:t>0.749 ± 0.031</a:t>
                      </a:r>
                    </a:p>
                  </a:txBody>
                  <a:tcPr marL="73152" marR="73152" marT="27432" marB="27432" anchor="ctr">
                    <a:solidFill>
                      <a:srgbClr val="F2F5F8"/>
                    </a:solidFill>
                  </a:tcPr>
                </a:tc>
                <a:tc>
                  <a:txBody>
                    <a:bodyPr wrap="square"/>
                    <a:lstStyle/>
                    <a:p>
                      <a:pPr algn="ctr"/>
                      <a:r>
                        <a:rPr sz="1400" b="0">
                          <a:solidFill>
                            <a:srgbClr val="222222"/>
                          </a:solidFill>
                          <a:latin typeface="Calibri"/>
                        </a:rPr>
                        <a:t>0.529 ± 0.042</a:t>
                      </a:r>
                    </a:p>
                  </a:txBody>
                  <a:tcPr marL="73152" marR="73152" marT="27432" marB="27432" anchor="ctr">
                    <a:solidFill>
                      <a:srgbClr val="F2F5F8"/>
                    </a:solidFill>
                  </a:tcPr>
                </a:tc>
                <a:tc>
                  <a:txBody>
                    <a:bodyPr wrap="square"/>
                    <a:lstStyle/>
                    <a:p>
                      <a:pPr algn="ctr"/>
                      <a:r>
                        <a:rPr sz="1400" b="0">
                          <a:solidFill>
                            <a:srgbClr val="222222"/>
                          </a:solidFill>
                          <a:latin typeface="Calibri"/>
                        </a:rPr>
                        <a:t>0.590 ± 0.041</a:t>
                      </a:r>
                    </a:p>
                  </a:txBody>
                  <a:tcPr marL="73152" marR="73152" marT="27432" marB="27432" anchor="ctr">
                    <a:solidFill>
                      <a:srgbClr val="F2F5F8"/>
                    </a:solidFill>
                  </a:tcPr>
                </a:tc>
                <a:tc>
                  <a:txBody>
                    <a:bodyPr wrap="square"/>
                    <a:lstStyle/>
                    <a:p>
                      <a:pPr algn="ctr"/>
                      <a:r>
                        <a:rPr sz="1400" b="0">
                          <a:solidFill>
                            <a:srgbClr val="222222"/>
                          </a:solidFill>
                          <a:latin typeface="Calibri"/>
                        </a:rPr>
                        <a:t>0.491 ± 0.039</a:t>
                      </a:r>
                    </a:p>
                  </a:txBody>
                  <a:tcPr marL="73152" marR="73152" marT="27432" marB="27432" anchor="ctr">
                    <a:solidFill>
                      <a:srgbClr val="F2F5F8"/>
                    </a:solidFill>
                  </a:tcPr>
                </a:tc>
                <a:tc>
                  <a:txBody>
                    <a:bodyPr wrap="square"/>
                    <a:lstStyle/>
                    <a:p>
                      <a:pPr algn="ctr"/>
                      <a:r>
                        <a:rPr sz="1400" b="0">
                          <a:solidFill>
                            <a:srgbClr val="222222"/>
                          </a:solidFill>
                          <a:latin typeface="Calibri"/>
                        </a:rPr>
                        <a:t>0.741 ± 0.060</a:t>
                      </a:r>
                    </a:p>
                  </a:txBody>
                  <a:tcPr marL="73152" marR="73152" marT="27432" marB="27432" anchor="ctr">
                    <a:solidFill>
                      <a:srgbClr val="F2F5F8"/>
                    </a:solidFill>
                  </a:tcPr>
                </a:tc>
                <a:tc>
                  <a:txBody>
                    <a:bodyPr wrap="square"/>
                    <a:lstStyle/>
                    <a:p>
                      <a:pPr algn="ctr"/>
                      <a:r>
                        <a:rPr sz="1400" b="0">
                          <a:solidFill>
                            <a:srgbClr val="222222"/>
                          </a:solidFill>
                          <a:latin typeface="Calibri"/>
                        </a:rPr>
                        <a:t>0.178 ± 0.037</a:t>
                      </a:r>
                    </a:p>
                  </a:txBody>
                  <a:tcPr marL="73152" marR="73152" marT="27432" marB="27432" anchor="ctr">
                    <a:solidFill>
                      <a:srgbClr val="F2F5F8"/>
                    </a:solidFill>
                  </a:tcPr>
                </a:tc>
              </a:tr>
              <a:tr h="566928">
                <a:tc>
                  <a:txBody>
                    <a:bodyPr wrap="square"/>
                    <a:lstStyle/>
                    <a:p>
                      <a:r>
                        <a:rPr sz="1400" b="1">
                          <a:solidFill>
                            <a:srgbClr val="222222"/>
                          </a:solidFill>
                          <a:latin typeface="Calibri"/>
                        </a:rPr>
                        <a:t>XGBoost</a:t>
                      </a:r>
                    </a:p>
                  </a:txBody>
                  <a:tcPr marL="73152" marR="73152" marT="27432" marB="27432" anchor="ctr">
                    <a:solidFill>
                      <a:srgbClr val="FFFFFF"/>
                    </a:solidFill>
                  </a:tcPr>
                </a:tc>
                <a:tc>
                  <a:txBody>
                    <a:bodyPr wrap="square"/>
                    <a:lstStyle/>
                    <a:p>
                      <a:pPr algn="ctr"/>
                      <a:r>
                        <a:rPr sz="1400" b="0">
                          <a:solidFill>
                            <a:srgbClr val="222222"/>
                          </a:solidFill>
                          <a:latin typeface="Calibri"/>
                        </a:rPr>
                        <a:t>0.775 ± 0.029</a:t>
                      </a:r>
                    </a:p>
                  </a:txBody>
                  <a:tcPr marL="73152" marR="73152" marT="27432" marB="27432" anchor="ctr">
                    <a:solidFill>
                      <a:srgbClr val="FFFFFF"/>
                    </a:solidFill>
                  </a:tcPr>
                </a:tc>
                <a:tc>
                  <a:txBody>
                    <a:bodyPr wrap="square"/>
                    <a:lstStyle/>
                    <a:p>
                      <a:pPr algn="ctr"/>
                      <a:r>
                        <a:rPr sz="1400" b="0">
                          <a:solidFill>
                            <a:srgbClr val="222222"/>
                          </a:solidFill>
                          <a:latin typeface="Calibri"/>
                        </a:rPr>
                        <a:t>0.580 ± 0.050</a:t>
                      </a:r>
                    </a:p>
                  </a:txBody>
                  <a:tcPr marL="73152" marR="73152" marT="27432" marB="27432" anchor="ctr">
                    <a:solidFill>
                      <a:srgbClr val="FFFFFF"/>
                    </a:solidFill>
                  </a:tcPr>
                </a:tc>
                <a:tc>
                  <a:txBody>
                    <a:bodyPr wrap="square"/>
                    <a:lstStyle/>
                    <a:p>
                      <a:pPr algn="ctr"/>
                      <a:r>
                        <a:rPr sz="1400" b="0">
                          <a:solidFill>
                            <a:srgbClr val="222222"/>
                          </a:solidFill>
                          <a:latin typeface="Calibri"/>
                        </a:rPr>
                        <a:t>0.609 ± 0.029</a:t>
                      </a:r>
                    </a:p>
                  </a:txBody>
                  <a:tcPr marL="73152" marR="73152" marT="27432" marB="27432" anchor="ctr">
                    <a:solidFill>
                      <a:srgbClr val="FFFFFF"/>
                    </a:solidFill>
                  </a:tcPr>
                </a:tc>
                <a:tc>
                  <a:txBody>
                    <a:bodyPr wrap="square"/>
                    <a:lstStyle/>
                    <a:p>
                      <a:pPr algn="ctr"/>
                      <a:r>
                        <a:rPr sz="1400" b="0">
                          <a:solidFill>
                            <a:srgbClr val="222222"/>
                          </a:solidFill>
                          <a:latin typeface="Calibri"/>
                        </a:rPr>
                        <a:t>0.462 ± 0.032</a:t>
                      </a:r>
                    </a:p>
                  </a:txBody>
                  <a:tcPr marL="73152" marR="73152" marT="27432" marB="27432" anchor="ctr">
                    <a:solidFill>
                      <a:srgbClr val="FFFFFF"/>
                    </a:solidFill>
                  </a:tcPr>
                </a:tc>
                <a:tc>
                  <a:txBody>
                    <a:bodyPr wrap="square"/>
                    <a:lstStyle/>
                    <a:p>
                      <a:pPr algn="ctr"/>
                      <a:r>
                        <a:rPr sz="1400" b="0">
                          <a:solidFill>
                            <a:srgbClr val="222222"/>
                          </a:solidFill>
                          <a:latin typeface="Calibri"/>
                        </a:rPr>
                        <a:t>0.895 ± 0.019</a:t>
                      </a:r>
                    </a:p>
                  </a:txBody>
                  <a:tcPr marL="73152" marR="73152" marT="27432" marB="27432" anchor="ctr">
                    <a:solidFill>
                      <a:srgbClr val="FFFFFF"/>
                    </a:solidFill>
                  </a:tcPr>
                </a:tc>
                <a:tc>
                  <a:txBody>
                    <a:bodyPr wrap="square"/>
                    <a:lstStyle/>
                    <a:p>
                      <a:pPr algn="ctr"/>
                      <a:r>
                        <a:rPr sz="1400" b="0">
                          <a:solidFill>
                            <a:srgbClr val="222222"/>
                          </a:solidFill>
                          <a:latin typeface="Calibri"/>
                        </a:rPr>
                        <a:t>0.200 ± 0.018</a:t>
                      </a:r>
                    </a:p>
                  </a:txBody>
                  <a:tcPr marL="73152" marR="73152" marT="27432" marB="27432"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Alerts at each model's own threshold</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42</a:t>
            </a:r>
          </a:p>
        </p:txBody>
      </p:sp>
      <p:pic>
        <p:nvPicPr>
          <p:cNvPr id="7" name="Picture 6" descr="s8_04_confusion_matrices.png"/>
          <p:cNvPicPr>
            <a:picLocks noChangeAspect="1"/>
          </p:cNvPicPr>
          <p:nvPr/>
        </p:nvPicPr>
        <p:blipFill>
          <a:blip r:embed="rId3"/>
          <a:stretch>
            <a:fillRect/>
          </a:stretch>
        </p:blipFill>
        <p:spPr>
          <a:xfrm>
            <a:off x="320040" y="1005840"/>
            <a:ext cx="11548872" cy="3197534"/>
          </a:xfrm>
          <a:prstGeom prst="rect">
            <a:avLst/>
          </a:prstGeom>
        </p:spPr>
      </p:pic>
      <p:sp>
        <p:nvSpPr>
          <p:cNvPr id="8" name="Oval 7"/>
          <p:cNvSpPr/>
          <p:nvPr/>
        </p:nvSpPr>
        <p:spPr>
          <a:xfrm>
            <a:off x="548640" y="4477694"/>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367966"/>
            <a:ext cx="10972800" cy="822960"/>
          </a:xfrm>
          <a:prstGeom prst="rect">
            <a:avLst/>
          </a:prstGeom>
          <a:noFill/>
        </p:spPr>
        <p:txBody>
          <a:bodyPr wrap="square" anchor="t" lIns="45720" rIns="45720">
            <a:spAutoFit/>
          </a:bodyPr>
          <a:lstStyle/>
          <a:p>
            <a:pPr algn="l"/>
            <a:r>
              <a:rPr sz="1800" b="0" i="0">
                <a:solidFill>
                  <a:srgbClr val="222222"/>
                </a:solidFill>
                <a:latin typeface="Calibri"/>
              </a:rPr>
              <a:t>XGBoost flags 59 of 2,000 machines and 54 are real failures, missing 14 of 68.</a:t>
            </a:r>
          </a:p>
        </p:txBody>
      </p:sp>
      <p:sp>
        <p:nvSpPr>
          <p:cNvPr id="10" name="Oval 9"/>
          <p:cNvSpPr/>
          <p:nvPr/>
        </p:nvSpPr>
        <p:spPr>
          <a:xfrm>
            <a:off x="548640" y="5008046"/>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898318"/>
            <a:ext cx="10972800" cy="822960"/>
          </a:xfrm>
          <a:prstGeom prst="rect">
            <a:avLst/>
          </a:prstGeom>
          <a:noFill/>
        </p:spPr>
        <p:txBody>
          <a:bodyPr wrap="square" anchor="t" lIns="45720" rIns="45720">
            <a:spAutoFit/>
          </a:bodyPr>
          <a:lstStyle/>
          <a:p>
            <a:pPr algn="l"/>
            <a:r>
              <a:rPr sz="1800" b="0" i="0">
                <a:solidFill>
                  <a:srgbClr val="222222"/>
                </a:solidFill>
                <a:latin typeface="Calibri"/>
              </a:rPr>
              <a:t>Ridge catches only 28.</a:t>
            </a:r>
          </a:p>
        </p:txBody>
      </p:sp>
      <p:sp>
        <p:nvSpPr>
          <p:cNvPr id="12" name="Oval 11"/>
          <p:cNvSpPr/>
          <p:nvPr/>
        </p:nvSpPr>
        <p:spPr>
          <a:xfrm>
            <a:off x="548640" y="5538398"/>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428670"/>
            <a:ext cx="10972800" cy="822960"/>
          </a:xfrm>
          <a:prstGeom prst="rect">
            <a:avLst/>
          </a:prstGeom>
          <a:noFill/>
        </p:spPr>
        <p:txBody>
          <a:bodyPr wrap="square" anchor="t" lIns="45720" rIns="45720">
            <a:spAutoFit/>
          </a:bodyPr>
          <a:lstStyle/>
          <a:p>
            <a:pPr algn="l"/>
            <a:r>
              <a:rPr sz="1800" b="0" i="0">
                <a:solidFill>
                  <a:srgbClr val="222222"/>
                </a:solidFill>
                <a:latin typeface="Calibri"/>
              </a:rPr>
              <a:t>For churn the lists are long, because the F1 threshold favours recall when lapsing is common.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Do the probabilities mean what they say?</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43</a:t>
            </a:r>
          </a:p>
        </p:txBody>
      </p:sp>
      <p:pic>
        <p:nvPicPr>
          <p:cNvPr id="7" name="Picture 6" descr="s8_05_calibration.png"/>
          <p:cNvPicPr>
            <a:picLocks noChangeAspect="1"/>
          </p:cNvPicPr>
          <p:nvPr/>
        </p:nvPicPr>
        <p:blipFill>
          <a:blip r:embed="rId3"/>
          <a:stretch>
            <a:fillRect/>
          </a:stretch>
        </p:blipFill>
        <p:spPr>
          <a:xfrm>
            <a:off x="320040" y="1421268"/>
            <a:ext cx="11548872" cy="4609823"/>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Spread over the five seeds</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44</a:t>
            </a:r>
          </a:p>
        </p:txBody>
      </p:sp>
      <p:pic>
        <p:nvPicPr>
          <p:cNvPr id="7" name="Picture 6" descr="s8_06_seed_variability.png"/>
          <p:cNvPicPr>
            <a:picLocks noChangeAspect="1"/>
          </p:cNvPicPr>
          <p:nvPr/>
        </p:nvPicPr>
        <p:blipFill>
          <a:blip r:embed="rId3"/>
          <a:stretch>
            <a:fillRect/>
          </a:stretch>
        </p:blipFill>
        <p:spPr>
          <a:xfrm>
            <a:off x="320039" y="1005839"/>
            <a:ext cx="11548872" cy="3473017"/>
          </a:xfrm>
          <a:prstGeom prst="rect">
            <a:avLst/>
          </a:prstGeom>
        </p:spPr>
      </p:pic>
      <p:sp>
        <p:nvSpPr>
          <p:cNvPr id="8" name="Oval 7"/>
          <p:cNvSpPr/>
          <p:nvPr/>
        </p:nvSpPr>
        <p:spPr>
          <a:xfrm>
            <a:off x="548640" y="4753177"/>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643449"/>
            <a:ext cx="10972800" cy="822960"/>
          </a:xfrm>
          <a:prstGeom prst="rect">
            <a:avLst/>
          </a:prstGeom>
          <a:noFill/>
        </p:spPr>
        <p:txBody>
          <a:bodyPr wrap="square" anchor="t" lIns="45720" rIns="45720">
            <a:spAutoFit/>
          </a:bodyPr>
          <a:lstStyle/>
          <a:p>
            <a:pPr algn="l"/>
            <a:r>
              <a:rPr sz="1600" b="0" i="0">
                <a:solidFill>
                  <a:srgbClr val="222222"/>
                </a:solidFill>
                <a:latin typeface="Calibri"/>
              </a:rPr>
              <a:t>Demand barely moves.</a:t>
            </a:r>
          </a:p>
        </p:txBody>
      </p:sp>
      <p:sp>
        <p:nvSpPr>
          <p:cNvPr id="10" name="Oval 9"/>
          <p:cNvSpPr/>
          <p:nvPr/>
        </p:nvSpPr>
        <p:spPr>
          <a:xfrm>
            <a:off x="548640" y="5219521"/>
            <a:ext cx="128016" cy="128016"/>
          </a:xfrm>
          <a:prstGeom prst="ellipse">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09793"/>
            <a:ext cx="10972800" cy="822960"/>
          </a:xfrm>
          <a:prstGeom prst="rect">
            <a:avLst/>
          </a:prstGeom>
          <a:noFill/>
        </p:spPr>
        <p:txBody>
          <a:bodyPr wrap="square" anchor="t" lIns="45720" rIns="45720">
            <a:spAutoFit/>
          </a:bodyPr>
          <a:lstStyle/>
          <a:p>
            <a:pPr algn="l"/>
            <a:r>
              <a:rPr sz="1600" b="0" i="0">
                <a:solidFill>
                  <a:srgbClr val="222222"/>
                </a:solidFill>
                <a:latin typeface="Calibri"/>
              </a:rPr>
              <a:t>Failure and especially churn vary because the test sets are small, which is why gaps below one standard deviation count as ties.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Where XGBoost helps and where it does not</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45</a:t>
            </a:r>
          </a:p>
        </p:txBody>
      </p:sp>
      <p:pic>
        <p:nvPicPr>
          <p:cNvPr id="7" name="Picture 6" descr="10_xgboost_vs_ridge.png"/>
          <p:cNvPicPr>
            <a:picLocks noChangeAspect="1"/>
          </p:cNvPicPr>
          <p:nvPr/>
        </p:nvPicPr>
        <p:blipFill>
          <a:blip r:embed="rId3"/>
          <a:stretch>
            <a:fillRect/>
          </a:stretch>
        </p:blipFill>
        <p:spPr>
          <a:xfrm>
            <a:off x="320040" y="1161503"/>
            <a:ext cx="11548872" cy="5129352"/>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Scoreboard: the rule of thumb against our models</a:t>
            </a:r>
          </a:p>
        </p:txBody>
      </p:sp>
      <p:sp>
        <p:nvSpPr>
          <p:cNvPr id="3" name="Rectangle 2"/>
          <p:cNvSpPr/>
          <p:nvPr/>
        </p:nvSpPr>
        <p:spPr>
          <a:xfrm>
            <a:off x="411480" y="868680"/>
            <a:ext cx="11384280" cy="45720"/>
          </a:xfrm>
          <a:prstGeom prst="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E07A1F"/>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8: Evaluation and tuning</a:t>
            </a:r>
          </a:p>
          <a:p>
            <a:pPr algn="ctr"/>
            <a:r>
              <a:rPr sz="1000">
                <a:solidFill>
                  <a:srgbClr val="FFFFFF"/>
                </a:solidFill>
                <a:latin typeface="Calibri"/>
              </a:rPr>
              <a:t>Animesh Basak</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46</a:t>
            </a:r>
          </a:p>
        </p:txBody>
      </p:sp>
      <p:graphicFrame>
        <p:nvGraphicFramePr>
          <p:cNvPr id="7" name="Table 6"/>
          <p:cNvGraphicFramePr>
            <a:graphicFrameLocks noGrp="1"/>
          </p:cNvGraphicFramePr>
          <p:nvPr/>
        </p:nvGraphicFramePr>
        <p:xfrm>
          <a:off x="365760" y="1097280"/>
          <a:ext cx="11429996" cy="4160520"/>
        </p:xfrm>
        <a:graphic>
          <a:graphicData uri="http://schemas.openxmlformats.org/drawingml/2006/table">
            <a:tbl>
              <a:tblPr firstRow="0" bandRow="0">
                <a:tableStyleId>{5C22544A-7EE6-4342-B048-85BDC9FD1C3A}</a:tableStyleId>
              </a:tblPr>
              <a:tblGrid>
                <a:gridCol w="2022230"/>
                <a:gridCol w="1846384"/>
                <a:gridCol w="1318846"/>
                <a:gridCol w="1582615"/>
                <a:gridCol w="967153"/>
                <a:gridCol w="1055076"/>
                <a:gridCol w="2637692"/>
              </a:tblGrid>
              <a:tr h="594360">
                <a:tc>
                  <a:txBody>
                    <a:bodyPr wrap="square"/>
                    <a:lstStyle/>
                    <a:p>
                      <a:r>
                        <a:rPr sz="1400" b="1">
                          <a:solidFill>
                            <a:srgbClr val="FFFFFF"/>
                          </a:solidFill>
                          <a:latin typeface="Calibri"/>
                        </a:rPr>
                        <a:t>Pillar</a:t>
                      </a:r>
                    </a:p>
                  </a:txBody>
                  <a:tcPr marL="73152" marR="73152" marT="27432" marB="27432" anchor="ctr">
                    <a:solidFill>
                      <a:srgbClr val="1F4E79"/>
                    </a:solidFill>
                  </a:tcPr>
                </a:tc>
                <a:tc>
                  <a:txBody>
                    <a:bodyPr wrap="square"/>
                    <a:lstStyle/>
                    <a:p>
                      <a:pPr algn="ctr"/>
                      <a:r>
                        <a:rPr sz="1400" b="1">
                          <a:solidFill>
                            <a:srgbClr val="FFFFFF"/>
                          </a:solidFill>
                          <a:latin typeface="Calibri"/>
                        </a:rPr>
                        <a:t>Measure</a:t>
                      </a:r>
                    </a:p>
                  </a:txBody>
                  <a:tcPr marL="73152" marR="73152" marT="27432" marB="27432" anchor="ctr">
                    <a:solidFill>
                      <a:srgbClr val="1F4E79"/>
                    </a:solidFill>
                  </a:tcPr>
                </a:tc>
                <a:tc>
                  <a:txBody>
                    <a:bodyPr wrap="square"/>
                    <a:lstStyle/>
                    <a:p>
                      <a:pPr algn="ctr"/>
                      <a:r>
                        <a:rPr sz="1400" b="1">
                          <a:solidFill>
                            <a:srgbClr val="FFFFFF"/>
                          </a:solidFill>
                          <a:latin typeface="Calibri"/>
                        </a:rPr>
                        <a:t>Rule of thumb</a:t>
                      </a:r>
                    </a:p>
                  </a:txBody>
                  <a:tcPr marL="73152" marR="73152" marT="27432" marB="27432" anchor="ctr">
                    <a:solidFill>
                      <a:srgbClr val="1F4E79"/>
                    </a:solidFill>
                  </a:tcPr>
                </a:tc>
                <a:tc>
                  <a:txBody>
                    <a:bodyPr wrap="square"/>
                    <a:lstStyle/>
                    <a:p>
                      <a:pPr algn="ctr"/>
                      <a:r>
                        <a:rPr sz="1400" b="1">
                          <a:solidFill>
                            <a:srgbClr val="FFFFFF"/>
                          </a:solidFill>
                          <a:latin typeface="Calibri"/>
                        </a:rPr>
                        <a:t>Statistical baseline</a:t>
                      </a:r>
                    </a:p>
                  </a:txBody>
                  <a:tcPr marL="73152" marR="73152" marT="27432" marB="27432" anchor="ctr">
                    <a:solidFill>
                      <a:srgbClr val="1F4E79"/>
                    </a:solidFill>
                  </a:tcPr>
                </a:tc>
                <a:tc>
                  <a:txBody>
                    <a:bodyPr wrap="square"/>
                    <a:lstStyle/>
                    <a:p>
                      <a:pPr algn="ctr"/>
                      <a:r>
                        <a:rPr sz="1400" b="1">
                          <a:solidFill>
                            <a:srgbClr val="FFFFFF"/>
                          </a:solidFill>
                          <a:latin typeface="Calibri"/>
                        </a:rPr>
                        <a:t>Ridge</a:t>
                      </a:r>
                    </a:p>
                  </a:txBody>
                  <a:tcPr marL="73152" marR="73152" marT="27432" marB="27432" anchor="ctr">
                    <a:solidFill>
                      <a:srgbClr val="1F4E79"/>
                    </a:solidFill>
                  </a:tcPr>
                </a:tc>
                <a:tc>
                  <a:txBody>
                    <a:bodyPr wrap="square"/>
                    <a:lstStyle/>
                    <a:p>
                      <a:pPr algn="ctr"/>
                      <a:r>
                        <a:rPr sz="1400" b="1">
                          <a:solidFill>
                            <a:srgbClr val="FFFFFF"/>
                          </a:solidFill>
                          <a:latin typeface="Calibri"/>
                        </a:rPr>
                        <a:t>XGBoost</a:t>
                      </a:r>
                    </a:p>
                  </a:txBody>
                  <a:tcPr marL="73152" marR="73152" marT="27432" marB="27432" anchor="ctr">
                    <a:solidFill>
                      <a:srgbClr val="1F4E79"/>
                    </a:solidFill>
                  </a:tcPr>
                </a:tc>
                <a:tc>
                  <a:txBody>
                    <a:bodyPr wrap="square"/>
                    <a:lstStyle/>
                    <a:p>
                      <a:pPr algn="ctr"/>
                      <a:r>
                        <a:rPr sz="1400" b="1">
                          <a:solidFill>
                            <a:srgbClr val="FFFFFF"/>
                          </a:solidFill>
                          <a:latin typeface="Calibri"/>
                        </a:rPr>
                        <a:t>Best result</a:t>
                      </a:r>
                    </a:p>
                  </a:txBody>
                  <a:tcPr marL="73152" marR="73152" marT="27432" marB="27432" anchor="ctr">
                    <a:solidFill>
                      <a:srgbClr val="1F4E79"/>
                    </a:solidFill>
                  </a:tcPr>
                </a:tc>
              </a:tr>
              <a:tr h="594360">
                <a:tc>
                  <a:txBody>
                    <a:bodyPr wrap="square"/>
                    <a:lstStyle/>
                    <a:p>
                      <a:r>
                        <a:rPr sz="1400" b="1">
                          <a:solidFill>
                            <a:srgbClr val="222222"/>
                          </a:solidFill>
                          <a:latin typeface="Calibri"/>
                        </a:rPr>
                        <a:t>Demand, forecast test</a:t>
                      </a:r>
                    </a:p>
                  </a:txBody>
                  <a:tcPr marL="73152" marR="73152" marT="27432" marB="27432" anchor="ctr">
                    <a:solidFill>
                      <a:srgbClr val="FFFFFF"/>
                    </a:solidFill>
                  </a:tcPr>
                </a:tc>
                <a:tc>
                  <a:txBody>
                    <a:bodyPr wrap="square"/>
                    <a:lstStyle/>
                    <a:p>
                      <a:pPr algn="ctr"/>
                      <a:r>
                        <a:rPr sz="1400" b="0">
                          <a:solidFill>
                            <a:srgbClr val="222222"/>
                          </a:solidFill>
                          <a:latin typeface="Calibri"/>
                        </a:rPr>
                        <a:t>Error in kW (lower)</a:t>
                      </a:r>
                    </a:p>
                  </a:txBody>
                  <a:tcPr marL="73152" marR="73152" marT="27432" marB="27432" anchor="ctr">
                    <a:solidFill>
                      <a:srgbClr val="FFFFFF"/>
                    </a:solidFill>
                  </a:tcPr>
                </a:tc>
                <a:tc>
                  <a:txBody>
                    <a:bodyPr wrap="square"/>
                    <a:lstStyle/>
                    <a:p>
                      <a:pPr algn="ctr"/>
                      <a:r>
                        <a:rPr sz="1400" b="0">
                          <a:solidFill>
                            <a:srgbClr val="222222"/>
                          </a:solidFill>
                          <a:latin typeface="Calibri"/>
                        </a:rPr>
                        <a:t>1.02</a:t>
                      </a:r>
                    </a:p>
                  </a:txBody>
                  <a:tcPr marL="73152" marR="73152" marT="27432" marB="27432" anchor="ctr">
                    <a:solidFill>
                      <a:srgbClr val="FFFFFF"/>
                    </a:solidFill>
                  </a:tcPr>
                </a:tc>
                <a:tc>
                  <a:txBody>
                    <a:bodyPr wrap="square"/>
                    <a:lstStyle/>
                    <a:p>
                      <a:pPr algn="ctr"/>
                      <a:r>
                        <a:rPr sz="1400" b="0">
                          <a:solidFill>
                            <a:srgbClr val="222222"/>
                          </a:solidFill>
                          <a:latin typeface="Calibri"/>
                        </a:rPr>
                        <a:t>0.101</a:t>
                      </a:r>
                    </a:p>
                  </a:txBody>
                  <a:tcPr marL="73152" marR="73152" marT="27432" marB="27432" anchor="ctr">
                    <a:solidFill>
                      <a:srgbClr val="FFFFFF"/>
                    </a:solidFill>
                  </a:tcPr>
                </a:tc>
                <a:tc>
                  <a:txBody>
                    <a:bodyPr wrap="square"/>
                    <a:lstStyle/>
                    <a:p>
                      <a:pPr algn="ctr"/>
                      <a:r>
                        <a:rPr sz="1400" b="0">
                          <a:solidFill>
                            <a:srgbClr val="222222"/>
                          </a:solidFill>
                          <a:latin typeface="Calibri"/>
                        </a:rPr>
                        <a:t>0.100</a:t>
                      </a:r>
                    </a:p>
                  </a:txBody>
                  <a:tcPr marL="73152" marR="73152" marT="27432" marB="27432" anchor="ctr">
                    <a:solidFill>
                      <a:srgbClr val="FFFFFF"/>
                    </a:solidFill>
                  </a:tcPr>
                </a:tc>
                <a:tc>
                  <a:txBody>
                    <a:bodyPr wrap="square"/>
                    <a:lstStyle/>
                    <a:p>
                      <a:pPr algn="ctr"/>
                      <a:r>
                        <a:rPr sz="1400" b="0">
                          <a:solidFill>
                            <a:srgbClr val="222222"/>
                          </a:solidFill>
                          <a:latin typeface="Calibri"/>
                        </a:rPr>
                        <a:t>0.076</a:t>
                      </a:r>
                    </a:p>
                  </a:txBody>
                  <a:tcPr marL="73152" marR="73152" marT="27432" marB="27432" anchor="ctr">
                    <a:solidFill>
                      <a:srgbClr val="FFFFFF"/>
                    </a:solidFill>
                  </a:tcPr>
                </a:tc>
                <a:tc>
                  <a:txBody>
                    <a:bodyPr wrap="square"/>
                    <a:lstStyle/>
                    <a:p>
                      <a:pPr algn="ctr"/>
                      <a:r>
                        <a:rPr sz="1400" b="0">
                          <a:solidFill>
                            <a:srgbClr val="222222"/>
                          </a:solidFill>
                          <a:latin typeface="Calibri"/>
                        </a:rPr>
                        <a:t>XGBoost</a:t>
                      </a:r>
                    </a:p>
                  </a:txBody>
                  <a:tcPr marL="73152" marR="73152" marT="27432" marB="27432" anchor="ctr">
                    <a:solidFill>
                      <a:srgbClr val="FFFFFF"/>
                    </a:solidFill>
                  </a:tcPr>
                </a:tc>
              </a:tr>
              <a:tr h="594360">
                <a:tc>
                  <a:txBody>
                    <a:bodyPr wrap="square"/>
                    <a:lstStyle/>
                    <a:p>
                      <a:r>
                        <a:rPr sz="1400" b="1">
                          <a:solidFill>
                            <a:srgbClr val="222222"/>
                          </a:solidFill>
                          <a:latin typeface="Calibri"/>
                        </a:rPr>
                        <a:t>Demand, heatwave</a:t>
                      </a:r>
                    </a:p>
                  </a:txBody>
                  <a:tcPr marL="73152" marR="73152" marT="27432" marB="27432" anchor="ctr">
                    <a:solidFill>
                      <a:srgbClr val="F2F5F8"/>
                    </a:solidFill>
                  </a:tcPr>
                </a:tc>
                <a:tc>
                  <a:txBody>
                    <a:bodyPr wrap="square"/>
                    <a:lstStyle/>
                    <a:p>
                      <a:pPr algn="ctr"/>
                      <a:r>
                        <a:rPr sz="1400" b="0">
                          <a:solidFill>
                            <a:srgbClr val="222222"/>
                          </a:solidFill>
                          <a:latin typeface="Calibri"/>
                        </a:rPr>
                        <a:t>Error in kW (lower)</a:t>
                      </a:r>
                    </a:p>
                  </a:txBody>
                  <a:tcPr marL="73152" marR="73152" marT="27432" marB="27432" anchor="ctr">
                    <a:solidFill>
                      <a:srgbClr val="F2F5F8"/>
                    </a:solidFill>
                  </a:tcPr>
                </a:tc>
                <a:tc>
                  <a:txBody>
                    <a:bodyPr wrap="square"/>
                    <a:lstStyle/>
                    <a:p>
                      <a:pPr algn="ctr"/>
                      <a:r>
                        <a:rPr sz="1400" b="0">
                          <a:solidFill>
                            <a:srgbClr val="222222"/>
                          </a:solidFill>
                          <a:latin typeface="Calibri"/>
                        </a:rPr>
                        <a:t>1.57</a:t>
                      </a:r>
                    </a:p>
                  </a:txBody>
                  <a:tcPr marL="73152" marR="73152" marT="27432" marB="27432" anchor="ctr">
                    <a:solidFill>
                      <a:srgbClr val="F2F5F8"/>
                    </a:solidFill>
                  </a:tcPr>
                </a:tc>
                <a:tc>
                  <a:txBody>
                    <a:bodyPr wrap="square"/>
                    <a:lstStyle/>
                    <a:p>
                      <a:pPr algn="ctr"/>
                      <a:r>
                        <a:rPr sz="1400" b="0">
                          <a:solidFill>
                            <a:srgbClr val="222222"/>
                          </a:solidFill>
                          <a:latin typeface="Calibri"/>
                        </a:rPr>
                        <a:t>0.077</a:t>
                      </a:r>
                    </a:p>
                  </a:txBody>
                  <a:tcPr marL="73152" marR="73152" marT="27432" marB="27432" anchor="ctr">
                    <a:solidFill>
                      <a:srgbClr val="F2F5F8"/>
                    </a:solidFill>
                  </a:tcPr>
                </a:tc>
                <a:tc>
                  <a:txBody>
                    <a:bodyPr wrap="square"/>
                    <a:lstStyle/>
                    <a:p>
                      <a:pPr algn="ctr"/>
                      <a:r>
                        <a:rPr sz="1400" b="0">
                          <a:solidFill>
                            <a:srgbClr val="222222"/>
                          </a:solidFill>
                          <a:latin typeface="Calibri"/>
                        </a:rPr>
                        <a:t>0.077</a:t>
                      </a:r>
                    </a:p>
                  </a:txBody>
                  <a:tcPr marL="73152" marR="73152" marT="27432" marB="27432" anchor="ctr">
                    <a:solidFill>
                      <a:srgbClr val="F2F5F8"/>
                    </a:solidFill>
                  </a:tcPr>
                </a:tc>
                <a:tc>
                  <a:txBody>
                    <a:bodyPr wrap="square"/>
                    <a:lstStyle/>
                    <a:p>
                      <a:pPr algn="ctr"/>
                      <a:r>
                        <a:rPr sz="1400" b="0">
                          <a:solidFill>
                            <a:srgbClr val="222222"/>
                          </a:solidFill>
                          <a:latin typeface="Calibri"/>
                        </a:rPr>
                        <a:t>0.336</a:t>
                      </a:r>
                    </a:p>
                  </a:txBody>
                  <a:tcPr marL="73152" marR="73152" marT="27432" marB="27432" anchor="ctr">
                    <a:solidFill>
                      <a:srgbClr val="F2F5F8"/>
                    </a:solidFill>
                  </a:tcPr>
                </a:tc>
                <a:tc>
                  <a:txBody>
                    <a:bodyPr wrap="square"/>
                    <a:lstStyle/>
                    <a:p>
                      <a:pPr algn="ctr"/>
                      <a:r>
                        <a:rPr sz="1400" b="0">
                          <a:solidFill>
                            <a:srgbClr val="222222"/>
                          </a:solidFill>
                          <a:latin typeface="Calibri"/>
                        </a:rPr>
                        <a:t>Linear models</a:t>
                      </a:r>
                    </a:p>
                  </a:txBody>
                  <a:tcPr marL="73152" marR="73152" marT="27432" marB="27432" anchor="ctr">
                    <a:solidFill>
                      <a:srgbClr val="F2F5F8"/>
                    </a:solidFill>
                  </a:tcPr>
                </a:tc>
              </a:tr>
              <a:tr h="594360">
                <a:tc>
                  <a:txBody>
                    <a:bodyPr wrap="square"/>
                    <a:lstStyle/>
                    <a:p>
                      <a:r>
                        <a:rPr sz="1400" b="1">
                          <a:solidFill>
                            <a:srgbClr val="222222"/>
                          </a:solidFill>
                          <a:latin typeface="Calibri"/>
                        </a:rPr>
                        <a:t>Failure</a:t>
                      </a:r>
                    </a:p>
                  </a:txBody>
                  <a:tcPr marL="73152" marR="73152" marT="27432" marB="27432" anchor="ctr">
                    <a:solidFill>
                      <a:srgbClr val="FFFFFF"/>
                    </a:solidFill>
                  </a:tcPr>
                </a:tc>
                <a:tc>
                  <a:txBody>
                    <a:bodyPr wrap="square"/>
                    <a:lstStyle/>
                    <a:p>
                      <a:pPr algn="ctr"/>
                      <a:r>
                        <a:rPr sz="1400" b="0">
                          <a:solidFill>
                            <a:srgbClr val="222222"/>
                          </a:solidFill>
                          <a:latin typeface="Calibri"/>
                        </a:rPr>
                        <a:t>PR-AUC (higher)</a:t>
                      </a:r>
                    </a:p>
                  </a:txBody>
                  <a:tcPr marL="73152" marR="73152" marT="27432" marB="27432" anchor="ctr">
                    <a:solidFill>
                      <a:srgbClr val="FFFFFF"/>
                    </a:solidFill>
                  </a:tcPr>
                </a:tc>
                <a:tc>
                  <a:txBody>
                    <a:bodyPr wrap="square"/>
                    <a:lstStyle/>
                    <a:p>
                      <a:pPr algn="ctr"/>
                      <a:r>
                        <a:rPr sz="1400" b="0">
                          <a:solidFill>
                            <a:srgbClr val="222222"/>
                          </a:solidFill>
                          <a:latin typeface="Calibri"/>
                        </a:rPr>
                        <a:t>0.123</a:t>
                      </a:r>
                    </a:p>
                  </a:txBody>
                  <a:tcPr marL="73152" marR="73152" marT="27432" marB="27432" anchor="ctr">
                    <a:solidFill>
                      <a:srgbClr val="FFFFFF"/>
                    </a:solidFill>
                  </a:tcPr>
                </a:tc>
                <a:tc>
                  <a:txBody>
                    <a:bodyPr wrap="square"/>
                    <a:lstStyle/>
                    <a:p>
                      <a:pPr algn="ctr"/>
                      <a:r>
                        <a:rPr sz="1400" b="0">
                          <a:solidFill>
                            <a:srgbClr val="222222"/>
                          </a:solidFill>
                          <a:latin typeface="Calibri"/>
                        </a:rPr>
                        <a:t>0.487</a:t>
                      </a:r>
                    </a:p>
                  </a:txBody>
                  <a:tcPr marL="73152" marR="73152" marT="27432" marB="27432" anchor="ctr">
                    <a:solidFill>
                      <a:srgbClr val="FFFFFF"/>
                    </a:solidFill>
                  </a:tcPr>
                </a:tc>
                <a:tc>
                  <a:txBody>
                    <a:bodyPr wrap="square"/>
                    <a:lstStyle/>
                    <a:p>
                      <a:pPr algn="ctr"/>
                      <a:r>
                        <a:rPr sz="1400" b="0">
                          <a:solidFill>
                            <a:srgbClr val="222222"/>
                          </a:solidFill>
                          <a:latin typeface="Calibri"/>
                        </a:rPr>
                        <a:t>0.492</a:t>
                      </a:r>
                    </a:p>
                  </a:txBody>
                  <a:tcPr marL="73152" marR="73152" marT="27432" marB="27432" anchor="ctr">
                    <a:solidFill>
                      <a:srgbClr val="FFFFFF"/>
                    </a:solidFill>
                  </a:tcPr>
                </a:tc>
                <a:tc>
                  <a:txBody>
                    <a:bodyPr wrap="square"/>
                    <a:lstStyle/>
                    <a:p>
                      <a:pPr algn="ctr"/>
                      <a:r>
                        <a:rPr sz="1400" b="0">
                          <a:solidFill>
                            <a:srgbClr val="222222"/>
                          </a:solidFill>
                          <a:latin typeface="Calibri"/>
                        </a:rPr>
                        <a:t>0.893</a:t>
                      </a:r>
                    </a:p>
                  </a:txBody>
                  <a:tcPr marL="73152" marR="73152" marT="27432" marB="27432" anchor="ctr">
                    <a:solidFill>
                      <a:srgbClr val="FFFFFF"/>
                    </a:solidFill>
                  </a:tcPr>
                </a:tc>
                <a:tc>
                  <a:txBody>
                    <a:bodyPr wrap="square"/>
                    <a:lstStyle/>
                    <a:p>
                      <a:r>
                        <a:rPr sz="1400" b="0">
                          <a:solidFill>
                            <a:srgbClr val="222222"/>
                          </a:solidFill>
                          <a:latin typeface="Calibri"/>
                        </a:rPr>
                        <a:t>Random Forest 0.912, XGBoost close</a:t>
                      </a:r>
                    </a:p>
                  </a:txBody>
                  <a:tcPr marL="73152" marR="73152" marT="27432" marB="27432" anchor="ctr">
                    <a:solidFill>
                      <a:srgbClr val="FFFFFF"/>
                    </a:solidFill>
                  </a:tcPr>
                </a:tc>
              </a:tr>
              <a:tr h="594360">
                <a:tc>
                  <a:txBody>
                    <a:bodyPr wrap="square"/>
                    <a:lstStyle/>
                    <a:p>
                      <a:r>
                        <a:rPr sz="1400" b="1">
                          <a:solidFill>
                            <a:srgbClr val="222222"/>
                          </a:solidFill>
                          <a:latin typeface="Calibri"/>
                        </a:rPr>
                        <a:t>Failure</a:t>
                      </a:r>
                    </a:p>
                  </a:txBody>
                  <a:tcPr marL="73152" marR="73152" marT="27432" marB="27432" anchor="ctr">
                    <a:solidFill>
                      <a:srgbClr val="F2F5F8"/>
                    </a:solidFill>
                  </a:tcPr>
                </a:tc>
                <a:tc>
                  <a:txBody>
                    <a:bodyPr wrap="square"/>
                    <a:lstStyle/>
                    <a:p>
                      <a:pPr algn="ctr"/>
                      <a:r>
                        <a:rPr sz="1400" b="0">
                          <a:solidFill>
                            <a:srgbClr val="222222"/>
                          </a:solidFill>
                          <a:latin typeface="Calibri"/>
                        </a:rPr>
                        <a:t>Failures in top 10%</a:t>
                      </a:r>
                    </a:p>
                  </a:txBody>
                  <a:tcPr marL="73152" marR="73152" marT="27432" marB="27432" anchor="ctr">
                    <a:solidFill>
                      <a:srgbClr val="F2F5F8"/>
                    </a:solidFill>
                  </a:tcPr>
                </a:tc>
                <a:tc>
                  <a:txBody>
                    <a:bodyPr wrap="square"/>
                    <a:lstStyle/>
                    <a:p>
                      <a:pPr algn="ctr"/>
                      <a:r>
                        <a:rPr sz="1400" b="0">
                          <a:solidFill>
                            <a:srgbClr val="222222"/>
                          </a:solidFill>
                          <a:latin typeface="Calibri"/>
                        </a:rPr>
                        <a:t>36%</a:t>
                      </a:r>
                    </a:p>
                  </a:txBody>
                  <a:tcPr marL="73152" marR="73152" marT="27432" marB="27432" anchor="ctr">
                    <a:solidFill>
                      <a:srgbClr val="F2F5F8"/>
                    </a:solidFill>
                  </a:tcPr>
                </a:tc>
                <a:tc>
                  <a:txBody>
                    <a:bodyPr wrap="square"/>
                    <a:lstStyle/>
                    <a:p>
                      <a:pPr algn="ctr"/>
                      <a:r>
                        <a:rPr sz="1400" b="0">
                          <a:solidFill>
                            <a:srgbClr val="222222"/>
                          </a:solidFill>
                          <a:latin typeface="Calibri"/>
                        </a:rPr>
                        <a:t>74%</a:t>
                      </a:r>
                    </a:p>
                  </a:txBody>
                  <a:tcPr marL="73152" marR="73152" marT="27432" marB="27432" anchor="ctr">
                    <a:solidFill>
                      <a:srgbClr val="F2F5F8"/>
                    </a:solidFill>
                  </a:tcPr>
                </a:tc>
                <a:tc>
                  <a:txBody>
                    <a:bodyPr wrap="square"/>
                    <a:lstStyle/>
                    <a:p>
                      <a:pPr algn="ctr"/>
                      <a:r>
                        <a:rPr sz="1400" b="0">
                          <a:solidFill>
                            <a:srgbClr val="222222"/>
                          </a:solidFill>
                          <a:latin typeface="Calibri"/>
                        </a:rPr>
                        <a:t>73%</a:t>
                      </a:r>
                    </a:p>
                  </a:txBody>
                  <a:tcPr marL="73152" marR="73152" marT="27432" marB="27432" anchor="ctr">
                    <a:solidFill>
                      <a:srgbClr val="F2F5F8"/>
                    </a:solidFill>
                  </a:tcPr>
                </a:tc>
                <a:tc>
                  <a:txBody>
                    <a:bodyPr wrap="square"/>
                    <a:lstStyle/>
                    <a:p>
                      <a:pPr algn="ctr"/>
                      <a:r>
                        <a:rPr sz="1400" b="0">
                          <a:solidFill>
                            <a:srgbClr val="222222"/>
                          </a:solidFill>
                          <a:latin typeface="Calibri"/>
                        </a:rPr>
                        <a:t>94%</a:t>
                      </a:r>
                    </a:p>
                  </a:txBody>
                  <a:tcPr marL="73152" marR="73152" marT="27432" marB="27432" anchor="ctr">
                    <a:solidFill>
                      <a:srgbClr val="F2F5F8"/>
                    </a:solidFill>
                  </a:tcPr>
                </a:tc>
                <a:tc>
                  <a:txBody>
                    <a:bodyPr wrap="square"/>
                    <a:lstStyle/>
                    <a:p>
                      <a:r>
                        <a:rPr sz="1400" b="0">
                          <a:solidFill>
                            <a:srgbClr val="222222"/>
                          </a:solidFill>
                          <a:latin typeface="Calibri"/>
                        </a:rPr>
                        <a:t>Random Forest and XGBoost</a:t>
                      </a:r>
                    </a:p>
                  </a:txBody>
                  <a:tcPr marL="73152" marR="73152" marT="27432" marB="27432" anchor="ctr">
                    <a:solidFill>
                      <a:srgbClr val="F2F5F8"/>
                    </a:solidFill>
                  </a:tcPr>
                </a:tc>
              </a:tr>
              <a:tr h="594360">
                <a:tc>
                  <a:txBody>
                    <a:bodyPr wrap="square"/>
                    <a:lstStyle/>
                    <a:p>
                      <a:r>
                        <a:rPr sz="1400" b="1">
                          <a:solidFill>
                            <a:srgbClr val="222222"/>
                          </a:solidFill>
                          <a:latin typeface="Calibri"/>
                        </a:rPr>
                        <a:t>Churn</a:t>
                      </a:r>
                    </a:p>
                  </a:txBody>
                  <a:tcPr marL="73152" marR="73152" marT="27432" marB="27432" anchor="ctr">
                    <a:solidFill>
                      <a:srgbClr val="FFFFFF"/>
                    </a:solidFill>
                  </a:tcPr>
                </a:tc>
                <a:tc>
                  <a:txBody>
                    <a:bodyPr wrap="square"/>
                    <a:lstStyle/>
                    <a:p>
                      <a:pPr algn="ctr"/>
                      <a:r>
                        <a:rPr sz="1400" b="0">
                          <a:solidFill>
                            <a:srgbClr val="222222"/>
                          </a:solidFill>
                          <a:latin typeface="Calibri"/>
                        </a:rPr>
                        <a:t>ROC-AUC (higher)</a:t>
                      </a:r>
                    </a:p>
                  </a:txBody>
                  <a:tcPr marL="73152" marR="73152" marT="27432" marB="27432" anchor="ctr">
                    <a:solidFill>
                      <a:srgbClr val="FFFFFF"/>
                    </a:solidFill>
                  </a:tcPr>
                </a:tc>
                <a:tc>
                  <a:txBody>
                    <a:bodyPr wrap="square"/>
                    <a:lstStyle/>
                    <a:p>
                      <a:pPr algn="ctr"/>
                      <a:r>
                        <a:rPr sz="1400" b="0">
                          <a:solidFill>
                            <a:srgbClr val="222222"/>
                          </a:solidFill>
                          <a:latin typeface="Calibri"/>
                        </a:rPr>
                        <a:t>0.607</a:t>
                      </a:r>
                    </a:p>
                  </a:txBody>
                  <a:tcPr marL="73152" marR="73152" marT="27432" marB="27432" anchor="ctr">
                    <a:solidFill>
                      <a:srgbClr val="FFFFFF"/>
                    </a:solidFill>
                  </a:tcPr>
                </a:tc>
                <a:tc>
                  <a:txBody>
                    <a:bodyPr wrap="square"/>
                    <a:lstStyle/>
                    <a:p>
                      <a:pPr algn="ctr"/>
                      <a:r>
                        <a:rPr sz="1400" b="0">
                          <a:solidFill>
                            <a:srgbClr val="222222"/>
                          </a:solidFill>
                          <a:latin typeface="Calibri"/>
                        </a:rPr>
                        <a:t>0.775</a:t>
                      </a:r>
                    </a:p>
                  </a:txBody>
                  <a:tcPr marL="73152" marR="73152" marT="27432" marB="27432" anchor="ctr">
                    <a:solidFill>
                      <a:srgbClr val="FFFFFF"/>
                    </a:solidFill>
                  </a:tcPr>
                </a:tc>
                <a:tc>
                  <a:txBody>
                    <a:bodyPr wrap="square"/>
                    <a:lstStyle/>
                    <a:p>
                      <a:pPr algn="ctr"/>
                      <a:r>
                        <a:rPr sz="1400" b="0">
                          <a:solidFill>
                            <a:srgbClr val="222222"/>
                          </a:solidFill>
                          <a:latin typeface="Calibri"/>
                        </a:rPr>
                        <a:t>0.777</a:t>
                      </a:r>
                    </a:p>
                  </a:txBody>
                  <a:tcPr marL="73152" marR="73152" marT="27432" marB="27432" anchor="ctr">
                    <a:solidFill>
                      <a:srgbClr val="FFFFFF"/>
                    </a:solidFill>
                  </a:tcPr>
                </a:tc>
                <a:tc>
                  <a:txBody>
                    <a:bodyPr wrap="square"/>
                    <a:lstStyle/>
                    <a:p>
                      <a:pPr algn="ctr"/>
                      <a:r>
                        <a:rPr sz="1400" b="0">
                          <a:solidFill>
                            <a:srgbClr val="222222"/>
                          </a:solidFill>
                          <a:latin typeface="Calibri"/>
                        </a:rPr>
                        <a:t>0.775</a:t>
                      </a:r>
                    </a:p>
                  </a:txBody>
                  <a:tcPr marL="73152" marR="73152" marT="27432" marB="27432" anchor="ctr">
                    <a:solidFill>
                      <a:srgbClr val="FFFFFF"/>
                    </a:solidFill>
                  </a:tcPr>
                </a:tc>
                <a:tc>
                  <a:txBody>
                    <a:bodyPr wrap="square"/>
                    <a:lstStyle/>
                    <a:p>
                      <a:pPr algn="ctr"/>
                      <a:r>
                        <a:rPr sz="1400" b="0">
                          <a:solidFill>
                            <a:srgbClr val="222222"/>
                          </a:solidFill>
                          <a:latin typeface="Calibri"/>
                        </a:rPr>
                        <a:t>All four models tie</a:t>
                      </a:r>
                    </a:p>
                  </a:txBody>
                  <a:tcPr marL="73152" marR="73152" marT="27432" marB="27432" anchor="ctr">
                    <a:solidFill>
                      <a:srgbClr val="FFFFFF"/>
                    </a:solidFill>
                  </a:tcPr>
                </a:tc>
              </a:tr>
              <a:tr h="594360">
                <a:tc>
                  <a:txBody>
                    <a:bodyPr wrap="square"/>
                    <a:lstStyle/>
                    <a:p>
                      <a:r>
                        <a:rPr sz="1400" b="1">
                          <a:solidFill>
                            <a:srgbClr val="222222"/>
                          </a:solidFill>
                          <a:latin typeface="Calibri"/>
                        </a:rPr>
                        <a:t>Churn</a:t>
                      </a:r>
                    </a:p>
                  </a:txBody>
                  <a:tcPr marL="73152" marR="73152" marT="27432" marB="27432" anchor="ctr">
                    <a:solidFill>
                      <a:srgbClr val="F2F5F8"/>
                    </a:solidFill>
                  </a:tcPr>
                </a:tc>
                <a:tc>
                  <a:txBody>
                    <a:bodyPr wrap="square"/>
                    <a:lstStyle/>
                    <a:p>
                      <a:pPr algn="ctr"/>
                      <a:r>
                        <a:rPr sz="1400" b="0">
                          <a:solidFill>
                            <a:srgbClr val="222222"/>
                          </a:solidFill>
                          <a:latin typeface="Calibri"/>
                        </a:rPr>
                        <a:t>Lapsers in top 10%</a:t>
                      </a:r>
                    </a:p>
                  </a:txBody>
                  <a:tcPr marL="73152" marR="73152" marT="27432" marB="27432" anchor="ctr">
                    <a:solidFill>
                      <a:srgbClr val="F2F5F8"/>
                    </a:solidFill>
                  </a:tcPr>
                </a:tc>
                <a:tc>
                  <a:txBody>
                    <a:bodyPr wrap="square"/>
                    <a:lstStyle/>
                    <a:p>
                      <a:pPr algn="ctr"/>
                      <a:r>
                        <a:rPr sz="1400" b="0">
                          <a:solidFill>
                            <a:srgbClr val="222222"/>
                          </a:solidFill>
                          <a:latin typeface="Calibri"/>
                        </a:rPr>
                        <a:t>16%</a:t>
                      </a:r>
                    </a:p>
                  </a:txBody>
                  <a:tcPr marL="73152" marR="73152" marT="27432" marB="27432" anchor="ctr">
                    <a:solidFill>
                      <a:srgbClr val="F2F5F8"/>
                    </a:solidFill>
                  </a:tcPr>
                </a:tc>
                <a:tc>
                  <a:txBody>
                    <a:bodyPr wrap="square"/>
                    <a:lstStyle/>
                    <a:p>
                      <a:pPr algn="ctr"/>
                      <a:r>
                        <a:rPr sz="1400" b="0">
                          <a:solidFill>
                            <a:srgbClr val="222222"/>
                          </a:solidFill>
                          <a:latin typeface="Calibri"/>
                        </a:rPr>
                        <a:t>20%</a:t>
                      </a:r>
                    </a:p>
                  </a:txBody>
                  <a:tcPr marL="73152" marR="73152" marT="27432" marB="27432" anchor="ctr">
                    <a:solidFill>
                      <a:srgbClr val="F2F5F8"/>
                    </a:solidFill>
                  </a:tcPr>
                </a:tc>
                <a:tc>
                  <a:txBody>
                    <a:bodyPr wrap="square"/>
                    <a:lstStyle/>
                    <a:p>
                      <a:pPr algn="ctr"/>
                      <a:r>
                        <a:rPr sz="1400" b="0">
                          <a:solidFill>
                            <a:srgbClr val="222222"/>
                          </a:solidFill>
                          <a:latin typeface="Calibri"/>
                        </a:rPr>
                        <a:t>20%</a:t>
                      </a:r>
                    </a:p>
                  </a:txBody>
                  <a:tcPr marL="73152" marR="73152" marT="27432" marB="27432" anchor="ctr">
                    <a:solidFill>
                      <a:srgbClr val="F2F5F8"/>
                    </a:solidFill>
                  </a:tcPr>
                </a:tc>
                <a:tc>
                  <a:txBody>
                    <a:bodyPr wrap="square"/>
                    <a:lstStyle/>
                    <a:p>
                      <a:pPr algn="ctr"/>
                      <a:r>
                        <a:rPr sz="1400" b="0">
                          <a:solidFill>
                            <a:srgbClr val="222222"/>
                          </a:solidFill>
                          <a:latin typeface="Calibri"/>
                        </a:rPr>
                        <a:t>20%</a:t>
                      </a:r>
                    </a:p>
                  </a:txBody>
                  <a:tcPr marL="73152" marR="73152" marT="27432" marB="27432" anchor="ctr">
                    <a:solidFill>
                      <a:srgbClr val="F2F5F8"/>
                    </a:solidFill>
                  </a:tcPr>
                </a:tc>
                <a:tc>
                  <a:txBody>
                    <a:bodyPr wrap="square"/>
                    <a:lstStyle/>
                    <a:p>
                      <a:pPr algn="ctr"/>
                      <a:r>
                        <a:rPr sz="1400" b="0">
                          <a:solidFill>
                            <a:srgbClr val="222222"/>
                          </a:solidFill>
                          <a:latin typeface="Calibri"/>
                        </a:rPr>
                        <a:t>All four models tie</a:t>
                      </a:r>
                    </a:p>
                  </a:txBody>
                  <a:tcPr marL="73152" marR="73152" marT="27432" marB="27432" anchor="ctr">
                    <a:solidFill>
                      <a:srgbClr val="F2F5F8"/>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Architecture: train once, serve in milliseconds</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9: Deployment</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47</a:t>
            </a:r>
          </a:p>
        </p:txBody>
      </p:sp>
      <p:pic>
        <p:nvPicPr>
          <p:cNvPr id="7" name="Picture 6" descr="s9_01_architecture.png"/>
          <p:cNvPicPr>
            <a:picLocks noChangeAspect="1"/>
          </p:cNvPicPr>
          <p:nvPr/>
        </p:nvPicPr>
        <p:blipFill>
          <a:blip r:embed="rId3"/>
          <a:stretch>
            <a:fillRect/>
          </a:stretch>
        </p:blipFill>
        <p:spPr>
          <a:xfrm>
            <a:off x="1076152" y="1005840"/>
            <a:ext cx="10036646" cy="5440679"/>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Demand Planner: a normal day and a heatwave day</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9: Deployment</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48</a:t>
            </a:r>
          </a:p>
        </p:txBody>
      </p:sp>
      <p:pic>
        <p:nvPicPr>
          <p:cNvPr id="7" name="Picture 6" descr="s9_02_planner_output.png"/>
          <p:cNvPicPr>
            <a:picLocks noChangeAspect="1"/>
          </p:cNvPicPr>
          <p:nvPr/>
        </p:nvPicPr>
        <p:blipFill>
          <a:blip r:embed="rId3"/>
          <a:stretch>
            <a:fillRect/>
          </a:stretch>
        </p:blipFill>
        <p:spPr>
          <a:xfrm>
            <a:off x="320040" y="1005840"/>
            <a:ext cx="11548872" cy="4025760"/>
          </a:xfrm>
          <a:prstGeom prst="rect">
            <a:avLst/>
          </a:prstGeom>
        </p:spPr>
      </p:pic>
      <p:sp>
        <p:nvSpPr>
          <p:cNvPr id="8" name="Oval 7"/>
          <p:cNvSpPr/>
          <p:nvPr/>
        </p:nvSpPr>
        <p:spPr>
          <a:xfrm>
            <a:off x="548640" y="5305920"/>
            <a:ext cx="128016" cy="128016"/>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196192"/>
            <a:ext cx="10972800" cy="822960"/>
          </a:xfrm>
          <a:prstGeom prst="rect">
            <a:avLst/>
          </a:prstGeom>
          <a:noFill/>
        </p:spPr>
        <p:txBody>
          <a:bodyPr wrap="square" anchor="t" lIns="45720" rIns="45720">
            <a:spAutoFit/>
          </a:bodyPr>
          <a:lstStyle/>
          <a:p>
            <a:pPr algn="l"/>
            <a:r>
              <a:rPr sz="1600" b="0" i="0">
                <a:solidFill>
                  <a:srgbClr val="222222"/>
                </a:solidFill>
                <a:latin typeface="Calibri"/>
              </a:rPr>
              <a:t>Peak 3.07 kW and 46.8 kWh on a normal July day.</a:t>
            </a:r>
          </a:p>
        </p:txBody>
      </p:sp>
      <p:sp>
        <p:nvSpPr>
          <p:cNvPr id="10" name="Oval 9"/>
          <p:cNvSpPr/>
          <p:nvPr/>
        </p:nvSpPr>
        <p:spPr>
          <a:xfrm>
            <a:off x="548640" y="5772264"/>
            <a:ext cx="128016" cy="128016"/>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662536"/>
            <a:ext cx="10972800" cy="822960"/>
          </a:xfrm>
          <a:prstGeom prst="rect">
            <a:avLst/>
          </a:prstGeom>
          <a:noFill/>
        </p:spPr>
        <p:txBody>
          <a:bodyPr wrap="square" anchor="t" lIns="45720" rIns="45720">
            <a:spAutoFit/>
          </a:bodyPr>
          <a:lstStyle/>
          <a:p>
            <a:pPr algn="l"/>
            <a:r>
              <a:rPr sz="1600" b="0" i="0">
                <a:solidFill>
                  <a:srgbClr val="222222"/>
                </a:solidFill>
                <a:latin typeface="Calibri"/>
              </a:rPr>
              <a:t>Peak 3.91 kW and 75.5 kWh on a heatwave day, where the safeguard uses Ridge from about 11:00 to 22:00.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The heatwave safeguard: Ridge at 40 °C and above</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9: Deployment</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49</a:t>
            </a:r>
          </a:p>
        </p:txBody>
      </p:sp>
      <p:pic>
        <p:nvPicPr>
          <p:cNvPr id="7" name="Picture 6" descr="s9_05_safeguard_logic.png"/>
          <p:cNvPicPr>
            <a:picLocks noChangeAspect="1"/>
          </p:cNvPicPr>
          <p:nvPr/>
        </p:nvPicPr>
        <p:blipFill>
          <a:blip r:embed="rId3"/>
          <a:stretch>
            <a:fillRect/>
          </a:stretch>
        </p:blipFill>
        <p:spPr>
          <a:xfrm>
            <a:off x="320040" y="1160344"/>
            <a:ext cx="11548872" cy="513167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Failure Radar: the 12 riskiest machines in a sample of 500</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9: Deployment</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50</a:t>
            </a:r>
          </a:p>
        </p:txBody>
      </p:sp>
      <p:graphicFrame>
        <p:nvGraphicFramePr>
          <p:cNvPr id="7" name="Table 6"/>
          <p:cNvGraphicFramePr>
            <a:graphicFrameLocks noGrp="1"/>
          </p:cNvGraphicFramePr>
          <p:nvPr/>
        </p:nvGraphicFramePr>
        <p:xfrm>
          <a:off x="365760" y="1097280"/>
          <a:ext cx="11429996" cy="4992624"/>
        </p:xfrm>
        <a:graphic>
          <a:graphicData uri="http://schemas.openxmlformats.org/drawingml/2006/table">
            <a:tbl>
              <a:tblPr firstRow="0" bandRow="0">
                <a:tableStyleId>{5C22544A-7EE6-4342-B048-85BDC9FD1C3A}</a:tableStyleId>
              </a:tblPr>
              <a:tblGrid>
                <a:gridCol w="1693333"/>
                <a:gridCol w="952499"/>
                <a:gridCol w="1481666"/>
                <a:gridCol w="1481666"/>
                <a:gridCol w="1587499"/>
                <a:gridCol w="1270000"/>
                <a:gridCol w="1270000"/>
                <a:gridCol w="1693333"/>
              </a:tblGrid>
              <a:tr h="384048">
                <a:tc>
                  <a:txBody>
                    <a:bodyPr wrap="square"/>
                    <a:lstStyle/>
                    <a:p>
                      <a:r>
                        <a:rPr sz="1500" b="1">
                          <a:solidFill>
                            <a:srgbClr val="FFFFFF"/>
                          </a:solidFill>
                          <a:latin typeface="Calibri"/>
                        </a:rPr>
                        <a:t>Product ID</a:t>
                      </a:r>
                    </a:p>
                  </a:txBody>
                  <a:tcPr marL="73152" marR="73152" marT="27432" marB="27432" anchor="ctr">
                    <a:solidFill>
                      <a:srgbClr val="1F4E79"/>
                    </a:solidFill>
                  </a:tcPr>
                </a:tc>
                <a:tc>
                  <a:txBody>
                    <a:bodyPr wrap="square"/>
                    <a:lstStyle/>
                    <a:p>
                      <a:pPr algn="ctr"/>
                      <a:r>
                        <a:rPr sz="1500" b="1">
                          <a:solidFill>
                            <a:srgbClr val="FFFFFF"/>
                          </a:solidFill>
                          <a:latin typeface="Calibri"/>
                        </a:rPr>
                        <a:t>Type</a:t>
                      </a:r>
                    </a:p>
                  </a:txBody>
                  <a:tcPr marL="73152" marR="73152" marT="27432" marB="27432" anchor="ctr">
                    <a:solidFill>
                      <a:srgbClr val="1F4E79"/>
                    </a:solidFill>
                  </a:tcPr>
                </a:tc>
                <a:tc>
                  <a:txBody>
                    <a:bodyPr wrap="square"/>
                    <a:lstStyle/>
                    <a:p>
                      <a:pPr algn="ctr"/>
                      <a:r>
                        <a:rPr sz="1500" b="1">
                          <a:solidFill>
                            <a:srgbClr val="FFFFFF"/>
                          </a:solidFill>
                          <a:latin typeface="Calibri"/>
                        </a:rPr>
                        <a:t>Torque (Nm)</a:t>
                      </a:r>
                    </a:p>
                  </a:txBody>
                  <a:tcPr marL="73152" marR="73152" marT="27432" marB="27432" anchor="ctr">
                    <a:solidFill>
                      <a:srgbClr val="1F4E79"/>
                    </a:solidFill>
                  </a:tcPr>
                </a:tc>
                <a:tc>
                  <a:txBody>
                    <a:bodyPr wrap="square"/>
                    <a:lstStyle/>
                    <a:p>
                      <a:pPr algn="ctr"/>
                      <a:r>
                        <a:rPr sz="1500" b="1">
                          <a:solidFill>
                            <a:srgbClr val="FFFFFF"/>
                          </a:solidFill>
                          <a:latin typeface="Calibri"/>
                        </a:rPr>
                        <a:t>Speed (rpm)</a:t>
                      </a:r>
                    </a:p>
                  </a:txBody>
                  <a:tcPr marL="73152" marR="73152" marT="27432" marB="27432" anchor="ctr">
                    <a:solidFill>
                      <a:srgbClr val="1F4E79"/>
                    </a:solidFill>
                  </a:tcPr>
                </a:tc>
                <a:tc>
                  <a:txBody>
                    <a:bodyPr wrap="square"/>
                    <a:lstStyle/>
                    <a:p>
                      <a:pPr algn="ctr"/>
                      <a:r>
                        <a:rPr sz="1500" b="1">
                          <a:solidFill>
                            <a:srgbClr val="FFFFFF"/>
                          </a:solidFill>
                          <a:latin typeface="Calibri"/>
                        </a:rPr>
                        <a:t>Tool wear (min)</a:t>
                      </a:r>
                    </a:p>
                  </a:txBody>
                  <a:tcPr marL="73152" marR="73152" marT="27432" marB="27432" anchor="ctr">
                    <a:solidFill>
                      <a:srgbClr val="1F4E79"/>
                    </a:solidFill>
                  </a:tcPr>
                </a:tc>
                <a:tc>
                  <a:txBody>
                    <a:bodyPr wrap="square"/>
                    <a:lstStyle/>
                    <a:p>
                      <a:pPr algn="ctr"/>
                      <a:r>
                        <a:rPr sz="1500" b="1">
                          <a:solidFill>
                            <a:srgbClr val="FFFFFF"/>
                          </a:solidFill>
                          <a:latin typeface="Calibri"/>
                        </a:rPr>
                        <a:t>Risk (%)</a:t>
                      </a:r>
                    </a:p>
                  </a:txBody>
                  <a:tcPr marL="73152" marR="73152" marT="27432" marB="27432" anchor="ctr">
                    <a:solidFill>
                      <a:srgbClr val="1F4E79"/>
                    </a:solidFill>
                  </a:tcPr>
                </a:tc>
                <a:tc>
                  <a:txBody>
                    <a:bodyPr wrap="square"/>
                    <a:lstStyle/>
                    <a:p>
                      <a:pPr algn="ctr"/>
                      <a:r>
                        <a:rPr sz="1500" b="1">
                          <a:solidFill>
                            <a:srgbClr val="FFFFFF"/>
                          </a:solidFill>
                          <a:latin typeface="Calibri"/>
                        </a:rPr>
                        <a:t>Alert</a:t>
                      </a:r>
                    </a:p>
                  </a:txBody>
                  <a:tcPr marL="73152" marR="73152" marT="27432" marB="27432" anchor="ctr">
                    <a:solidFill>
                      <a:srgbClr val="1F4E79"/>
                    </a:solidFill>
                  </a:tcPr>
                </a:tc>
                <a:tc>
                  <a:txBody>
                    <a:bodyPr wrap="square"/>
                    <a:lstStyle/>
                    <a:p>
                      <a:pPr algn="ctr"/>
                      <a:r>
                        <a:rPr sz="1500" b="1">
                          <a:solidFill>
                            <a:srgbClr val="FFFFFF"/>
                          </a:solidFill>
                          <a:latin typeface="Calibri"/>
                        </a:rPr>
                        <a:t>Actually failed</a:t>
                      </a:r>
                    </a:p>
                  </a:txBody>
                  <a:tcPr marL="73152" marR="73152" marT="27432" marB="27432" anchor="ctr">
                    <a:solidFill>
                      <a:srgbClr val="1F4E79"/>
                    </a:solidFill>
                  </a:tcPr>
                </a:tc>
              </a:tr>
              <a:tr h="384048">
                <a:tc>
                  <a:txBody>
                    <a:bodyPr wrap="square"/>
                    <a:lstStyle/>
                    <a:p>
                      <a:r>
                        <a:rPr sz="1500" b="1">
                          <a:solidFill>
                            <a:srgbClr val="222222"/>
                          </a:solidFill>
                          <a:latin typeface="Calibri"/>
                        </a:rPr>
                        <a:t>L51822</a:t>
                      </a:r>
                    </a:p>
                  </a:txBody>
                  <a:tcPr marL="73152" marR="73152" marT="27432" marB="27432" anchor="ctr">
                    <a:solidFill>
                      <a:srgbClr val="FFFFFF"/>
                    </a:solidFill>
                  </a:tcPr>
                </a:tc>
                <a:tc>
                  <a:txBody>
                    <a:bodyPr wrap="square"/>
                    <a:lstStyle/>
                    <a:p>
                      <a:pPr algn="ctr"/>
                      <a:r>
                        <a:rPr sz="1500" b="0">
                          <a:solidFill>
                            <a:srgbClr val="222222"/>
                          </a:solidFill>
                          <a:latin typeface="Calibri"/>
                        </a:rPr>
                        <a:t>L</a:t>
                      </a:r>
                    </a:p>
                  </a:txBody>
                  <a:tcPr marL="73152" marR="73152" marT="27432" marB="27432" anchor="ctr">
                    <a:solidFill>
                      <a:srgbClr val="FFFFFF"/>
                    </a:solidFill>
                  </a:tcPr>
                </a:tc>
                <a:tc>
                  <a:txBody>
                    <a:bodyPr wrap="square"/>
                    <a:lstStyle/>
                    <a:p>
                      <a:pPr algn="ctr"/>
                      <a:r>
                        <a:rPr sz="1500" b="0">
                          <a:solidFill>
                            <a:srgbClr val="222222"/>
                          </a:solidFill>
                          <a:latin typeface="Calibri"/>
                        </a:rPr>
                        <a:t>54.6</a:t>
                      </a:r>
                    </a:p>
                  </a:txBody>
                  <a:tcPr marL="73152" marR="73152" marT="27432" marB="27432" anchor="ctr">
                    <a:solidFill>
                      <a:srgbClr val="FFFFFF"/>
                    </a:solidFill>
                  </a:tcPr>
                </a:tc>
                <a:tc>
                  <a:txBody>
                    <a:bodyPr wrap="square"/>
                    <a:lstStyle/>
                    <a:p>
                      <a:pPr algn="ctr"/>
                      <a:r>
                        <a:rPr sz="1500" b="0">
                          <a:solidFill>
                            <a:srgbClr val="222222"/>
                          </a:solidFill>
                          <a:latin typeface="Calibri"/>
                        </a:rPr>
                        <a:t>1238</a:t>
                      </a:r>
                    </a:p>
                  </a:txBody>
                  <a:tcPr marL="73152" marR="73152" marT="27432" marB="27432" anchor="ctr">
                    <a:solidFill>
                      <a:srgbClr val="FFFFFF"/>
                    </a:solidFill>
                  </a:tcPr>
                </a:tc>
                <a:tc>
                  <a:txBody>
                    <a:bodyPr wrap="square"/>
                    <a:lstStyle/>
                    <a:p>
                      <a:pPr algn="ctr"/>
                      <a:r>
                        <a:rPr sz="1500" b="0">
                          <a:solidFill>
                            <a:srgbClr val="222222"/>
                          </a:solidFill>
                          <a:latin typeface="Calibri"/>
                        </a:rPr>
                        <a:t>226</a:t>
                      </a:r>
                    </a:p>
                  </a:txBody>
                  <a:tcPr marL="73152" marR="73152" marT="27432" marB="27432" anchor="ctr">
                    <a:solidFill>
                      <a:srgbClr val="FFFFFF"/>
                    </a:solidFill>
                  </a:tcPr>
                </a:tc>
                <a:tc>
                  <a:txBody>
                    <a:bodyPr wrap="square"/>
                    <a:lstStyle/>
                    <a:p>
                      <a:pPr algn="ctr"/>
                      <a:r>
                        <a:rPr sz="1500" b="0">
                          <a:solidFill>
                            <a:srgbClr val="222222"/>
                          </a:solidFill>
                          <a:latin typeface="Calibri"/>
                        </a:rPr>
                        <a:t>99.6</a:t>
                      </a:r>
                    </a:p>
                  </a:txBody>
                  <a:tcPr marL="73152" marR="73152" marT="27432" marB="27432" anchor="ctr">
                    <a:solidFill>
                      <a:srgbClr val="FFFFFF"/>
                    </a:solidFill>
                  </a:tcPr>
                </a:tc>
                <a:tc>
                  <a:txBody>
                    <a:bodyPr wrap="square"/>
                    <a:lstStyle/>
                    <a:p>
                      <a:pPr algn="ctr"/>
                      <a:r>
                        <a:rPr sz="1500" b="0">
                          <a:solidFill>
                            <a:srgbClr val="222222"/>
                          </a:solidFill>
                          <a:latin typeface="Calibri"/>
                        </a:rPr>
                        <a:t>inspect</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L49778</a:t>
                      </a:r>
                    </a:p>
                  </a:txBody>
                  <a:tcPr marL="73152" marR="73152" marT="27432" marB="27432" anchor="ctr">
                    <a:solidFill>
                      <a:srgbClr val="F2F5F8"/>
                    </a:solidFill>
                  </a:tcPr>
                </a:tc>
                <a:tc>
                  <a:txBody>
                    <a:bodyPr wrap="square"/>
                    <a:lstStyle/>
                    <a:p>
                      <a:pPr algn="ctr"/>
                      <a:r>
                        <a:rPr sz="1500" b="0">
                          <a:solidFill>
                            <a:srgbClr val="222222"/>
                          </a:solidFill>
                          <a:latin typeface="Calibri"/>
                        </a:rPr>
                        <a:t>L</a:t>
                      </a:r>
                    </a:p>
                  </a:txBody>
                  <a:tcPr marL="73152" marR="73152" marT="27432" marB="27432" anchor="ctr">
                    <a:solidFill>
                      <a:srgbClr val="F2F5F8"/>
                    </a:solidFill>
                  </a:tcPr>
                </a:tc>
                <a:tc>
                  <a:txBody>
                    <a:bodyPr wrap="square"/>
                    <a:lstStyle/>
                    <a:p>
                      <a:pPr algn="ctr"/>
                      <a:r>
                        <a:rPr sz="1500" b="0">
                          <a:solidFill>
                            <a:srgbClr val="222222"/>
                          </a:solidFill>
                          <a:latin typeface="Calibri"/>
                        </a:rPr>
                        <a:t>67.5</a:t>
                      </a:r>
                    </a:p>
                  </a:txBody>
                  <a:tcPr marL="73152" marR="73152" marT="27432" marB="27432" anchor="ctr">
                    <a:solidFill>
                      <a:srgbClr val="F2F5F8"/>
                    </a:solidFill>
                  </a:tcPr>
                </a:tc>
                <a:tc>
                  <a:txBody>
                    <a:bodyPr wrap="square"/>
                    <a:lstStyle/>
                    <a:p>
                      <a:pPr algn="ctr"/>
                      <a:r>
                        <a:rPr sz="1500" b="0">
                          <a:solidFill>
                            <a:srgbClr val="222222"/>
                          </a:solidFill>
                          <a:latin typeface="Calibri"/>
                        </a:rPr>
                        <a:t>1320</a:t>
                      </a:r>
                    </a:p>
                  </a:txBody>
                  <a:tcPr marL="73152" marR="73152" marT="27432" marB="27432" anchor="ctr">
                    <a:solidFill>
                      <a:srgbClr val="F2F5F8"/>
                    </a:solidFill>
                  </a:tcPr>
                </a:tc>
                <a:tc>
                  <a:txBody>
                    <a:bodyPr wrap="square"/>
                    <a:lstStyle/>
                    <a:p>
                      <a:pPr algn="ctr"/>
                      <a:r>
                        <a:rPr sz="1500" b="0">
                          <a:solidFill>
                            <a:srgbClr val="222222"/>
                          </a:solidFill>
                          <a:latin typeface="Calibri"/>
                        </a:rPr>
                        <a:t>20</a:t>
                      </a:r>
                    </a:p>
                  </a:txBody>
                  <a:tcPr marL="73152" marR="73152" marT="27432" marB="27432" anchor="ctr">
                    <a:solidFill>
                      <a:srgbClr val="F2F5F8"/>
                    </a:solidFill>
                  </a:tcPr>
                </a:tc>
                <a:tc>
                  <a:txBody>
                    <a:bodyPr wrap="square"/>
                    <a:lstStyle/>
                    <a:p>
                      <a:pPr algn="ctr"/>
                      <a:r>
                        <a:rPr sz="1500" b="0">
                          <a:solidFill>
                            <a:srgbClr val="222222"/>
                          </a:solidFill>
                          <a:latin typeface="Calibri"/>
                        </a:rPr>
                        <a:t>96.4</a:t>
                      </a:r>
                    </a:p>
                  </a:txBody>
                  <a:tcPr marL="73152" marR="73152" marT="27432" marB="27432" anchor="ctr">
                    <a:solidFill>
                      <a:srgbClr val="F2F5F8"/>
                    </a:solidFill>
                  </a:tcPr>
                </a:tc>
                <a:tc>
                  <a:txBody>
                    <a:bodyPr wrap="square"/>
                    <a:lstStyle/>
                    <a:p>
                      <a:pPr algn="ctr"/>
                      <a:r>
                        <a:rPr sz="1500" b="0">
                          <a:solidFill>
                            <a:srgbClr val="222222"/>
                          </a:solidFill>
                          <a:latin typeface="Calibri"/>
                        </a:rPr>
                        <a:t>inspect</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M20475</a:t>
                      </a:r>
                    </a:p>
                  </a:txBody>
                  <a:tcPr marL="73152" marR="73152" marT="27432" marB="27432" anchor="ctr">
                    <a:solidFill>
                      <a:srgbClr val="FFFFFF"/>
                    </a:solidFill>
                  </a:tcPr>
                </a:tc>
                <a:tc>
                  <a:txBody>
                    <a:bodyPr wrap="square"/>
                    <a:lstStyle/>
                    <a:p>
                      <a:pPr algn="ctr"/>
                      <a:r>
                        <a:rPr sz="1500" b="0">
                          <a:solidFill>
                            <a:srgbClr val="222222"/>
                          </a:solidFill>
                          <a:latin typeface="Calibri"/>
                        </a:rPr>
                        <a:t>M</a:t>
                      </a:r>
                    </a:p>
                  </a:txBody>
                  <a:tcPr marL="73152" marR="73152" marT="27432" marB="27432" anchor="ctr">
                    <a:solidFill>
                      <a:srgbClr val="FFFFFF"/>
                    </a:solidFill>
                  </a:tcPr>
                </a:tc>
                <a:tc>
                  <a:txBody>
                    <a:bodyPr wrap="square"/>
                    <a:lstStyle/>
                    <a:p>
                      <a:pPr algn="ctr"/>
                      <a:r>
                        <a:rPr sz="1500" b="0">
                          <a:solidFill>
                            <a:srgbClr val="222222"/>
                          </a:solidFill>
                          <a:latin typeface="Calibri"/>
                        </a:rPr>
                        <a:t>71.3</a:t>
                      </a:r>
                    </a:p>
                  </a:txBody>
                  <a:tcPr marL="73152" marR="73152" marT="27432" marB="27432" anchor="ctr">
                    <a:solidFill>
                      <a:srgbClr val="FFFFFF"/>
                    </a:solidFill>
                  </a:tcPr>
                </a:tc>
                <a:tc>
                  <a:txBody>
                    <a:bodyPr wrap="square"/>
                    <a:lstStyle/>
                    <a:p>
                      <a:pPr algn="ctr"/>
                      <a:r>
                        <a:rPr sz="1500" b="0">
                          <a:solidFill>
                            <a:srgbClr val="222222"/>
                          </a:solidFill>
                          <a:latin typeface="Calibri"/>
                        </a:rPr>
                        <a:t>1257</a:t>
                      </a:r>
                    </a:p>
                  </a:txBody>
                  <a:tcPr marL="73152" marR="73152" marT="27432" marB="27432" anchor="ctr">
                    <a:solidFill>
                      <a:srgbClr val="FFFFFF"/>
                    </a:solidFill>
                  </a:tcPr>
                </a:tc>
                <a:tc>
                  <a:txBody>
                    <a:bodyPr wrap="square"/>
                    <a:lstStyle/>
                    <a:p>
                      <a:pPr algn="ctr"/>
                      <a:r>
                        <a:rPr sz="1500" b="0">
                          <a:solidFill>
                            <a:srgbClr val="222222"/>
                          </a:solidFill>
                          <a:latin typeface="Calibri"/>
                        </a:rPr>
                        <a:t>122</a:t>
                      </a:r>
                    </a:p>
                  </a:txBody>
                  <a:tcPr marL="73152" marR="73152" marT="27432" marB="27432" anchor="ctr">
                    <a:solidFill>
                      <a:srgbClr val="FFFFFF"/>
                    </a:solidFill>
                  </a:tcPr>
                </a:tc>
                <a:tc>
                  <a:txBody>
                    <a:bodyPr wrap="square"/>
                    <a:lstStyle/>
                    <a:p>
                      <a:pPr algn="ctr"/>
                      <a:r>
                        <a:rPr sz="1500" b="0">
                          <a:solidFill>
                            <a:srgbClr val="222222"/>
                          </a:solidFill>
                          <a:latin typeface="Calibri"/>
                        </a:rPr>
                        <a:t>96.0</a:t>
                      </a:r>
                    </a:p>
                  </a:txBody>
                  <a:tcPr marL="73152" marR="73152" marT="27432" marB="27432" anchor="ctr">
                    <a:solidFill>
                      <a:srgbClr val="FFFFFF"/>
                    </a:solidFill>
                  </a:tcPr>
                </a:tc>
                <a:tc>
                  <a:txBody>
                    <a:bodyPr wrap="square"/>
                    <a:lstStyle/>
                    <a:p>
                      <a:pPr algn="ctr"/>
                      <a:r>
                        <a:rPr sz="1500" b="0">
                          <a:solidFill>
                            <a:srgbClr val="222222"/>
                          </a:solidFill>
                          <a:latin typeface="Calibri"/>
                        </a:rPr>
                        <a:t>inspect</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L53705</a:t>
                      </a:r>
                    </a:p>
                  </a:txBody>
                  <a:tcPr marL="73152" marR="73152" marT="27432" marB="27432" anchor="ctr">
                    <a:solidFill>
                      <a:srgbClr val="F2F5F8"/>
                    </a:solidFill>
                  </a:tcPr>
                </a:tc>
                <a:tc>
                  <a:txBody>
                    <a:bodyPr wrap="square"/>
                    <a:lstStyle/>
                    <a:p>
                      <a:pPr algn="ctr"/>
                      <a:r>
                        <a:rPr sz="1500" b="0">
                          <a:solidFill>
                            <a:srgbClr val="222222"/>
                          </a:solidFill>
                          <a:latin typeface="Calibri"/>
                        </a:rPr>
                        <a:t>L</a:t>
                      </a:r>
                    </a:p>
                  </a:txBody>
                  <a:tcPr marL="73152" marR="73152" marT="27432" marB="27432" anchor="ctr">
                    <a:solidFill>
                      <a:srgbClr val="F2F5F8"/>
                    </a:solidFill>
                  </a:tcPr>
                </a:tc>
                <a:tc>
                  <a:txBody>
                    <a:bodyPr wrap="square"/>
                    <a:lstStyle/>
                    <a:p>
                      <a:pPr algn="ctr"/>
                      <a:r>
                        <a:rPr sz="1500" b="0">
                          <a:solidFill>
                            <a:srgbClr val="222222"/>
                          </a:solidFill>
                          <a:latin typeface="Calibri"/>
                        </a:rPr>
                        <a:t>73.6</a:t>
                      </a:r>
                    </a:p>
                  </a:txBody>
                  <a:tcPr marL="73152" marR="73152" marT="27432" marB="27432" anchor="ctr">
                    <a:solidFill>
                      <a:srgbClr val="F2F5F8"/>
                    </a:solidFill>
                  </a:tcPr>
                </a:tc>
                <a:tc>
                  <a:txBody>
                    <a:bodyPr wrap="square"/>
                    <a:lstStyle/>
                    <a:p>
                      <a:pPr algn="ctr"/>
                      <a:r>
                        <a:rPr sz="1500" b="0">
                          <a:solidFill>
                            <a:srgbClr val="222222"/>
                          </a:solidFill>
                          <a:latin typeface="Calibri"/>
                        </a:rPr>
                        <a:t>1312</a:t>
                      </a:r>
                    </a:p>
                  </a:txBody>
                  <a:tcPr marL="73152" marR="73152" marT="27432" marB="27432" anchor="ctr">
                    <a:solidFill>
                      <a:srgbClr val="F2F5F8"/>
                    </a:solidFill>
                  </a:tcPr>
                </a:tc>
                <a:tc>
                  <a:txBody>
                    <a:bodyPr wrap="square"/>
                    <a:lstStyle/>
                    <a:p>
                      <a:pPr algn="ctr"/>
                      <a:r>
                        <a:rPr sz="1500" b="0">
                          <a:solidFill>
                            <a:srgbClr val="222222"/>
                          </a:solidFill>
                          <a:latin typeface="Calibri"/>
                        </a:rPr>
                        <a:t>49</a:t>
                      </a:r>
                    </a:p>
                  </a:txBody>
                  <a:tcPr marL="73152" marR="73152" marT="27432" marB="27432" anchor="ctr">
                    <a:solidFill>
                      <a:srgbClr val="F2F5F8"/>
                    </a:solidFill>
                  </a:tcPr>
                </a:tc>
                <a:tc>
                  <a:txBody>
                    <a:bodyPr wrap="square"/>
                    <a:lstStyle/>
                    <a:p>
                      <a:pPr algn="ctr"/>
                      <a:r>
                        <a:rPr sz="1500" b="0">
                          <a:solidFill>
                            <a:srgbClr val="222222"/>
                          </a:solidFill>
                          <a:latin typeface="Calibri"/>
                        </a:rPr>
                        <a:t>95.2</a:t>
                      </a:r>
                    </a:p>
                  </a:txBody>
                  <a:tcPr marL="73152" marR="73152" marT="27432" marB="27432" anchor="ctr">
                    <a:solidFill>
                      <a:srgbClr val="F2F5F8"/>
                    </a:solidFill>
                  </a:tcPr>
                </a:tc>
                <a:tc>
                  <a:txBody>
                    <a:bodyPr wrap="square"/>
                    <a:lstStyle/>
                    <a:p>
                      <a:pPr algn="ctr"/>
                      <a:r>
                        <a:rPr sz="1500" b="0">
                          <a:solidFill>
                            <a:srgbClr val="222222"/>
                          </a:solidFill>
                          <a:latin typeface="Calibri"/>
                        </a:rPr>
                        <a:t>inspect</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L51800</a:t>
                      </a:r>
                    </a:p>
                  </a:txBody>
                  <a:tcPr marL="73152" marR="73152" marT="27432" marB="27432" anchor="ctr">
                    <a:solidFill>
                      <a:srgbClr val="FFFFFF"/>
                    </a:solidFill>
                  </a:tcPr>
                </a:tc>
                <a:tc>
                  <a:txBody>
                    <a:bodyPr wrap="square"/>
                    <a:lstStyle/>
                    <a:p>
                      <a:pPr algn="ctr"/>
                      <a:r>
                        <a:rPr sz="1500" b="0">
                          <a:solidFill>
                            <a:srgbClr val="222222"/>
                          </a:solidFill>
                          <a:latin typeface="Calibri"/>
                        </a:rPr>
                        <a:t>L</a:t>
                      </a:r>
                    </a:p>
                  </a:txBody>
                  <a:tcPr marL="73152" marR="73152" marT="27432" marB="27432" anchor="ctr">
                    <a:solidFill>
                      <a:srgbClr val="FFFFFF"/>
                    </a:solidFill>
                  </a:tcPr>
                </a:tc>
                <a:tc>
                  <a:txBody>
                    <a:bodyPr wrap="square"/>
                    <a:lstStyle/>
                    <a:p>
                      <a:pPr algn="ctr"/>
                      <a:r>
                        <a:rPr sz="1500" b="0">
                          <a:solidFill>
                            <a:srgbClr val="222222"/>
                          </a:solidFill>
                          <a:latin typeface="Calibri"/>
                        </a:rPr>
                        <a:t>52.6</a:t>
                      </a:r>
                    </a:p>
                  </a:txBody>
                  <a:tcPr marL="73152" marR="73152" marT="27432" marB="27432" anchor="ctr">
                    <a:solidFill>
                      <a:srgbClr val="FFFFFF"/>
                    </a:solidFill>
                  </a:tcPr>
                </a:tc>
                <a:tc>
                  <a:txBody>
                    <a:bodyPr wrap="square"/>
                    <a:lstStyle/>
                    <a:p>
                      <a:pPr algn="ctr"/>
                      <a:r>
                        <a:rPr sz="1500" b="0">
                          <a:solidFill>
                            <a:srgbClr val="222222"/>
                          </a:solidFill>
                          <a:latin typeface="Calibri"/>
                        </a:rPr>
                        <a:t>1336</a:t>
                      </a:r>
                    </a:p>
                  </a:txBody>
                  <a:tcPr marL="73152" marR="73152" marT="27432" marB="27432" anchor="ctr">
                    <a:solidFill>
                      <a:srgbClr val="FFFFFF"/>
                    </a:solidFill>
                  </a:tcPr>
                </a:tc>
                <a:tc>
                  <a:txBody>
                    <a:bodyPr wrap="square"/>
                    <a:lstStyle/>
                    <a:p>
                      <a:pPr algn="ctr"/>
                      <a:r>
                        <a:rPr sz="1500" b="0">
                          <a:solidFill>
                            <a:srgbClr val="222222"/>
                          </a:solidFill>
                          <a:latin typeface="Calibri"/>
                        </a:rPr>
                        <a:t>172</a:t>
                      </a:r>
                    </a:p>
                  </a:txBody>
                  <a:tcPr marL="73152" marR="73152" marT="27432" marB="27432" anchor="ctr">
                    <a:solidFill>
                      <a:srgbClr val="FFFFFF"/>
                    </a:solidFill>
                  </a:tcPr>
                </a:tc>
                <a:tc>
                  <a:txBody>
                    <a:bodyPr wrap="square"/>
                    <a:lstStyle/>
                    <a:p>
                      <a:pPr algn="ctr"/>
                      <a:r>
                        <a:rPr sz="1500" b="0">
                          <a:solidFill>
                            <a:srgbClr val="222222"/>
                          </a:solidFill>
                          <a:latin typeface="Calibri"/>
                        </a:rPr>
                        <a:t>94.6</a:t>
                      </a:r>
                    </a:p>
                  </a:txBody>
                  <a:tcPr marL="73152" marR="73152" marT="27432" marB="27432" anchor="ctr">
                    <a:solidFill>
                      <a:srgbClr val="FFFFFF"/>
                    </a:solidFill>
                  </a:tcPr>
                </a:tc>
                <a:tc>
                  <a:txBody>
                    <a:bodyPr wrap="square"/>
                    <a:lstStyle/>
                    <a:p>
                      <a:pPr algn="ctr"/>
                      <a:r>
                        <a:rPr sz="1500" b="0">
                          <a:solidFill>
                            <a:srgbClr val="222222"/>
                          </a:solidFill>
                          <a:latin typeface="Calibri"/>
                        </a:rPr>
                        <a:t>inspect</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M19287</a:t>
                      </a:r>
                    </a:p>
                  </a:txBody>
                  <a:tcPr marL="73152" marR="73152" marT="27432" marB="27432" anchor="ctr">
                    <a:solidFill>
                      <a:srgbClr val="F2F5F8"/>
                    </a:solidFill>
                  </a:tcPr>
                </a:tc>
                <a:tc>
                  <a:txBody>
                    <a:bodyPr wrap="square"/>
                    <a:lstStyle/>
                    <a:p>
                      <a:pPr algn="ctr"/>
                      <a:r>
                        <a:rPr sz="1500" b="0">
                          <a:solidFill>
                            <a:srgbClr val="222222"/>
                          </a:solidFill>
                          <a:latin typeface="Calibri"/>
                        </a:rPr>
                        <a:t>M</a:t>
                      </a:r>
                    </a:p>
                  </a:txBody>
                  <a:tcPr marL="73152" marR="73152" marT="27432" marB="27432" anchor="ctr">
                    <a:solidFill>
                      <a:srgbClr val="F2F5F8"/>
                    </a:solidFill>
                  </a:tcPr>
                </a:tc>
                <a:tc>
                  <a:txBody>
                    <a:bodyPr wrap="square"/>
                    <a:lstStyle/>
                    <a:p>
                      <a:pPr algn="ctr"/>
                      <a:r>
                        <a:rPr sz="1500" b="0">
                          <a:solidFill>
                            <a:srgbClr val="222222"/>
                          </a:solidFill>
                          <a:latin typeface="Calibri"/>
                        </a:rPr>
                        <a:t>48.9</a:t>
                      </a:r>
                    </a:p>
                  </a:txBody>
                  <a:tcPr marL="73152" marR="73152" marT="27432" marB="27432" anchor="ctr">
                    <a:solidFill>
                      <a:srgbClr val="F2F5F8"/>
                    </a:solidFill>
                  </a:tcPr>
                </a:tc>
                <a:tc>
                  <a:txBody>
                    <a:bodyPr wrap="square"/>
                    <a:lstStyle/>
                    <a:p>
                      <a:pPr algn="ctr"/>
                      <a:r>
                        <a:rPr sz="1500" b="0">
                          <a:solidFill>
                            <a:srgbClr val="222222"/>
                          </a:solidFill>
                          <a:latin typeface="Calibri"/>
                        </a:rPr>
                        <a:t>1379</a:t>
                      </a:r>
                    </a:p>
                  </a:txBody>
                  <a:tcPr marL="73152" marR="73152" marT="27432" marB="27432" anchor="ctr">
                    <a:solidFill>
                      <a:srgbClr val="F2F5F8"/>
                    </a:solidFill>
                  </a:tcPr>
                </a:tc>
                <a:tc>
                  <a:txBody>
                    <a:bodyPr wrap="square"/>
                    <a:lstStyle/>
                    <a:p>
                      <a:pPr algn="ctr"/>
                      <a:r>
                        <a:rPr sz="1500" b="0">
                          <a:solidFill>
                            <a:srgbClr val="222222"/>
                          </a:solidFill>
                          <a:latin typeface="Calibri"/>
                        </a:rPr>
                        <a:t>107</a:t>
                      </a:r>
                    </a:p>
                  </a:txBody>
                  <a:tcPr marL="73152" marR="73152" marT="27432" marB="27432" anchor="ctr">
                    <a:solidFill>
                      <a:srgbClr val="F2F5F8"/>
                    </a:solidFill>
                  </a:tcPr>
                </a:tc>
                <a:tc>
                  <a:txBody>
                    <a:bodyPr wrap="square"/>
                    <a:lstStyle/>
                    <a:p>
                      <a:pPr algn="ctr"/>
                      <a:r>
                        <a:rPr sz="1500" b="0">
                          <a:solidFill>
                            <a:srgbClr val="222222"/>
                          </a:solidFill>
                          <a:latin typeface="Calibri"/>
                        </a:rPr>
                        <a:t>94.1</a:t>
                      </a:r>
                    </a:p>
                  </a:txBody>
                  <a:tcPr marL="73152" marR="73152" marT="27432" marB="27432" anchor="ctr">
                    <a:solidFill>
                      <a:srgbClr val="F2F5F8"/>
                    </a:solidFill>
                  </a:tcPr>
                </a:tc>
                <a:tc>
                  <a:txBody>
                    <a:bodyPr wrap="square"/>
                    <a:lstStyle/>
                    <a:p>
                      <a:pPr algn="ctr"/>
                      <a:r>
                        <a:rPr sz="1500" b="0">
                          <a:solidFill>
                            <a:srgbClr val="222222"/>
                          </a:solidFill>
                          <a:latin typeface="Calibri"/>
                        </a:rPr>
                        <a:t>inspect</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L51801</a:t>
                      </a:r>
                    </a:p>
                  </a:txBody>
                  <a:tcPr marL="73152" marR="73152" marT="27432" marB="27432" anchor="ctr">
                    <a:solidFill>
                      <a:srgbClr val="FFFFFF"/>
                    </a:solidFill>
                  </a:tcPr>
                </a:tc>
                <a:tc>
                  <a:txBody>
                    <a:bodyPr wrap="square"/>
                    <a:lstStyle/>
                    <a:p>
                      <a:pPr algn="ctr"/>
                      <a:r>
                        <a:rPr sz="1500" b="0">
                          <a:solidFill>
                            <a:srgbClr val="222222"/>
                          </a:solidFill>
                          <a:latin typeface="Calibri"/>
                        </a:rPr>
                        <a:t>L</a:t>
                      </a:r>
                    </a:p>
                  </a:txBody>
                  <a:tcPr marL="73152" marR="73152" marT="27432" marB="27432" anchor="ctr">
                    <a:solidFill>
                      <a:srgbClr val="FFFFFF"/>
                    </a:solidFill>
                  </a:tcPr>
                </a:tc>
                <a:tc>
                  <a:txBody>
                    <a:bodyPr wrap="square"/>
                    <a:lstStyle/>
                    <a:p>
                      <a:pPr algn="ctr"/>
                      <a:r>
                        <a:rPr sz="1500" b="0">
                          <a:solidFill>
                            <a:srgbClr val="222222"/>
                          </a:solidFill>
                          <a:latin typeface="Calibri"/>
                        </a:rPr>
                        <a:t>51.0</a:t>
                      </a:r>
                    </a:p>
                  </a:txBody>
                  <a:tcPr marL="73152" marR="73152" marT="27432" marB="27432" anchor="ctr">
                    <a:solidFill>
                      <a:srgbClr val="FFFFFF"/>
                    </a:solidFill>
                  </a:tcPr>
                </a:tc>
                <a:tc>
                  <a:txBody>
                    <a:bodyPr wrap="square"/>
                    <a:lstStyle/>
                    <a:p>
                      <a:pPr algn="ctr"/>
                      <a:r>
                        <a:rPr sz="1500" b="0">
                          <a:solidFill>
                            <a:srgbClr val="222222"/>
                          </a:solidFill>
                          <a:latin typeface="Calibri"/>
                        </a:rPr>
                        <a:t>1341</a:t>
                      </a:r>
                    </a:p>
                  </a:txBody>
                  <a:tcPr marL="73152" marR="73152" marT="27432" marB="27432" anchor="ctr">
                    <a:solidFill>
                      <a:srgbClr val="FFFFFF"/>
                    </a:solidFill>
                  </a:tcPr>
                </a:tc>
                <a:tc>
                  <a:txBody>
                    <a:bodyPr wrap="square"/>
                    <a:lstStyle/>
                    <a:p>
                      <a:pPr algn="ctr"/>
                      <a:r>
                        <a:rPr sz="1500" b="0">
                          <a:solidFill>
                            <a:srgbClr val="222222"/>
                          </a:solidFill>
                          <a:latin typeface="Calibri"/>
                        </a:rPr>
                        <a:t>174</a:t>
                      </a:r>
                    </a:p>
                  </a:txBody>
                  <a:tcPr marL="73152" marR="73152" marT="27432" marB="27432" anchor="ctr">
                    <a:solidFill>
                      <a:srgbClr val="FFFFFF"/>
                    </a:solidFill>
                  </a:tcPr>
                </a:tc>
                <a:tc>
                  <a:txBody>
                    <a:bodyPr wrap="square"/>
                    <a:lstStyle/>
                    <a:p>
                      <a:pPr algn="ctr"/>
                      <a:r>
                        <a:rPr sz="1500" b="0">
                          <a:solidFill>
                            <a:srgbClr val="222222"/>
                          </a:solidFill>
                          <a:latin typeface="Calibri"/>
                        </a:rPr>
                        <a:t>94.1</a:t>
                      </a:r>
                    </a:p>
                  </a:txBody>
                  <a:tcPr marL="73152" marR="73152" marT="27432" marB="27432" anchor="ctr">
                    <a:solidFill>
                      <a:srgbClr val="FFFFFF"/>
                    </a:solidFill>
                  </a:tcPr>
                </a:tc>
                <a:tc>
                  <a:txBody>
                    <a:bodyPr wrap="square"/>
                    <a:lstStyle/>
                    <a:p>
                      <a:pPr algn="ctr"/>
                      <a:r>
                        <a:rPr sz="1500" b="0">
                          <a:solidFill>
                            <a:srgbClr val="222222"/>
                          </a:solidFill>
                          <a:latin typeface="Calibri"/>
                        </a:rPr>
                        <a:t>inspect</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M23874</a:t>
                      </a:r>
                    </a:p>
                  </a:txBody>
                  <a:tcPr marL="73152" marR="73152" marT="27432" marB="27432" anchor="ctr">
                    <a:solidFill>
                      <a:srgbClr val="F2F5F8"/>
                    </a:solidFill>
                  </a:tcPr>
                </a:tc>
                <a:tc>
                  <a:txBody>
                    <a:bodyPr wrap="square"/>
                    <a:lstStyle/>
                    <a:p>
                      <a:pPr algn="ctr"/>
                      <a:r>
                        <a:rPr sz="1500" b="0">
                          <a:solidFill>
                            <a:srgbClr val="222222"/>
                          </a:solidFill>
                          <a:latin typeface="Calibri"/>
                        </a:rPr>
                        <a:t>M</a:t>
                      </a:r>
                    </a:p>
                  </a:txBody>
                  <a:tcPr marL="73152" marR="73152" marT="27432" marB="27432" anchor="ctr">
                    <a:solidFill>
                      <a:srgbClr val="F2F5F8"/>
                    </a:solidFill>
                  </a:tcPr>
                </a:tc>
                <a:tc>
                  <a:txBody>
                    <a:bodyPr wrap="square"/>
                    <a:lstStyle/>
                    <a:p>
                      <a:pPr algn="ctr"/>
                      <a:r>
                        <a:rPr sz="1500" b="0">
                          <a:solidFill>
                            <a:srgbClr val="222222"/>
                          </a:solidFill>
                          <a:latin typeface="Calibri"/>
                        </a:rPr>
                        <a:t>61.3</a:t>
                      </a:r>
                    </a:p>
                  </a:txBody>
                  <a:tcPr marL="73152" marR="73152" marT="27432" marB="27432" anchor="ctr">
                    <a:solidFill>
                      <a:srgbClr val="F2F5F8"/>
                    </a:solidFill>
                  </a:tcPr>
                </a:tc>
                <a:tc>
                  <a:txBody>
                    <a:bodyPr wrap="square"/>
                    <a:lstStyle/>
                    <a:p>
                      <a:pPr algn="ctr"/>
                      <a:r>
                        <a:rPr sz="1500" b="0">
                          <a:solidFill>
                            <a:srgbClr val="222222"/>
                          </a:solidFill>
                          <a:latin typeface="Calibri"/>
                        </a:rPr>
                        <a:t>1340</a:t>
                      </a:r>
                    </a:p>
                  </a:txBody>
                  <a:tcPr marL="73152" marR="73152" marT="27432" marB="27432" anchor="ctr">
                    <a:solidFill>
                      <a:srgbClr val="F2F5F8"/>
                    </a:solidFill>
                  </a:tcPr>
                </a:tc>
                <a:tc>
                  <a:txBody>
                    <a:bodyPr wrap="square"/>
                    <a:lstStyle/>
                    <a:p>
                      <a:pPr algn="ctr"/>
                      <a:r>
                        <a:rPr sz="1500" b="0">
                          <a:solidFill>
                            <a:srgbClr val="222222"/>
                          </a:solidFill>
                          <a:latin typeface="Calibri"/>
                        </a:rPr>
                        <a:t>207</a:t>
                      </a:r>
                    </a:p>
                  </a:txBody>
                  <a:tcPr marL="73152" marR="73152" marT="27432" marB="27432" anchor="ctr">
                    <a:solidFill>
                      <a:srgbClr val="F2F5F8"/>
                    </a:solidFill>
                  </a:tcPr>
                </a:tc>
                <a:tc>
                  <a:txBody>
                    <a:bodyPr wrap="square"/>
                    <a:lstStyle/>
                    <a:p>
                      <a:pPr algn="ctr"/>
                      <a:r>
                        <a:rPr sz="1500" b="0">
                          <a:solidFill>
                            <a:srgbClr val="222222"/>
                          </a:solidFill>
                          <a:latin typeface="Calibri"/>
                        </a:rPr>
                        <a:t>93.6</a:t>
                      </a:r>
                    </a:p>
                  </a:txBody>
                  <a:tcPr marL="73152" marR="73152" marT="27432" marB="27432" anchor="ctr">
                    <a:solidFill>
                      <a:srgbClr val="F2F5F8"/>
                    </a:solidFill>
                  </a:tcPr>
                </a:tc>
                <a:tc>
                  <a:txBody>
                    <a:bodyPr wrap="square"/>
                    <a:lstStyle/>
                    <a:p>
                      <a:pPr algn="ctr"/>
                      <a:r>
                        <a:rPr sz="1500" b="0">
                          <a:solidFill>
                            <a:srgbClr val="222222"/>
                          </a:solidFill>
                          <a:latin typeface="Calibri"/>
                        </a:rPr>
                        <a:t>inspect</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M21659</a:t>
                      </a:r>
                    </a:p>
                  </a:txBody>
                  <a:tcPr marL="73152" marR="73152" marT="27432" marB="27432" anchor="ctr">
                    <a:solidFill>
                      <a:srgbClr val="FFFFFF"/>
                    </a:solidFill>
                  </a:tcPr>
                </a:tc>
                <a:tc>
                  <a:txBody>
                    <a:bodyPr wrap="square"/>
                    <a:lstStyle/>
                    <a:p>
                      <a:pPr algn="ctr"/>
                      <a:r>
                        <a:rPr sz="1500" b="0">
                          <a:solidFill>
                            <a:srgbClr val="222222"/>
                          </a:solidFill>
                          <a:latin typeface="Calibri"/>
                        </a:rPr>
                        <a:t>M</a:t>
                      </a:r>
                    </a:p>
                  </a:txBody>
                  <a:tcPr marL="73152" marR="73152" marT="27432" marB="27432" anchor="ctr">
                    <a:solidFill>
                      <a:srgbClr val="FFFFFF"/>
                    </a:solidFill>
                  </a:tcPr>
                </a:tc>
                <a:tc>
                  <a:txBody>
                    <a:bodyPr wrap="square"/>
                    <a:lstStyle/>
                    <a:p>
                      <a:pPr algn="ctr"/>
                      <a:r>
                        <a:rPr sz="1500" b="0">
                          <a:solidFill>
                            <a:srgbClr val="222222"/>
                          </a:solidFill>
                          <a:latin typeface="Calibri"/>
                        </a:rPr>
                        <a:t>12.2</a:t>
                      </a:r>
                    </a:p>
                  </a:txBody>
                  <a:tcPr marL="73152" marR="73152" marT="27432" marB="27432" anchor="ctr">
                    <a:solidFill>
                      <a:srgbClr val="FFFFFF"/>
                    </a:solidFill>
                  </a:tcPr>
                </a:tc>
                <a:tc>
                  <a:txBody>
                    <a:bodyPr wrap="square"/>
                    <a:lstStyle/>
                    <a:p>
                      <a:pPr algn="ctr"/>
                      <a:r>
                        <a:rPr sz="1500" b="0">
                          <a:solidFill>
                            <a:srgbClr val="222222"/>
                          </a:solidFill>
                          <a:latin typeface="Calibri"/>
                        </a:rPr>
                        <a:t>2636</a:t>
                      </a:r>
                    </a:p>
                  </a:txBody>
                  <a:tcPr marL="73152" marR="73152" marT="27432" marB="27432" anchor="ctr">
                    <a:solidFill>
                      <a:srgbClr val="FFFFFF"/>
                    </a:solidFill>
                  </a:tcPr>
                </a:tc>
                <a:tc>
                  <a:txBody>
                    <a:bodyPr wrap="square"/>
                    <a:lstStyle/>
                    <a:p>
                      <a:pPr algn="ctr"/>
                      <a:r>
                        <a:rPr sz="1500" b="0">
                          <a:solidFill>
                            <a:srgbClr val="222222"/>
                          </a:solidFill>
                          <a:latin typeface="Calibri"/>
                        </a:rPr>
                        <a:t>100</a:t>
                      </a:r>
                    </a:p>
                  </a:txBody>
                  <a:tcPr marL="73152" marR="73152" marT="27432" marB="27432" anchor="ctr">
                    <a:solidFill>
                      <a:srgbClr val="FFFFFF"/>
                    </a:solidFill>
                  </a:tcPr>
                </a:tc>
                <a:tc>
                  <a:txBody>
                    <a:bodyPr wrap="square"/>
                    <a:lstStyle/>
                    <a:p>
                      <a:pPr algn="ctr"/>
                      <a:r>
                        <a:rPr sz="1500" b="0">
                          <a:solidFill>
                            <a:srgbClr val="222222"/>
                          </a:solidFill>
                          <a:latin typeface="Calibri"/>
                        </a:rPr>
                        <a:t>93.0</a:t>
                      </a:r>
                    </a:p>
                  </a:txBody>
                  <a:tcPr marL="73152" marR="73152" marT="27432" marB="27432" anchor="ctr">
                    <a:solidFill>
                      <a:srgbClr val="FFFFFF"/>
                    </a:solidFill>
                  </a:tcPr>
                </a:tc>
                <a:tc>
                  <a:txBody>
                    <a:bodyPr wrap="square"/>
                    <a:lstStyle/>
                    <a:p>
                      <a:pPr algn="ctr"/>
                      <a:r>
                        <a:rPr sz="1500" b="0">
                          <a:solidFill>
                            <a:srgbClr val="222222"/>
                          </a:solidFill>
                          <a:latin typeface="Calibri"/>
                        </a:rPr>
                        <a:t>inspect</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L51724</a:t>
                      </a:r>
                    </a:p>
                  </a:txBody>
                  <a:tcPr marL="73152" marR="73152" marT="27432" marB="27432" anchor="ctr">
                    <a:solidFill>
                      <a:srgbClr val="F2F5F8"/>
                    </a:solidFill>
                  </a:tcPr>
                </a:tc>
                <a:tc>
                  <a:txBody>
                    <a:bodyPr wrap="square"/>
                    <a:lstStyle/>
                    <a:p>
                      <a:pPr algn="ctr"/>
                      <a:r>
                        <a:rPr sz="1500" b="0">
                          <a:solidFill>
                            <a:srgbClr val="222222"/>
                          </a:solidFill>
                          <a:latin typeface="Calibri"/>
                        </a:rPr>
                        <a:t>L</a:t>
                      </a:r>
                    </a:p>
                  </a:txBody>
                  <a:tcPr marL="73152" marR="73152" marT="27432" marB="27432" anchor="ctr">
                    <a:solidFill>
                      <a:srgbClr val="F2F5F8"/>
                    </a:solidFill>
                  </a:tcPr>
                </a:tc>
                <a:tc>
                  <a:txBody>
                    <a:bodyPr wrap="square"/>
                    <a:lstStyle/>
                    <a:p>
                      <a:pPr algn="ctr"/>
                      <a:r>
                        <a:rPr sz="1500" b="0">
                          <a:solidFill>
                            <a:srgbClr val="222222"/>
                          </a:solidFill>
                          <a:latin typeface="Calibri"/>
                        </a:rPr>
                        <a:t>55.1</a:t>
                      </a:r>
                    </a:p>
                  </a:txBody>
                  <a:tcPr marL="73152" marR="73152" marT="27432" marB="27432" anchor="ctr">
                    <a:solidFill>
                      <a:srgbClr val="F2F5F8"/>
                    </a:solidFill>
                  </a:tcPr>
                </a:tc>
                <a:tc>
                  <a:txBody>
                    <a:bodyPr wrap="square"/>
                    <a:lstStyle/>
                    <a:p>
                      <a:pPr algn="ctr"/>
                      <a:r>
                        <a:rPr sz="1500" b="0">
                          <a:solidFill>
                            <a:srgbClr val="222222"/>
                          </a:solidFill>
                          <a:latin typeface="Calibri"/>
                        </a:rPr>
                        <a:t>1349</a:t>
                      </a:r>
                    </a:p>
                  </a:txBody>
                  <a:tcPr marL="73152" marR="73152" marT="27432" marB="27432" anchor="ctr">
                    <a:solidFill>
                      <a:srgbClr val="F2F5F8"/>
                    </a:solidFill>
                  </a:tcPr>
                </a:tc>
                <a:tc>
                  <a:txBody>
                    <a:bodyPr wrap="square"/>
                    <a:lstStyle/>
                    <a:p>
                      <a:pPr algn="ctr"/>
                      <a:r>
                        <a:rPr sz="1500" b="0">
                          <a:solidFill>
                            <a:srgbClr val="222222"/>
                          </a:solidFill>
                          <a:latin typeface="Calibri"/>
                        </a:rPr>
                        <a:t>187</a:t>
                      </a:r>
                    </a:p>
                  </a:txBody>
                  <a:tcPr marL="73152" marR="73152" marT="27432" marB="27432" anchor="ctr">
                    <a:solidFill>
                      <a:srgbClr val="F2F5F8"/>
                    </a:solidFill>
                  </a:tcPr>
                </a:tc>
                <a:tc>
                  <a:txBody>
                    <a:bodyPr wrap="square"/>
                    <a:lstStyle/>
                    <a:p>
                      <a:pPr algn="ctr"/>
                      <a:r>
                        <a:rPr sz="1500" b="0">
                          <a:solidFill>
                            <a:srgbClr val="222222"/>
                          </a:solidFill>
                          <a:latin typeface="Calibri"/>
                        </a:rPr>
                        <a:t>92.7</a:t>
                      </a:r>
                    </a:p>
                  </a:txBody>
                  <a:tcPr marL="73152" marR="73152" marT="27432" marB="27432" anchor="ctr">
                    <a:solidFill>
                      <a:srgbClr val="F2F5F8"/>
                    </a:solidFill>
                  </a:tcPr>
                </a:tc>
                <a:tc>
                  <a:txBody>
                    <a:bodyPr wrap="square"/>
                    <a:lstStyle/>
                    <a:p>
                      <a:pPr algn="ctr"/>
                      <a:r>
                        <a:rPr sz="1500" b="0">
                          <a:solidFill>
                            <a:srgbClr val="222222"/>
                          </a:solidFill>
                          <a:latin typeface="Calibri"/>
                        </a:rPr>
                        <a:t>inspect</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L48763</a:t>
                      </a:r>
                    </a:p>
                  </a:txBody>
                  <a:tcPr marL="73152" marR="73152" marT="27432" marB="27432" anchor="ctr">
                    <a:solidFill>
                      <a:srgbClr val="FFFFFF"/>
                    </a:solidFill>
                  </a:tcPr>
                </a:tc>
                <a:tc>
                  <a:txBody>
                    <a:bodyPr wrap="square"/>
                    <a:lstStyle/>
                    <a:p>
                      <a:pPr algn="ctr"/>
                      <a:r>
                        <a:rPr sz="1500" b="0">
                          <a:solidFill>
                            <a:srgbClr val="222222"/>
                          </a:solidFill>
                          <a:latin typeface="Calibri"/>
                        </a:rPr>
                        <a:t>L</a:t>
                      </a:r>
                    </a:p>
                  </a:txBody>
                  <a:tcPr marL="73152" marR="73152" marT="27432" marB="27432" anchor="ctr">
                    <a:solidFill>
                      <a:srgbClr val="FFFFFF"/>
                    </a:solidFill>
                  </a:tcPr>
                </a:tc>
                <a:tc>
                  <a:txBody>
                    <a:bodyPr wrap="square"/>
                    <a:lstStyle/>
                    <a:p>
                      <a:pPr algn="ctr"/>
                      <a:r>
                        <a:rPr sz="1500" b="0">
                          <a:solidFill>
                            <a:srgbClr val="222222"/>
                          </a:solidFill>
                          <a:latin typeface="Calibri"/>
                        </a:rPr>
                        <a:t>61.0</a:t>
                      </a:r>
                    </a:p>
                  </a:txBody>
                  <a:tcPr marL="73152" marR="73152" marT="27432" marB="27432" anchor="ctr">
                    <a:solidFill>
                      <a:srgbClr val="FFFFFF"/>
                    </a:solidFill>
                  </a:tcPr>
                </a:tc>
                <a:tc>
                  <a:txBody>
                    <a:bodyPr wrap="square"/>
                    <a:lstStyle/>
                    <a:p>
                      <a:pPr algn="ctr"/>
                      <a:r>
                        <a:rPr sz="1500" b="0">
                          <a:solidFill>
                            <a:srgbClr val="222222"/>
                          </a:solidFill>
                          <a:latin typeface="Calibri"/>
                        </a:rPr>
                        <a:t>1310</a:t>
                      </a:r>
                    </a:p>
                  </a:txBody>
                  <a:tcPr marL="73152" marR="73152" marT="27432" marB="27432" anchor="ctr">
                    <a:solidFill>
                      <a:srgbClr val="FFFFFF"/>
                    </a:solidFill>
                  </a:tcPr>
                </a:tc>
                <a:tc>
                  <a:txBody>
                    <a:bodyPr wrap="square"/>
                    <a:lstStyle/>
                    <a:p>
                      <a:pPr algn="ctr"/>
                      <a:r>
                        <a:rPr sz="1500" b="0">
                          <a:solidFill>
                            <a:srgbClr val="222222"/>
                          </a:solidFill>
                          <a:latin typeface="Calibri"/>
                        </a:rPr>
                        <a:t>189</a:t>
                      </a:r>
                    </a:p>
                  </a:txBody>
                  <a:tcPr marL="73152" marR="73152" marT="27432" marB="27432" anchor="ctr">
                    <a:solidFill>
                      <a:srgbClr val="FFFFFF"/>
                    </a:solidFill>
                  </a:tcPr>
                </a:tc>
                <a:tc>
                  <a:txBody>
                    <a:bodyPr wrap="square"/>
                    <a:lstStyle/>
                    <a:p>
                      <a:pPr algn="ctr"/>
                      <a:r>
                        <a:rPr sz="1500" b="0">
                          <a:solidFill>
                            <a:srgbClr val="222222"/>
                          </a:solidFill>
                          <a:latin typeface="Calibri"/>
                        </a:rPr>
                        <a:t>89.7</a:t>
                      </a:r>
                    </a:p>
                  </a:txBody>
                  <a:tcPr marL="73152" marR="73152" marT="27432" marB="27432" anchor="ctr">
                    <a:solidFill>
                      <a:srgbClr val="FFFFFF"/>
                    </a:solidFill>
                  </a:tcPr>
                </a:tc>
                <a:tc>
                  <a:txBody>
                    <a:bodyPr wrap="square"/>
                    <a:lstStyle/>
                    <a:p>
                      <a:pPr algn="ctr"/>
                      <a:r>
                        <a:rPr sz="1500" b="0">
                          <a:solidFill>
                            <a:srgbClr val="222222"/>
                          </a:solidFill>
                          <a:latin typeface="Calibri"/>
                        </a:rPr>
                        <a:t>inspect</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L54939</a:t>
                      </a:r>
                    </a:p>
                  </a:txBody>
                  <a:tcPr marL="73152" marR="73152" marT="27432" marB="27432" anchor="ctr">
                    <a:solidFill>
                      <a:srgbClr val="F2F5F8"/>
                    </a:solidFill>
                  </a:tcPr>
                </a:tc>
                <a:tc>
                  <a:txBody>
                    <a:bodyPr wrap="square"/>
                    <a:lstStyle/>
                    <a:p>
                      <a:pPr algn="ctr"/>
                      <a:r>
                        <a:rPr sz="1500" b="0">
                          <a:solidFill>
                            <a:srgbClr val="222222"/>
                          </a:solidFill>
                          <a:latin typeface="Calibri"/>
                        </a:rPr>
                        <a:t>L</a:t>
                      </a:r>
                    </a:p>
                  </a:txBody>
                  <a:tcPr marL="73152" marR="73152" marT="27432" marB="27432" anchor="ctr">
                    <a:solidFill>
                      <a:srgbClr val="F2F5F8"/>
                    </a:solidFill>
                  </a:tcPr>
                </a:tc>
                <a:tc>
                  <a:txBody>
                    <a:bodyPr wrap="square"/>
                    <a:lstStyle/>
                    <a:p>
                      <a:pPr algn="ctr"/>
                      <a:r>
                        <a:rPr sz="1500" b="0">
                          <a:solidFill>
                            <a:srgbClr val="222222"/>
                          </a:solidFill>
                          <a:latin typeface="Calibri"/>
                        </a:rPr>
                        <a:t>59.2</a:t>
                      </a:r>
                    </a:p>
                  </a:txBody>
                  <a:tcPr marL="73152" marR="73152" marT="27432" marB="27432" anchor="ctr">
                    <a:solidFill>
                      <a:srgbClr val="F2F5F8"/>
                    </a:solidFill>
                  </a:tcPr>
                </a:tc>
                <a:tc>
                  <a:txBody>
                    <a:bodyPr wrap="square"/>
                    <a:lstStyle/>
                    <a:p>
                      <a:pPr algn="ctr"/>
                      <a:r>
                        <a:rPr sz="1500" b="0">
                          <a:solidFill>
                            <a:srgbClr val="222222"/>
                          </a:solidFill>
                          <a:latin typeface="Calibri"/>
                        </a:rPr>
                        <a:t>1272</a:t>
                      </a:r>
                    </a:p>
                  </a:txBody>
                  <a:tcPr marL="73152" marR="73152" marT="27432" marB="27432" anchor="ctr">
                    <a:solidFill>
                      <a:srgbClr val="F2F5F8"/>
                    </a:solidFill>
                  </a:tcPr>
                </a:tc>
                <a:tc>
                  <a:txBody>
                    <a:bodyPr wrap="square"/>
                    <a:lstStyle/>
                    <a:p>
                      <a:pPr algn="ctr"/>
                      <a:r>
                        <a:rPr sz="1500" b="0">
                          <a:solidFill>
                            <a:srgbClr val="222222"/>
                          </a:solidFill>
                          <a:latin typeface="Calibri"/>
                        </a:rPr>
                        <a:t>198</a:t>
                      </a:r>
                    </a:p>
                  </a:txBody>
                  <a:tcPr marL="73152" marR="73152" marT="27432" marB="27432" anchor="ctr">
                    <a:solidFill>
                      <a:srgbClr val="F2F5F8"/>
                    </a:solidFill>
                  </a:tcPr>
                </a:tc>
                <a:tc>
                  <a:txBody>
                    <a:bodyPr wrap="square"/>
                    <a:lstStyle/>
                    <a:p>
                      <a:pPr algn="ctr"/>
                      <a:r>
                        <a:rPr sz="1500" b="0">
                          <a:solidFill>
                            <a:srgbClr val="222222"/>
                          </a:solidFill>
                          <a:latin typeface="Calibri"/>
                        </a:rPr>
                        <a:t>89.4</a:t>
                      </a:r>
                    </a:p>
                  </a:txBody>
                  <a:tcPr marL="73152" marR="73152" marT="27432" marB="27432" anchor="ctr">
                    <a:solidFill>
                      <a:srgbClr val="F2F5F8"/>
                    </a:solidFill>
                  </a:tcPr>
                </a:tc>
                <a:tc>
                  <a:txBody>
                    <a:bodyPr wrap="square"/>
                    <a:lstStyle/>
                    <a:p>
                      <a:pPr algn="ctr"/>
                      <a:r>
                        <a:rPr sz="1500" b="0">
                          <a:solidFill>
                            <a:srgbClr val="222222"/>
                          </a:solidFill>
                          <a:latin typeface="Calibri"/>
                        </a:rPr>
                        <a:t>inspect</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bl>
          </a:graphicData>
        </a:graphic>
      </p:graphicFrame>
      <p:sp>
        <p:nvSpPr>
          <p:cNvPr id="8" name="TextBox 7"/>
          <p:cNvSpPr txBox="1"/>
          <p:nvPr/>
        </p:nvSpPr>
        <p:spPr>
          <a:xfrm>
            <a:off x="411480" y="6108192"/>
            <a:ext cx="11338560" cy="365760"/>
          </a:xfrm>
          <a:prstGeom prst="rect">
            <a:avLst/>
          </a:prstGeom>
          <a:noFill/>
        </p:spPr>
        <p:txBody>
          <a:bodyPr wrap="square" anchor="t" lIns="45720" rIns="45720">
            <a:spAutoFit/>
          </a:bodyPr>
          <a:lstStyle/>
          <a:p>
            <a:pPr algn="l"/>
            <a:r>
              <a:rPr sz="1250" b="0" i="1">
                <a:solidFill>
                  <a:srgbClr val="333333"/>
                </a:solidFill>
                <a:latin typeface="Calibri"/>
              </a:rPr>
              <a:t>Illustration: the saved model was trained on all 10,000 machines, so this list is a demonstration, not a test. Honest scores are in stage 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Retention List: the 12 customers most likely to go quiet</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9: Deployment</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51</a:t>
            </a:r>
          </a:p>
        </p:txBody>
      </p:sp>
      <p:graphicFrame>
        <p:nvGraphicFramePr>
          <p:cNvPr id="7" name="Table 6"/>
          <p:cNvGraphicFramePr>
            <a:graphicFrameLocks noGrp="1"/>
          </p:cNvGraphicFramePr>
          <p:nvPr/>
        </p:nvGraphicFramePr>
        <p:xfrm>
          <a:off x="365760" y="1097280"/>
          <a:ext cx="11429996" cy="4992624"/>
        </p:xfrm>
        <a:graphic>
          <a:graphicData uri="http://schemas.openxmlformats.org/drawingml/2006/table">
            <a:tbl>
              <a:tblPr firstRow="0" bandRow="0">
                <a:tableStyleId>{5C22544A-7EE6-4342-B048-85BDC9FD1C3A}</a:tableStyleId>
              </a:tblPr>
              <a:tblGrid>
                <a:gridCol w="1684421"/>
                <a:gridCol w="1443789"/>
                <a:gridCol w="1804736"/>
                <a:gridCol w="1323473"/>
                <a:gridCol w="1443789"/>
                <a:gridCol w="1804736"/>
                <a:gridCol w="1925052"/>
              </a:tblGrid>
              <a:tr h="384048">
                <a:tc>
                  <a:txBody>
                    <a:bodyPr wrap="square"/>
                    <a:lstStyle/>
                    <a:p>
                      <a:r>
                        <a:rPr sz="1500" b="1">
                          <a:solidFill>
                            <a:srgbClr val="FFFFFF"/>
                          </a:solidFill>
                          <a:latin typeface="Calibri"/>
                        </a:rPr>
                        <a:t>Customer</a:t>
                      </a:r>
                    </a:p>
                  </a:txBody>
                  <a:tcPr marL="73152" marR="73152" marT="27432" marB="27432" anchor="ctr">
                    <a:solidFill>
                      <a:srgbClr val="1F4E79"/>
                    </a:solidFill>
                  </a:tcPr>
                </a:tc>
                <a:tc>
                  <a:txBody>
                    <a:bodyPr wrap="square"/>
                    <a:lstStyle/>
                    <a:p>
                      <a:pPr algn="ctr"/>
                      <a:r>
                        <a:rPr sz="1500" b="1">
                          <a:solidFill>
                            <a:srgbClr val="FFFFFF"/>
                          </a:solidFill>
                          <a:latin typeface="Calibri"/>
                        </a:rPr>
                        <a:t>Risk (%)</a:t>
                      </a:r>
                    </a:p>
                  </a:txBody>
                  <a:tcPr marL="73152" marR="73152" marT="27432" marB="27432" anchor="ctr">
                    <a:solidFill>
                      <a:srgbClr val="1F4E79"/>
                    </a:solidFill>
                  </a:tcPr>
                </a:tc>
                <a:tc>
                  <a:txBody>
                    <a:bodyPr wrap="square"/>
                    <a:lstStyle/>
                    <a:p>
                      <a:pPr algn="ctr"/>
                      <a:r>
                        <a:rPr sz="1500" b="1">
                          <a:solidFill>
                            <a:srgbClr val="FFFFFF"/>
                          </a:solidFill>
                          <a:latin typeface="Calibri"/>
                        </a:rPr>
                        <a:t>Days idle</a:t>
                      </a:r>
                    </a:p>
                  </a:txBody>
                  <a:tcPr marL="73152" marR="73152" marT="27432" marB="27432" anchor="ctr">
                    <a:solidFill>
                      <a:srgbClr val="1F4E79"/>
                    </a:solidFill>
                  </a:tcPr>
                </a:tc>
                <a:tc>
                  <a:txBody>
                    <a:bodyPr wrap="square"/>
                    <a:lstStyle/>
                    <a:p>
                      <a:pPr algn="ctr"/>
                      <a:r>
                        <a:rPr sz="1500" b="1">
                          <a:solidFill>
                            <a:srgbClr val="FFFFFF"/>
                          </a:solidFill>
                          <a:latin typeface="Calibri"/>
                        </a:rPr>
                        <a:t>Orders</a:t>
                      </a:r>
                    </a:p>
                  </a:txBody>
                  <a:tcPr marL="73152" marR="73152" marT="27432" marB="27432" anchor="ctr">
                    <a:solidFill>
                      <a:srgbClr val="1F4E79"/>
                    </a:solidFill>
                  </a:tcPr>
                </a:tc>
                <a:tc>
                  <a:txBody>
                    <a:bodyPr wrap="square"/>
                    <a:lstStyle/>
                    <a:p>
                      <a:pPr algn="ctr"/>
                      <a:r>
                        <a:rPr sz="1500" b="1">
                          <a:solidFill>
                            <a:srgbClr val="FFFFFF"/>
                          </a:solidFill>
                          <a:latin typeface="Calibri"/>
                        </a:rPr>
                        <a:t>Spend</a:t>
                      </a:r>
                    </a:p>
                  </a:txBody>
                  <a:tcPr marL="73152" marR="73152" marT="27432" marB="27432" anchor="ctr">
                    <a:solidFill>
                      <a:srgbClr val="1F4E79"/>
                    </a:solidFill>
                  </a:tcPr>
                </a:tc>
                <a:tc>
                  <a:txBody>
                    <a:bodyPr wrap="square"/>
                    <a:lstStyle/>
                    <a:p>
                      <a:pPr algn="ctr"/>
                      <a:r>
                        <a:rPr sz="1500" b="1">
                          <a:solidFill>
                            <a:srgbClr val="FFFFFF"/>
                          </a:solidFill>
                          <a:latin typeface="Calibri"/>
                        </a:rPr>
                        <a:t>Orders (90 d)</a:t>
                      </a:r>
                    </a:p>
                  </a:txBody>
                  <a:tcPr marL="73152" marR="73152" marT="27432" marB="27432" anchor="ctr">
                    <a:solidFill>
                      <a:srgbClr val="1F4E79"/>
                    </a:solidFill>
                  </a:tcPr>
                </a:tc>
                <a:tc>
                  <a:txBody>
                    <a:bodyPr wrap="square"/>
                    <a:lstStyle/>
                    <a:p>
                      <a:pPr algn="ctr"/>
                      <a:r>
                        <a:rPr sz="1500" b="1">
                          <a:solidFill>
                            <a:srgbClr val="FFFFFF"/>
                          </a:solidFill>
                          <a:latin typeface="Calibri"/>
                        </a:rPr>
                        <a:t>Actually lapsed</a:t>
                      </a:r>
                    </a:p>
                  </a:txBody>
                  <a:tcPr marL="73152" marR="73152" marT="27432" marB="27432" anchor="ctr">
                    <a:solidFill>
                      <a:srgbClr val="1F4E79"/>
                    </a:solidFill>
                  </a:tcPr>
                </a:tc>
              </a:tr>
              <a:tr h="384048">
                <a:tc>
                  <a:txBody>
                    <a:bodyPr wrap="square"/>
                    <a:lstStyle/>
                    <a:p>
                      <a:r>
                        <a:rPr sz="1500" b="1">
                          <a:solidFill>
                            <a:srgbClr val="222222"/>
                          </a:solidFill>
                          <a:latin typeface="Calibri"/>
                        </a:rPr>
                        <a:t>14495</a:t>
                      </a:r>
                    </a:p>
                  </a:txBody>
                  <a:tcPr marL="73152" marR="73152" marT="27432" marB="27432" anchor="ctr">
                    <a:solidFill>
                      <a:srgbClr val="FFFFFF"/>
                    </a:solidFill>
                  </a:tcPr>
                </a:tc>
                <a:tc>
                  <a:txBody>
                    <a:bodyPr wrap="square"/>
                    <a:lstStyle/>
                    <a:p>
                      <a:pPr algn="ctr"/>
                      <a:r>
                        <a:rPr sz="1500" b="0">
                          <a:solidFill>
                            <a:srgbClr val="222222"/>
                          </a:solidFill>
                          <a:latin typeface="Calibri"/>
                        </a:rPr>
                        <a:t>93.0</a:t>
                      </a:r>
                    </a:p>
                  </a:txBody>
                  <a:tcPr marL="73152" marR="73152" marT="27432" marB="27432" anchor="ctr">
                    <a:solidFill>
                      <a:srgbClr val="FFFFFF"/>
                    </a:solidFill>
                  </a:tcPr>
                </a:tc>
                <a:tc>
                  <a:txBody>
                    <a:bodyPr wrap="square"/>
                    <a:lstStyle/>
                    <a:p>
                      <a:pPr algn="ctr"/>
                      <a:r>
                        <a:rPr sz="1500" b="0">
                          <a:solidFill>
                            <a:srgbClr val="222222"/>
                          </a:solidFill>
                          <a:latin typeface="Calibri"/>
                        </a:rPr>
                        <a:t>29</a:t>
                      </a:r>
                    </a:p>
                  </a:txBody>
                  <a:tcPr marL="73152" marR="73152" marT="27432" marB="27432" anchor="ctr">
                    <a:solidFill>
                      <a:srgbClr val="FFFFFF"/>
                    </a:solidFill>
                  </a:tcPr>
                </a:tc>
                <a:tc>
                  <a:txBody>
                    <a:bodyPr wrap="square"/>
                    <a:lstStyle/>
                    <a:p>
                      <a:pPr algn="ctr"/>
                      <a:r>
                        <a:rPr sz="1500" b="0">
                          <a:solidFill>
                            <a:srgbClr val="222222"/>
                          </a:solidFill>
                          <a:latin typeface="Calibri"/>
                        </a:rPr>
                        <a:t>2</a:t>
                      </a:r>
                    </a:p>
                  </a:txBody>
                  <a:tcPr marL="73152" marR="73152" marT="27432" marB="27432" anchor="ctr">
                    <a:solidFill>
                      <a:srgbClr val="FFFFFF"/>
                    </a:solidFill>
                  </a:tcPr>
                </a:tc>
                <a:tc>
                  <a:txBody>
                    <a:bodyPr wrap="square"/>
                    <a:lstStyle/>
                    <a:p>
                      <a:pPr algn="ctr"/>
                      <a:r>
                        <a:rPr sz="1500" b="0">
                          <a:solidFill>
                            <a:srgbClr val="222222"/>
                          </a:solidFill>
                          <a:latin typeface="Calibri"/>
                        </a:rPr>
                        <a:t>92</a:t>
                      </a:r>
                    </a:p>
                  </a:txBody>
                  <a:tcPr marL="73152" marR="73152" marT="27432" marB="27432" anchor="ctr">
                    <a:solidFill>
                      <a:srgbClr val="FFFFFF"/>
                    </a:solidFill>
                  </a:tcPr>
                </a:tc>
                <a:tc>
                  <a:txBody>
                    <a:bodyPr wrap="square"/>
                    <a:lstStyle/>
                    <a:p>
                      <a:pPr algn="ctr"/>
                      <a:r>
                        <a:rPr sz="1500" b="0">
                          <a:solidFill>
                            <a:srgbClr val="222222"/>
                          </a:solidFill>
                          <a:latin typeface="Calibri"/>
                        </a:rPr>
                        <a:t>1</a:t>
                      </a:r>
                    </a:p>
                  </a:txBody>
                  <a:tcPr marL="73152" marR="73152" marT="27432" marB="27432" anchor="ctr">
                    <a:solidFill>
                      <a:srgbClr val="FFFFFF"/>
                    </a:solidFill>
                  </a:tcPr>
                </a:tc>
                <a:tc>
                  <a:txBody>
                    <a:bodyPr wrap="square"/>
                    <a:lstStyle/>
                    <a:p>
                      <a:pPr algn="ctr"/>
                      <a:r>
                        <a:rPr sz="1500" b="0">
                          <a:solidFill>
                            <a:srgbClr val="222222"/>
                          </a:solidFill>
                          <a:latin typeface="Calibri"/>
                        </a:rPr>
                        <a:t>no</a:t>
                      </a:r>
                    </a:p>
                  </a:txBody>
                  <a:tcPr marL="73152" marR="73152" marT="27432" marB="27432" anchor="ctr">
                    <a:solidFill>
                      <a:srgbClr val="FFFFFF"/>
                    </a:solidFill>
                  </a:tcPr>
                </a:tc>
              </a:tr>
              <a:tr h="384048">
                <a:tc>
                  <a:txBody>
                    <a:bodyPr wrap="square"/>
                    <a:lstStyle/>
                    <a:p>
                      <a:r>
                        <a:rPr sz="1500" b="1">
                          <a:solidFill>
                            <a:srgbClr val="222222"/>
                          </a:solidFill>
                          <a:latin typeface="Calibri"/>
                        </a:rPr>
                        <a:t>17660</a:t>
                      </a:r>
                    </a:p>
                  </a:txBody>
                  <a:tcPr marL="73152" marR="73152" marT="27432" marB="27432" anchor="ctr">
                    <a:solidFill>
                      <a:srgbClr val="F2F5F8"/>
                    </a:solidFill>
                  </a:tcPr>
                </a:tc>
                <a:tc>
                  <a:txBody>
                    <a:bodyPr wrap="square"/>
                    <a:lstStyle/>
                    <a:p>
                      <a:pPr algn="ctr"/>
                      <a:r>
                        <a:rPr sz="1500" b="0">
                          <a:solidFill>
                            <a:srgbClr val="222222"/>
                          </a:solidFill>
                          <a:latin typeface="Calibri"/>
                        </a:rPr>
                        <a:t>91.5</a:t>
                      </a:r>
                    </a:p>
                  </a:txBody>
                  <a:tcPr marL="73152" marR="73152" marT="27432" marB="27432" anchor="ctr">
                    <a:solidFill>
                      <a:srgbClr val="F2F5F8"/>
                    </a:solidFill>
                  </a:tcPr>
                </a:tc>
                <a:tc>
                  <a:txBody>
                    <a:bodyPr wrap="square"/>
                    <a:lstStyle/>
                    <a:p>
                      <a:pPr algn="ctr"/>
                      <a:r>
                        <a:rPr sz="1500" b="0">
                          <a:solidFill>
                            <a:srgbClr val="222222"/>
                          </a:solidFill>
                          <a:latin typeface="Calibri"/>
                        </a:rPr>
                        <a:t>49</a:t>
                      </a:r>
                    </a:p>
                  </a:txBody>
                  <a:tcPr marL="73152" marR="73152" marT="27432" marB="27432" anchor="ctr">
                    <a:solidFill>
                      <a:srgbClr val="F2F5F8"/>
                    </a:solidFill>
                  </a:tcPr>
                </a:tc>
                <a:tc>
                  <a:txBody>
                    <a:bodyPr wrap="square"/>
                    <a:lstStyle/>
                    <a:p>
                      <a:pPr algn="ctr"/>
                      <a:r>
                        <a:rPr sz="1500" b="0">
                          <a:solidFill>
                            <a:srgbClr val="222222"/>
                          </a:solidFill>
                          <a:latin typeface="Calibri"/>
                        </a:rPr>
                        <a:t>2</a:t>
                      </a:r>
                    </a:p>
                  </a:txBody>
                  <a:tcPr marL="73152" marR="73152" marT="27432" marB="27432" anchor="ctr">
                    <a:solidFill>
                      <a:srgbClr val="F2F5F8"/>
                    </a:solidFill>
                  </a:tcPr>
                </a:tc>
                <a:tc>
                  <a:txBody>
                    <a:bodyPr wrap="square"/>
                    <a:lstStyle/>
                    <a:p>
                      <a:pPr algn="ctr"/>
                      <a:r>
                        <a:rPr sz="1500" b="0">
                          <a:solidFill>
                            <a:srgbClr val="222222"/>
                          </a:solidFill>
                          <a:latin typeface="Calibri"/>
                        </a:rPr>
                        <a:t>359</a:t>
                      </a:r>
                    </a:p>
                  </a:txBody>
                  <a:tcPr marL="73152" marR="73152" marT="27432" marB="27432" anchor="ctr">
                    <a:solidFill>
                      <a:srgbClr val="F2F5F8"/>
                    </a:solidFill>
                  </a:tcPr>
                </a:tc>
                <a:tc>
                  <a:txBody>
                    <a:bodyPr wrap="square"/>
                    <a:lstStyle/>
                    <a:p>
                      <a:pPr algn="ctr"/>
                      <a:r>
                        <a:rPr sz="1500" b="0">
                          <a:solidFill>
                            <a:srgbClr val="222222"/>
                          </a:solidFill>
                          <a:latin typeface="Calibri"/>
                        </a:rPr>
                        <a:t>1</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14997</a:t>
                      </a:r>
                    </a:p>
                  </a:txBody>
                  <a:tcPr marL="73152" marR="73152" marT="27432" marB="27432" anchor="ctr">
                    <a:solidFill>
                      <a:srgbClr val="FFFFFF"/>
                    </a:solidFill>
                  </a:tcPr>
                </a:tc>
                <a:tc>
                  <a:txBody>
                    <a:bodyPr wrap="square"/>
                    <a:lstStyle/>
                    <a:p>
                      <a:pPr algn="ctr"/>
                      <a:r>
                        <a:rPr sz="1500" b="0">
                          <a:solidFill>
                            <a:srgbClr val="222222"/>
                          </a:solidFill>
                          <a:latin typeface="Calibri"/>
                        </a:rPr>
                        <a:t>90.6</a:t>
                      </a:r>
                    </a:p>
                  </a:txBody>
                  <a:tcPr marL="73152" marR="73152" marT="27432" marB="27432" anchor="ctr">
                    <a:solidFill>
                      <a:srgbClr val="FFFFFF"/>
                    </a:solidFill>
                  </a:tcPr>
                </a:tc>
                <a:tc>
                  <a:txBody>
                    <a:bodyPr wrap="square"/>
                    <a:lstStyle/>
                    <a:p>
                      <a:pPr algn="ctr"/>
                      <a:r>
                        <a:rPr sz="1500" b="0">
                          <a:solidFill>
                            <a:srgbClr val="222222"/>
                          </a:solidFill>
                          <a:latin typeface="Calibri"/>
                        </a:rPr>
                        <a:t>86</a:t>
                      </a:r>
                    </a:p>
                  </a:txBody>
                  <a:tcPr marL="73152" marR="73152" marT="27432" marB="27432" anchor="ctr">
                    <a:solidFill>
                      <a:srgbClr val="FFFFFF"/>
                    </a:solidFill>
                  </a:tcPr>
                </a:tc>
                <a:tc>
                  <a:txBody>
                    <a:bodyPr wrap="square"/>
                    <a:lstStyle/>
                    <a:p>
                      <a:pPr algn="ctr"/>
                      <a:r>
                        <a:rPr sz="1500" b="0">
                          <a:solidFill>
                            <a:srgbClr val="222222"/>
                          </a:solidFill>
                          <a:latin typeface="Calibri"/>
                        </a:rPr>
                        <a:t>2</a:t>
                      </a:r>
                    </a:p>
                  </a:txBody>
                  <a:tcPr marL="73152" marR="73152" marT="27432" marB="27432" anchor="ctr">
                    <a:solidFill>
                      <a:srgbClr val="FFFFFF"/>
                    </a:solidFill>
                  </a:tcPr>
                </a:tc>
                <a:tc>
                  <a:txBody>
                    <a:bodyPr wrap="square"/>
                    <a:lstStyle/>
                    <a:p>
                      <a:pPr algn="ctr"/>
                      <a:r>
                        <a:rPr sz="1500" b="0">
                          <a:solidFill>
                            <a:srgbClr val="222222"/>
                          </a:solidFill>
                          <a:latin typeface="Calibri"/>
                        </a:rPr>
                        <a:t>386</a:t>
                      </a:r>
                    </a:p>
                  </a:txBody>
                  <a:tcPr marL="73152" marR="73152" marT="27432" marB="27432" anchor="ctr">
                    <a:solidFill>
                      <a:srgbClr val="FFFFFF"/>
                    </a:solidFill>
                  </a:tcPr>
                </a:tc>
                <a:tc>
                  <a:txBody>
                    <a:bodyPr wrap="square"/>
                    <a:lstStyle/>
                    <a:p>
                      <a:pPr algn="ctr"/>
                      <a:r>
                        <a:rPr sz="1500" b="0">
                          <a:solidFill>
                            <a:srgbClr val="222222"/>
                          </a:solidFill>
                          <a:latin typeface="Calibri"/>
                        </a:rPr>
                        <a:t>1</a:t>
                      </a:r>
                    </a:p>
                  </a:txBody>
                  <a:tcPr marL="73152" marR="73152" marT="27432" marB="27432" anchor="ctr">
                    <a:solidFill>
                      <a:srgbClr val="FFFFFF"/>
                    </a:solidFill>
                  </a:tcPr>
                </a:tc>
                <a:tc>
                  <a:txBody>
                    <a:bodyPr wrap="square"/>
                    <a:lstStyle/>
                    <a:p>
                      <a:pPr algn="ctr"/>
                      <a:r>
                        <a:rPr sz="1500" b="0">
                          <a:solidFill>
                            <a:srgbClr val="222222"/>
                          </a:solidFill>
                          <a:latin typeface="Calibri"/>
                        </a:rPr>
                        <a:t>no</a:t>
                      </a:r>
                    </a:p>
                  </a:txBody>
                  <a:tcPr marL="73152" marR="73152" marT="27432" marB="27432" anchor="ctr">
                    <a:solidFill>
                      <a:srgbClr val="FFFFFF"/>
                    </a:solidFill>
                  </a:tcPr>
                </a:tc>
              </a:tr>
              <a:tr h="384048">
                <a:tc>
                  <a:txBody>
                    <a:bodyPr wrap="square"/>
                    <a:lstStyle/>
                    <a:p>
                      <a:r>
                        <a:rPr sz="1500" b="1">
                          <a:solidFill>
                            <a:srgbClr val="222222"/>
                          </a:solidFill>
                          <a:latin typeface="Calibri"/>
                        </a:rPr>
                        <a:t>14171</a:t>
                      </a:r>
                    </a:p>
                  </a:txBody>
                  <a:tcPr marL="73152" marR="73152" marT="27432" marB="27432" anchor="ctr">
                    <a:solidFill>
                      <a:srgbClr val="F2F5F8"/>
                    </a:solidFill>
                  </a:tcPr>
                </a:tc>
                <a:tc>
                  <a:txBody>
                    <a:bodyPr wrap="square"/>
                    <a:lstStyle/>
                    <a:p>
                      <a:pPr algn="ctr"/>
                      <a:r>
                        <a:rPr sz="1500" b="0">
                          <a:solidFill>
                            <a:srgbClr val="222222"/>
                          </a:solidFill>
                          <a:latin typeface="Calibri"/>
                        </a:rPr>
                        <a:t>90.5</a:t>
                      </a:r>
                    </a:p>
                  </a:txBody>
                  <a:tcPr marL="73152" marR="73152" marT="27432" marB="27432" anchor="ctr">
                    <a:solidFill>
                      <a:srgbClr val="F2F5F8"/>
                    </a:solidFill>
                  </a:tcPr>
                </a:tc>
                <a:tc>
                  <a:txBody>
                    <a:bodyPr wrap="square"/>
                    <a:lstStyle/>
                    <a:p>
                      <a:pPr algn="ctr"/>
                      <a:r>
                        <a:rPr sz="1500" b="0">
                          <a:solidFill>
                            <a:srgbClr val="222222"/>
                          </a:solidFill>
                          <a:latin typeface="Calibri"/>
                        </a:rPr>
                        <a:t>6</a:t>
                      </a:r>
                    </a:p>
                  </a:txBody>
                  <a:tcPr marL="73152" marR="73152" marT="27432" marB="27432" anchor="ctr">
                    <a:solidFill>
                      <a:srgbClr val="F2F5F8"/>
                    </a:solidFill>
                  </a:tcPr>
                </a:tc>
                <a:tc>
                  <a:txBody>
                    <a:bodyPr wrap="square"/>
                    <a:lstStyle/>
                    <a:p>
                      <a:pPr algn="ctr"/>
                      <a:r>
                        <a:rPr sz="1500" b="0">
                          <a:solidFill>
                            <a:srgbClr val="222222"/>
                          </a:solidFill>
                          <a:latin typeface="Calibri"/>
                        </a:rPr>
                        <a:t>2</a:t>
                      </a:r>
                    </a:p>
                  </a:txBody>
                  <a:tcPr marL="73152" marR="73152" marT="27432" marB="27432" anchor="ctr">
                    <a:solidFill>
                      <a:srgbClr val="F2F5F8"/>
                    </a:solidFill>
                  </a:tcPr>
                </a:tc>
                <a:tc>
                  <a:txBody>
                    <a:bodyPr wrap="square"/>
                    <a:lstStyle/>
                    <a:p>
                      <a:pPr algn="ctr"/>
                      <a:r>
                        <a:rPr sz="1500" b="0">
                          <a:solidFill>
                            <a:srgbClr val="222222"/>
                          </a:solidFill>
                          <a:latin typeface="Calibri"/>
                        </a:rPr>
                        <a:t>499</a:t>
                      </a:r>
                    </a:p>
                  </a:txBody>
                  <a:tcPr marL="73152" marR="73152" marT="27432" marB="27432" anchor="ctr">
                    <a:solidFill>
                      <a:srgbClr val="F2F5F8"/>
                    </a:solidFill>
                  </a:tcPr>
                </a:tc>
                <a:tc>
                  <a:txBody>
                    <a:bodyPr wrap="square"/>
                    <a:lstStyle/>
                    <a:p>
                      <a:pPr algn="ctr"/>
                      <a:r>
                        <a:rPr sz="1500" b="0">
                          <a:solidFill>
                            <a:srgbClr val="222222"/>
                          </a:solidFill>
                          <a:latin typeface="Calibri"/>
                        </a:rPr>
                        <a:t>1</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16641</a:t>
                      </a:r>
                    </a:p>
                  </a:txBody>
                  <a:tcPr marL="73152" marR="73152" marT="27432" marB="27432" anchor="ctr">
                    <a:solidFill>
                      <a:srgbClr val="FFFFFF"/>
                    </a:solidFill>
                  </a:tcPr>
                </a:tc>
                <a:tc>
                  <a:txBody>
                    <a:bodyPr wrap="square"/>
                    <a:lstStyle/>
                    <a:p>
                      <a:pPr algn="ctr"/>
                      <a:r>
                        <a:rPr sz="1500" b="0">
                          <a:solidFill>
                            <a:srgbClr val="222222"/>
                          </a:solidFill>
                          <a:latin typeface="Calibri"/>
                        </a:rPr>
                        <a:t>90.0</a:t>
                      </a:r>
                    </a:p>
                  </a:txBody>
                  <a:tcPr marL="73152" marR="73152" marT="27432" marB="27432" anchor="ctr">
                    <a:solidFill>
                      <a:srgbClr val="FFFFFF"/>
                    </a:solidFill>
                  </a:tcPr>
                </a:tc>
                <a:tc>
                  <a:txBody>
                    <a:bodyPr wrap="square"/>
                    <a:lstStyle/>
                    <a:p>
                      <a:pPr algn="ctr"/>
                      <a:r>
                        <a:rPr sz="1500" b="0">
                          <a:solidFill>
                            <a:srgbClr val="222222"/>
                          </a:solidFill>
                          <a:latin typeface="Calibri"/>
                        </a:rPr>
                        <a:t>13</a:t>
                      </a:r>
                    </a:p>
                  </a:txBody>
                  <a:tcPr marL="73152" marR="73152" marT="27432" marB="27432" anchor="ctr">
                    <a:solidFill>
                      <a:srgbClr val="FFFFFF"/>
                    </a:solidFill>
                  </a:tcPr>
                </a:tc>
                <a:tc>
                  <a:txBody>
                    <a:bodyPr wrap="square"/>
                    <a:lstStyle/>
                    <a:p>
                      <a:pPr algn="ctr"/>
                      <a:r>
                        <a:rPr sz="1500" b="0">
                          <a:solidFill>
                            <a:srgbClr val="222222"/>
                          </a:solidFill>
                          <a:latin typeface="Calibri"/>
                        </a:rPr>
                        <a:t>2</a:t>
                      </a:r>
                    </a:p>
                  </a:txBody>
                  <a:tcPr marL="73152" marR="73152" marT="27432" marB="27432" anchor="ctr">
                    <a:solidFill>
                      <a:srgbClr val="FFFFFF"/>
                    </a:solidFill>
                  </a:tcPr>
                </a:tc>
                <a:tc>
                  <a:txBody>
                    <a:bodyPr wrap="square"/>
                    <a:lstStyle/>
                    <a:p>
                      <a:pPr algn="ctr"/>
                      <a:r>
                        <a:rPr sz="1500" b="0">
                          <a:solidFill>
                            <a:srgbClr val="222222"/>
                          </a:solidFill>
                          <a:latin typeface="Calibri"/>
                        </a:rPr>
                        <a:t>554</a:t>
                      </a:r>
                    </a:p>
                  </a:txBody>
                  <a:tcPr marL="73152" marR="73152" marT="27432" marB="27432" anchor="ctr">
                    <a:solidFill>
                      <a:srgbClr val="FFFFFF"/>
                    </a:solidFill>
                  </a:tcPr>
                </a:tc>
                <a:tc>
                  <a:txBody>
                    <a:bodyPr wrap="square"/>
                    <a:lstStyle/>
                    <a:p>
                      <a:pPr algn="ctr"/>
                      <a:r>
                        <a:rPr sz="1500" b="0">
                          <a:solidFill>
                            <a:srgbClr val="222222"/>
                          </a:solidFill>
                          <a:latin typeface="Calibri"/>
                        </a:rPr>
                        <a:t>1</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17958</a:t>
                      </a:r>
                    </a:p>
                  </a:txBody>
                  <a:tcPr marL="73152" marR="73152" marT="27432" marB="27432" anchor="ctr">
                    <a:solidFill>
                      <a:srgbClr val="F2F5F8"/>
                    </a:solidFill>
                  </a:tcPr>
                </a:tc>
                <a:tc>
                  <a:txBody>
                    <a:bodyPr wrap="square"/>
                    <a:lstStyle/>
                    <a:p>
                      <a:pPr algn="ctr"/>
                      <a:r>
                        <a:rPr sz="1500" b="0">
                          <a:solidFill>
                            <a:srgbClr val="222222"/>
                          </a:solidFill>
                          <a:latin typeface="Calibri"/>
                        </a:rPr>
                        <a:t>90.0</a:t>
                      </a:r>
                    </a:p>
                  </a:txBody>
                  <a:tcPr marL="73152" marR="73152" marT="27432" marB="27432" anchor="ctr">
                    <a:solidFill>
                      <a:srgbClr val="F2F5F8"/>
                    </a:solidFill>
                  </a:tcPr>
                </a:tc>
                <a:tc>
                  <a:txBody>
                    <a:bodyPr wrap="square"/>
                    <a:lstStyle/>
                    <a:p>
                      <a:pPr algn="ctr"/>
                      <a:r>
                        <a:rPr sz="1500" b="0">
                          <a:solidFill>
                            <a:srgbClr val="222222"/>
                          </a:solidFill>
                          <a:latin typeface="Calibri"/>
                        </a:rPr>
                        <a:t>24</a:t>
                      </a:r>
                    </a:p>
                  </a:txBody>
                  <a:tcPr marL="73152" marR="73152" marT="27432" marB="27432" anchor="ctr">
                    <a:solidFill>
                      <a:srgbClr val="F2F5F8"/>
                    </a:solidFill>
                  </a:tcPr>
                </a:tc>
                <a:tc>
                  <a:txBody>
                    <a:bodyPr wrap="square"/>
                    <a:lstStyle/>
                    <a:p>
                      <a:pPr algn="ctr"/>
                      <a:r>
                        <a:rPr sz="1500" b="0">
                          <a:solidFill>
                            <a:srgbClr val="222222"/>
                          </a:solidFill>
                          <a:latin typeface="Calibri"/>
                        </a:rPr>
                        <a:t>2</a:t>
                      </a:r>
                    </a:p>
                  </a:txBody>
                  <a:tcPr marL="73152" marR="73152" marT="27432" marB="27432" anchor="ctr">
                    <a:solidFill>
                      <a:srgbClr val="F2F5F8"/>
                    </a:solidFill>
                  </a:tcPr>
                </a:tc>
                <a:tc>
                  <a:txBody>
                    <a:bodyPr wrap="square"/>
                    <a:lstStyle/>
                    <a:p>
                      <a:pPr algn="ctr"/>
                      <a:r>
                        <a:rPr sz="1500" b="0">
                          <a:solidFill>
                            <a:srgbClr val="222222"/>
                          </a:solidFill>
                          <a:latin typeface="Calibri"/>
                        </a:rPr>
                        <a:t>974</a:t>
                      </a:r>
                    </a:p>
                  </a:txBody>
                  <a:tcPr marL="73152" marR="73152" marT="27432" marB="27432" anchor="ctr">
                    <a:solidFill>
                      <a:srgbClr val="F2F5F8"/>
                    </a:solidFill>
                  </a:tcPr>
                </a:tc>
                <a:tc>
                  <a:txBody>
                    <a:bodyPr wrap="square"/>
                    <a:lstStyle/>
                    <a:p>
                      <a:pPr algn="ctr"/>
                      <a:r>
                        <a:rPr sz="1500" b="0">
                          <a:solidFill>
                            <a:srgbClr val="222222"/>
                          </a:solidFill>
                          <a:latin typeface="Calibri"/>
                        </a:rPr>
                        <a:t>1</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14079</a:t>
                      </a:r>
                    </a:p>
                  </a:txBody>
                  <a:tcPr marL="73152" marR="73152" marT="27432" marB="27432" anchor="ctr">
                    <a:solidFill>
                      <a:srgbClr val="FFFFFF"/>
                    </a:solidFill>
                  </a:tcPr>
                </a:tc>
                <a:tc>
                  <a:txBody>
                    <a:bodyPr wrap="square"/>
                    <a:lstStyle/>
                    <a:p>
                      <a:pPr algn="ctr"/>
                      <a:r>
                        <a:rPr sz="1500" b="0">
                          <a:solidFill>
                            <a:srgbClr val="222222"/>
                          </a:solidFill>
                          <a:latin typeface="Calibri"/>
                        </a:rPr>
                        <a:t>90.0</a:t>
                      </a:r>
                    </a:p>
                  </a:txBody>
                  <a:tcPr marL="73152" marR="73152" marT="27432" marB="27432" anchor="ctr">
                    <a:solidFill>
                      <a:srgbClr val="FFFFFF"/>
                    </a:solidFill>
                  </a:tcPr>
                </a:tc>
                <a:tc>
                  <a:txBody>
                    <a:bodyPr wrap="square"/>
                    <a:lstStyle/>
                    <a:p>
                      <a:pPr algn="ctr"/>
                      <a:r>
                        <a:rPr sz="1500" b="0">
                          <a:solidFill>
                            <a:srgbClr val="222222"/>
                          </a:solidFill>
                          <a:latin typeface="Calibri"/>
                        </a:rPr>
                        <a:t>32</a:t>
                      </a:r>
                    </a:p>
                  </a:txBody>
                  <a:tcPr marL="73152" marR="73152" marT="27432" marB="27432" anchor="ctr">
                    <a:solidFill>
                      <a:srgbClr val="FFFFFF"/>
                    </a:solidFill>
                  </a:tcPr>
                </a:tc>
                <a:tc>
                  <a:txBody>
                    <a:bodyPr wrap="square"/>
                    <a:lstStyle/>
                    <a:p>
                      <a:pPr algn="ctr"/>
                      <a:r>
                        <a:rPr sz="1500" b="0">
                          <a:solidFill>
                            <a:srgbClr val="222222"/>
                          </a:solidFill>
                          <a:latin typeface="Calibri"/>
                        </a:rPr>
                        <a:t>2</a:t>
                      </a:r>
                    </a:p>
                  </a:txBody>
                  <a:tcPr marL="73152" marR="73152" marT="27432" marB="27432" anchor="ctr">
                    <a:solidFill>
                      <a:srgbClr val="FFFFFF"/>
                    </a:solidFill>
                  </a:tcPr>
                </a:tc>
                <a:tc>
                  <a:txBody>
                    <a:bodyPr wrap="square"/>
                    <a:lstStyle/>
                    <a:p>
                      <a:pPr algn="ctr"/>
                      <a:r>
                        <a:rPr sz="1500" b="0">
                          <a:solidFill>
                            <a:srgbClr val="222222"/>
                          </a:solidFill>
                          <a:latin typeface="Calibri"/>
                        </a:rPr>
                        <a:t>619</a:t>
                      </a:r>
                    </a:p>
                  </a:txBody>
                  <a:tcPr marL="73152" marR="73152" marT="27432" marB="27432" anchor="ctr">
                    <a:solidFill>
                      <a:srgbClr val="FFFFFF"/>
                    </a:solidFill>
                  </a:tcPr>
                </a:tc>
                <a:tc>
                  <a:txBody>
                    <a:bodyPr wrap="square"/>
                    <a:lstStyle/>
                    <a:p>
                      <a:pPr algn="ctr"/>
                      <a:r>
                        <a:rPr sz="1500" b="0">
                          <a:solidFill>
                            <a:srgbClr val="222222"/>
                          </a:solidFill>
                          <a:latin typeface="Calibri"/>
                        </a:rPr>
                        <a:t>1</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15374</a:t>
                      </a:r>
                    </a:p>
                  </a:txBody>
                  <a:tcPr marL="73152" marR="73152" marT="27432" marB="27432" anchor="ctr">
                    <a:solidFill>
                      <a:srgbClr val="F2F5F8"/>
                    </a:solidFill>
                  </a:tcPr>
                </a:tc>
                <a:tc>
                  <a:txBody>
                    <a:bodyPr wrap="square"/>
                    <a:lstStyle/>
                    <a:p>
                      <a:pPr algn="ctr"/>
                      <a:r>
                        <a:rPr sz="1500" b="0">
                          <a:solidFill>
                            <a:srgbClr val="222222"/>
                          </a:solidFill>
                          <a:latin typeface="Calibri"/>
                        </a:rPr>
                        <a:t>89.7</a:t>
                      </a:r>
                    </a:p>
                  </a:txBody>
                  <a:tcPr marL="73152" marR="73152" marT="27432" marB="27432" anchor="ctr">
                    <a:solidFill>
                      <a:srgbClr val="F2F5F8"/>
                    </a:solidFill>
                  </a:tcPr>
                </a:tc>
                <a:tc>
                  <a:txBody>
                    <a:bodyPr wrap="square"/>
                    <a:lstStyle/>
                    <a:p>
                      <a:pPr algn="ctr"/>
                      <a:r>
                        <a:rPr sz="1500" b="0">
                          <a:solidFill>
                            <a:srgbClr val="222222"/>
                          </a:solidFill>
                          <a:latin typeface="Calibri"/>
                        </a:rPr>
                        <a:t>36</a:t>
                      </a:r>
                    </a:p>
                  </a:txBody>
                  <a:tcPr marL="73152" marR="73152" marT="27432" marB="27432" anchor="ctr">
                    <a:solidFill>
                      <a:srgbClr val="F2F5F8"/>
                    </a:solidFill>
                  </a:tcPr>
                </a:tc>
                <a:tc>
                  <a:txBody>
                    <a:bodyPr wrap="square"/>
                    <a:lstStyle/>
                    <a:p>
                      <a:pPr algn="ctr"/>
                      <a:r>
                        <a:rPr sz="1500" b="0">
                          <a:solidFill>
                            <a:srgbClr val="222222"/>
                          </a:solidFill>
                          <a:latin typeface="Calibri"/>
                        </a:rPr>
                        <a:t>2</a:t>
                      </a:r>
                    </a:p>
                  </a:txBody>
                  <a:tcPr marL="73152" marR="73152" marT="27432" marB="27432" anchor="ctr">
                    <a:solidFill>
                      <a:srgbClr val="F2F5F8"/>
                    </a:solidFill>
                  </a:tcPr>
                </a:tc>
                <a:tc>
                  <a:txBody>
                    <a:bodyPr wrap="square"/>
                    <a:lstStyle/>
                    <a:p>
                      <a:pPr algn="ctr"/>
                      <a:r>
                        <a:rPr sz="1500" b="0">
                          <a:solidFill>
                            <a:srgbClr val="222222"/>
                          </a:solidFill>
                          <a:latin typeface="Calibri"/>
                        </a:rPr>
                        <a:t>307</a:t>
                      </a:r>
                    </a:p>
                  </a:txBody>
                  <a:tcPr marL="73152" marR="73152" marT="27432" marB="27432" anchor="ctr">
                    <a:solidFill>
                      <a:srgbClr val="F2F5F8"/>
                    </a:solidFill>
                  </a:tcPr>
                </a:tc>
                <a:tc>
                  <a:txBody>
                    <a:bodyPr wrap="square"/>
                    <a:lstStyle/>
                    <a:p>
                      <a:pPr algn="ctr"/>
                      <a:r>
                        <a:rPr sz="1500" b="0">
                          <a:solidFill>
                            <a:srgbClr val="222222"/>
                          </a:solidFill>
                          <a:latin typeface="Calibri"/>
                        </a:rPr>
                        <a:t>1</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18281</a:t>
                      </a:r>
                    </a:p>
                  </a:txBody>
                  <a:tcPr marL="73152" marR="73152" marT="27432" marB="27432" anchor="ctr">
                    <a:solidFill>
                      <a:srgbClr val="FFFFFF"/>
                    </a:solidFill>
                  </a:tcPr>
                </a:tc>
                <a:tc>
                  <a:txBody>
                    <a:bodyPr wrap="square"/>
                    <a:lstStyle/>
                    <a:p>
                      <a:pPr algn="ctr"/>
                      <a:r>
                        <a:rPr sz="1500" b="0">
                          <a:solidFill>
                            <a:srgbClr val="222222"/>
                          </a:solidFill>
                          <a:latin typeface="Calibri"/>
                        </a:rPr>
                        <a:t>89.7</a:t>
                      </a:r>
                    </a:p>
                  </a:txBody>
                  <a:tcPr marL="73152" marR="73152" marT="27432" marB="27432" anchor="ctr">
                    <a:solidFill>
                      <a:srgbClr val="FFFFFF"/>
                    </a:solidFill>
                  </a:tcPr>
                </a:tc>
                <a:tc>
                  <a:txBody>
                    <a:bodyPr wrap="square"/>
                    <a:lstStyle/>
                    <a:p>
                      <a:pPr algn="ctr"/>
                      <a:r>
                        <a:rPr sz="1500" b="0">
                          <a:solidFill>
                            <a:srgbClr val="222222"/>
                          </a:solidFill>
                          <a:latin typeface="Calibri"/>
                        </a:rPr>
                        <a:t>88</a:t>
                      </a:r>
                    </a:p>
                  </a:txBody>
                  <a:tcPr marL="73152" marR="73152" marT="27432" marB="27432" anchor="ctr">
                    <a:solidFill>
                      <a:srgbClr val="FFFFFF"/>
                    </a:solidFill>
                  </a:tcPr>
                </a:tc>
                <a:tc>
                  <a:txBody>
                    <a:bodyPr wrap="square"/>
                    <a:lstStyle/>
                    <a:p>
                      <a:pPr algn="ctr"/>
                      <a:r>
                        <a:rPr sz="1500" b="0">
                          <a:solidFill>
                            <a:srgbClr val="222222"/>
                          </a:solidFill>
                          <a:latin typeface="Calibri"/>
                        </a:rPr>
                        <a:t>2</a:t>
                      </a:r>
                    </a:p>
                  </a:txBody>
                  <a:tcPr marL="73152" marR="73152" marT="27432" marB="27432" anchor="ctr">
                    <a:solidFill>
                      <a:srgbClr val="FFFFFF"/>
                    </a:solidFill>
                  </a:tcPr>
                </a:tc>
                <a:tc>
                  <a:txBody>
                    <a:bodyPr wrap="square"/>
                    <a:lstStyle/>
                    <a:p>
                      <a:pPr algn="ctr"/>
                      <a:r>
                        <a:rPr sz="1500" b="0">
                          <a:solidFill>
                            <a:srgbClr val="222222"/>
                          </a:solidFill>
                          <a:latin typeface="Calibri"/>
                        </a:rPr>
                        <a:t>201</a:t>
                      </a:r>
                    </a:p>
                  </a:txBody>
                  <a:tcPr marL="73152" marR="73152" marT="27432" marB="27432" anchor="ctr">
                    <a:solidFill>
                      <a:srgbClr val="FFFFFF"/>
                    </a:solidFill>
                  </a:tcPr>
                </a:tc>
                <a:tc>
                  <a:txBody>
                    <a:bodyPr wrap="square"/>
                    <a:lstStyle/>
                    <a:p>
                      <a:pPr algn="ctr"/>
                      <a:r>
                        <a:rPr sz="1500" b="0">
                          <a:solidFill>
                            <a:srgbClr val="222222"/>
                          </a:solidFill>
                          <a:latin typeface="Calibri"/>
                        </a:rPr>
                        <a:t>1</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15256</a:t>
                      </a:r>
                    </a:p>
                  </a:txBody>
                  <a:tcPr marL="73152" marR="73152" marT="27432" marB="27432" anchor="ctr">
                    <a:solidFill>
                      <a:srgbClr val="F2F5F8"/>
                    </a:solidFill>
                  </a:tcPr>
                </a:tc>
                <a:tc>
                  <a:txBody>
                    <a:bodyPr wrap="square"/>
                    <a:lstStyle/>
                    <a:p>
                      <a:pPr algn="ctr"/>
                      <a:r>
                        <a:rPr sz="1500" b="0">
                          <a:solidFill>
                            <a:srgbClr val="222222"/>
                          </a:solidFill>
                          <a:latin typeface="Calibri"/>
                        </a:rPr>
                        <a:t>89.3</a:t>
                      </a:r>
                    </a:p>
                  </a:txBody>
                  <a:tcPr marL="73152" marR="73152" marT="27432" marB="27432" anchor="ctr">
                    <a:solidFill>
                      <a:srgbClr val="F2F5F8"/>
                    </a:solidFill>
                  </a:tcPr>
                </a:tc>
                <a:tc>
                  <a:txBody>
                    <a:bodyPr wrap="square"/>
                    <a:lstStyle/>
                    <a:p>
                      <a:pPr algn="ctr"/>
                      <a:r>
                        <a:rPr sz="1500" b="0">
                          <a:solidFill>
                            <a:srgbClr val="222222"/>
                          </a:solidFill>
                          <a:latin typeface="Calibri"/>
                        </a:rPr>
                        <a:t>56</a:t>
                      </a:r>
                    </a:p>
                  </a:txBody>
                  <a:tcPr marL="73152" marR="73152" marT="27432" marB="27432" anchor="ctr">
                    <a:solidFill>
                      <a:srgbClr val="F2F5F8"/>
                    </a:solidFill>
                  </a:tcPr>
                </a:tc>
                <a:tc>
                  <a:txBody>
                    <a:bodyPr wrap="square"/>
                    <a:lstStyle/>
                    <a:p>
                      <a:pPr algn="ctr"/>
                      <a:r>
                        <a:rPr sz="1500" b="0">
                          <a:solidFill>
                            <a:srgbClr val="222222"/>
                          </a:solidFill>
                          <a:latin typeface="Calibri"/>
                        </a:rPr>
                        <a:t>2</a:t>
                      </a:r>
                    </a:p>
                  </a:txBody>
                  <a:tcPr marL="73152" marR="73152" marT="27432" marB="27432" anchor="ctr">
                    <a:solidFill>
                      <a:srgbClr val="F2F5F8"/>
                    </a:solidFill>
                  </a:tcPr>
                </a:tc>
                <a:tc>
                  <a:txBody>
                    <a:bodyPr wrap="square"/>
                    <a:lstStyle/>
                    <a:p>
                      <a:pPr algn="ctr"/>
                      <a:r>
                        <a:rPr sz="1500" b="0">
                          <a:solidFill>
                            <a:srgbClr val="222222"/>
                          </a:solidFill>
                          <a:latin typeface="Calibri"/>
                        </a:rPr>
                        <a:t>170</a:t>
                      </a:r>
                    </a:p>
                  </a:txBody>
                  <a:tcPr marL="73152" marR="73152" marT="27432" marB="27432" anchor="ctr">
                    <a:solidFill>
                      <a:srgbClr val="F2F5F8"/>
                    </a:solidFill>
                  </a:tcPr>
                </a:tc>
                <a:tc>
                  <a:txBody>
                    <a:bodyPr wrap="square"/>
                    <a:lstStyle/>
                    <a:p>
                      <a:pPr algn="ctr"/>
                      <a:r>
                        <a:rPr sz="1500" b="0">
                          <a:solidFill>
                            <a:srgbClr val="222222"/>
                          </a:solidFill>
                          <a:latin typeface="Calibri"/>
                        </a:rPr>
                        <a:t>1</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r h="384048">
                <a:tc>
                  <a:txBody>
                    <a:bodyPr wrap="square"/>
                    <a:lstStyle/>
                    <a:p>
                      <a:r>
                        <a:rPr sz="1500" b="1">
                          <a:solidFill>
                            <a:srgbClr val="222222"/>
                          </a:solidFill>
                          <a:latin typeface="Calibri"/>
                        </a:rPr>
                        <a:t>15219</a:t>
                      </a:r>
                    </a:p>
                  </a:txBody>
                  <a:tcPr marL="73152" marR="73152" marT="27432" marB="27432" anchor="ctr">
                    <a:solidFill>
                      <a:srgbClr val="FFFFFF"/>
                    </a:solidFill>
                  </a:tcPr>
                </a:tc>
                <a:tc>
                  <a:txBody>
                    <a:bodyPr wrap="square"/>
                    <a:lstStyle/>
                    <a:p>
                      <a:pPr algn="ctr"/>
                      <a:r>
                        <a:rPr sz="1500" b="0">
                          <a:solidFill>
                            <a:srgbClr val="222222"/>
                          </a:solidFill>
                          <a:latin typeface="Calibri"/>
                        </a:rPr>
                        <a:t>89.0</a:t>
                      </a:r>
                    </a:p>
                  </a:txBody>
                  <a:tcPr marL="73152" marR="73152" marT="27432" marB="27432" anchor="ctr">
                    <a:solidFill>
                      <a:srgbClr val="FFFFFF"/>
                    </a:solidFill>
                  </a:tcPr>
                </a:tc>
                <a:tc>
                  <a:txBody>
                    <a:bodyPr wrap="square"/>
                    <a:lstStyle/>
                    <a:p>
                      <a:pPr algn="ctr"/>
                      <a:r>
                        <a:rPr sz="1500" b="0">
                          <a:solidFill>
                            <a:srgbClr val="222222"/>
                          </a:solidFill>
                          <a:latin typeface="Calibri"/>
                        </a:rPr>
                        <a:t>84</a:t>
                      </a:r>
                    </a:p>
                  </a:txBody>
                  <a:tcPr marL="73152" marR="73152" marT="27432" marB="27432" anchor="ctr">
                    <a:solidFill>
                      <a:srgbClr val="FFFFFF"/>
                    </a:solidFill>
                  </a:tcPr>
                </a:tc>
                <a:tc>
                  <a:txBody>
                    <a:bodyPr wrap="square"/>
                    <a:lstStyle/>
                    <a:p>
                      <a:pPr algn="ctr"/>
                      <a:r>
                        <a:rPr sz="1500" b="0">
                          <a:solidFill>
                            <a:srgbClr val="222222"/>
                          </a:solidFill>
                          <a:latin typeface="Calibri"/>
                        </a:rPr>
                        <a:t>2</a:t>
                      </a:r>
                    </a:p>
                  </a:txBody>
                  <a:tcPr marL="73152" marR="73152" marT="27432" marB="27432" anchor="ctr">
                    <a:solidFill>
                      <a:srgbClr val="FFFFFF"/>
                    </a:solidFill>
                  </a:tcPr>
                </a:tc>
                <a:tc>
                  <a:txBody>
                    <a:bodyPr wrap="square"/>
                    <a:lstStyle/>
                    <a:p>
                      <a:pPr algn="ctr"/>
                      <a:r>
                        <a:rPr sz="1500" b="0">
                          <a:solidFill>
                            <a:srgbClr val="222222"/>
                          </a:solidFill>
                          <a:latin typeface="Calibri"/>
                        </a:rPr>
                        <a:t>685</a:t>
                      </a:r>
                    </a:p>
                  </a:txBody>
                  <a:tcPr marL="73152" marR="73152" marT="27432" marB="27432" anchor="ctr">
                    <a:solidFill>
                      <a:srgbClr val="FFFFFF"/>
                    </a:solidFill>
                  </a:tcPr>
                </a:tc>
                <a:tc>
                  <a:txBody>
                    <a:bodyPr wrap="square"/>
                    <a:lstStyle/>
                    <a:p>
                      <a:pPr algn="ctr"/>
                      <a:r>
                        <a:rPr sz="1500" b="0">
                          <a:solidFill>
                            <a:srgbClr val="222222"/>
                          </a:solidFill>
                          <a:latin typeface="Calibri"/>
                        </a:rPr>
                        <a:t>1</a:t>
                      </a:r>
                    </a:p>
                  </a:txBody>
                  <a:tcPr marL="73152" marR="73152" marT="27432" marB="27432" anchor="ctr">
                    <a:solidFill>
                      <a:srgbClr val="FFFFFF"/>
                    </a:solidFill>
                  </a:tcPr>
                </a:tc>
                <a:tc>
                  <a:txBody>
                    <a:bodyPr wrap="square"/>
                    <a:lstStyle/>
                    <a:p>
                      <a:pPr algn="ctr"/>
                      <a:r>
                        <a:rPr sz="1500" b="0">
                          <a:solidFill>
                            <a:srgbClr val="222222"/>
                          </a:solidFill>
                          <a:latin typeface="Calibri"/>
                        </a:rPr>
                        <a:t>yes</a:t>
                      </a:r>
                    </a:p>
                  </a:txBody>
                  <a:tcPr marL="73152" marR="73152" marT="27432" marB="27432" anchor="ctr">
                    <a:solidFill>
                      <a:srgbClr val="FFFFFF"/>
                    </a:solidFill>
                  </a:tcPr>
                </a:tc>
              </a:tr>
              <a:tr h="384048">
                <a:tc>
                  <a:txBody>
                    <a:bodyPr wrap="square"/>
                    <a:lstStyle/>
                    <a:p>
                      <a:r>
                        <a:rPr sz="1500" b="1">
                          <a:solidFill>
                            <a:srgbClr val="222222"/>
                          </a:solidFill>
                          <a:latin typeface="Calibri"/>
                        </a:rPr>
                        <a:t>13302</a:t>
                      </a:r>
                    </a:p>
                  </a:txBody>
                  <a:tcPr marL="73152" marR="73152" marT="27432" marB="27432" anchor="ctr">
                    <a:solidFill>
                      <a:srgbClr val="F2F5F8"/>
                    </a:solidFill>
                  </a:tcPr>
                </a:tc>
                <a:tc>
                  <a:txBody>
                    <a:bodyPr wrap="square"/>
                    <a:lstStyle/>
                    <a:p>
                      <a:pPr algn="ctr"/>
                      <a:r>
                        <a:rPr sz="1500" b="0">
                          <a:solidFill>
                            <a:srgbClr val="222222"/>
                          </a:solidFill>
                          <a:latin typeface="Calibri"/>
                        </a:rPr>
                        <a:t>88.5</a:t>
                      </a:r>
                    </a:p>
                  </a:txBody>
                  <a:tcPr marL="73152" marR="73152" marT="27432" marB="27432" anchor="ctr">
                    <a:solidFill>
                      <a:srgbClr val="F2F5F8"/>
                    </a:solidFill>
                  </a:tcPr>
                </a:tc>
                <a:tc>
                  <a:txBody>
                    <a:bodyPr wrap="square"/>
                    <a:lstStyle/>
                    <a:p>
                      <a:pPr algn="ctr"/>
                      <a:r>
                        <a:rPr sz="1500" b="0">
                          <a:solidFill>
                            <a:srgbClr val="222222"/>
                          </a:solidFill>
                          <a:latin typeface="Calibri"/>
                        </a:rPr>
                        <a:t>63</a:t>
                      </a:r>
                    </a:p>
                  </a:txBody>
                  <a:tcPr marL="73152" marR="73152" marT="27432" marB="27432" anchor="ctr">
                    <a:solidFill>
                      <a:srgbClr val="F2F5F8"/>
                    </a:solidFill>
                  </a:tcPr>
                </a:tc>
                <a:tc>
                  <a:txBody>
                    <a:bodyPr wrap="square"/>
                    <a:lstStyle/>
                    <a:p>
                      <a:pPr algn="ctr"/>
                      <a:r>
                        <a:rPr sz="1500" b="0">
                          <a:solidFill>
                            <a:srgbClr val="222222"/>
                          </a:solidFill>
                          <a:latin typeface="Calibri"/>
                        </a:rPr>
                        <a:t>2</a:t>
                      </a:r>
                    </a:p>
                  </a:txBody>
                  <a:tcPr marL="73152" marR="73152" marT="27432" marB="27432" anchor="ctr">
                    <a:solidFill>
                      <a:srgbClr val="F2F5F8"/>
                    </a:solidFill>
                  </a:tcPr>
                </a:tc>
                <a:tc>
                  <a:txBody>
                    <a:bodyPr wrap="square"/>
                    <a:lstStyle/>
                    <a:p>
                      <a:pPr algn="ctr"/>
                      <a:r>
                        <a:rPr sz="1500" b="0">
                          <a:solidFill>
                            <a:srgbClr val="222222"/>
                          </a:solidFill>
                          <a:latin typeface="Calibri"/>
                        </a:rPr>
                        <a:t>159</a:t>
                      </a:r>
                    </a:p>
                  </a:txBody>
                  <a:tcPr marL="73152" marR="73152" marT="27432" marB="27432" anchor="ctr">
                    <a:solidFill>
                      <a:srgbClr val="F2F5F8"/>
                    </a:solidFill>
                  </a:tcPr>
                </a:tc>
                <a:tc>
                  <a:txBody>
                    <a:bodyPr wrap="square"/>
                    <a:lstStyle/>
                    <a:p>
                      <a:pPr algn="ctr"/>
                      <a:r>
                        <a:rPr sz="1500" b="0">
                          <a:solidFill>
                            <a:srgbClr val="222222"/>
                          </a:solidFill>
                          <a:latin typeface="Calibri"/>
                        </a:rPr>
                        <a:t>1</a:t>
                      </a:r>
                    </a:p>
                  </a:txBody>
                  <a:tcPr marL="73152" marR="73152" marT="27432" marB="27432" anchor="ctr">
                    <a:solidFill>
                      <a:srgbClr val="F2F5F8"/>
                    </a:solidFill>
                  </a:tcPr>
                </a:tc>
                <a:tc>
                  <a:txBody>
                    <a:bodyPr wrap="square"/>
                    <a:lstStyle/>
                    <a:p>
                      <a:pPr algn="ctr"/>
                      <a:r>
                        <a:rPr sz="1500" b="0">
                          <a:solidFill>
                            <a:srgbClr val="222222"/>
                          </a:solidFill>
                          <a:latin typeface="Calibri"/>
                        </a:rPr>
                        <a:t>yes</a:t>
                      </a:r>
                    </a:p>
                  </a:txBody>
                  <a:tcPr marL="73152" marR="73152" marT="27432" marB="27432" anchor="ctr">
                    <a:solidFill>
                      <a:srgbClr val="F2F5F8"/>
                    </a:solidFill>
                  </a:tcPr>
                </a:tc>
              </a:tr>
            </a:tbl>
          </a:graphicData>
        </a:graphic>
      </p:graphicFrame>
      <p:sp>
        <p:nvSpPr>
          <p:cNvPr id="8" name="TextBox 7"/>
          <p:cNvSpPr txBox="1"/>
          <p:nvPr/>
        </p:nvSpPr>
        <p:spPr>
          <a:xfrm>
            <a:off x="411480" y="6108192"/>
            <a:ext cx="11338560" cy="365760"/>
          </a:xfrm>
          <a:prstGeom prst="rect">
            <a:avLst/>
          </a:prstGeom>
          <a:noFill/>
        </p:spPr>
        <p:txBody>
          <a:bodyPr wrap="square" anchor="t" lIns="45720" rIns="45720">
            <a:spAutoFit/>
          </a:bodyPr>
          <a:lstStyle/>
          <a:p>
            <a:pPr algn="l"/>
            <a:r>
              <a:rPr sz="1250" b="0" i="1">
                <a:solidFill>
                  <a:srgbClr val="333333"/>
                </a:solidFill>
                <a:latin typeface="Calibri"/>
              </a:rPr>
              <a:t>Illustration: the final model saw these customers. In the honest test, the top 10% of the list reaches 20% of lapsers, twice the random rate.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The monitoring loop</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10: Monitoring</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52</a:t>
            </a:r>
          </a:p>
        </p:txBody>
      </p:sp>
      <p:pic>
        <p:nvPicPr>
          <p:cNvPr id="7" name="Picture 6" descr="s10_01_monitoring_loop.png"/>
          <p:cNvPicPr>
            <a:picLocks noChangeAspect="1"/>
          </p:cNvPicPr>
          <p:nvPr/>
        </p:nvPicPr>
        <p:blipFill>
          <a:blip r:embed="rId3"/>
          <a:stretch>
            <a:fillRect/>
          </a:stretch>
        </p:blipFill>
        <p:spPr>
          <a:xfrm>
            <a:off x="1678668" y="1005840"/>
            <a:ext cx="8831615" cy="5440679"/>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Alert rules</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10: Monitoring</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53</a:t>
            </a:r>
          </a:p>
        </p:txBody>
      </p:sp>
      <p:graphicFrame>
        <p:nvGraphicFramePr>
          <p:cNvPr id="7" name="Table 6"/>
          <p:cNvGraphicFramePr>
            <a:graphicFrameLocks noGrp="1"/>
          </p:cNvGraphicFramePr>
          <p:nvPr/>
        </p:nvGraphicFramePr>
        <p:xfrm>
          <a:off x="365760" y="1097280"/>
          <a:ext cx="11429997" cy="4663440"/>
        </p:xfrm>
        <a:graphic>
          <a:graphicData uri="http://schemas.openxmlformats.org/drawingml/2006/table">
            <a:tbl>
              <a:tblPr firstRow="0" bandRow="0">
                <a:tableStyleId>{5C22544A-7EE6-4342-B048-85BDC9FD1C3A}</a:tableStyleId>
              </a:tblPr>
              <a:tblGrid>
                <a:gridCol w="1718796"/>
                <a:gridCol w="3265714"/>
                <a:gridCol w="1546917"/>
                <a:gridCol w="1804736"/>
                <a:gridCol w="3093834"/>
              </a:tblGrid>
              <a:tr h="777240">
                <a:tc>
                  <a:txBody>
                    <a:bodyPr wrap="square"/>
                    <a:lstStyle/>
                    <a:p>
                      <a:r>
                        <a:rPr sz="1500" b="1">
                          <a:solidFill>
                            <a:srgbClr val="FFFFFF"/>
                          </a:solidFill>
                          <a:latin typeface="Calibri"/>
                        </a:rPr>
                        <a:t>Check</a:t>
                      </a:r>
                    </a:p>
                  </a:txBody>
                  <a:tcPr marL="73152" marR="73152" marT="27432" marB="27432" anchor="ctr">
                    <a:solidFill>
                      <a:srgbClr val="1F4E79"/>
                    </a:solidFill>
                  </a:tcPr>
                </a:tc>
                <a:tc>
                  <a:txBody>
                    <a:bodyPr wrap="square"/>
                    <a:lstStyle/>
                    <a:p>
                      <a:r>
                        <a:rPr sz="1500" b="1">
                          <a:solidFill>
                            <a:srgbClr val="FFFFFF"/>
                          </a:solidFill>
                          <a:latin typeface="Calibri"/>
                        </a:rPr>
                        <a:t>What is measured</a:t>
                      </a:r>
                    </a:p>
                  </a:txBody>
                  <a:tcPr marL="73152" marR="73152" marT="27432" marB="27432" anchor="ctr">
                    <a:solidFill>
                      <a:srgbClr val="1F4E79"/>
                    </a:solidFill>
                  </a:tcPr>
                </a:tc>
                <a:tc>
                  <a:txBody>
                    <a:bodyPr wrap="square"/>
                    <a:lstStyle/>
                    <a:p>
                      <a:pPr algn="ctr"/>
                      <a:r>
                        <a:rPr sz="1500" b="1">
                          <a:solidFill>
                            <a:srgbClr val="FFFFFF"/>
                          </a:solidFill>
                          <a:latin typeface="Calibri"/>
                        </a:rPr>
                        <a:t>Warning at</a:t>
                      </a:r>
                    </a:p>
                  </a:txBody>
                  <a:tcPr marL="73152" marR="73152" marT="27432" marB="27432" anchor="ctr">
                    <a:solidFill>
                      <a:srgbClr val="1F4E79"/>
                    </a:solidFill>
                  </a:tcPr>
                </a:tc>
                <a:tc>
                  <a:txBody>
                    <a:bodyPr wrap="square"/>
                    <a:lstStyle/>
                    <a:p>
                      <a:pPr algn="ctr"/>
                      <a:r>
                        <a:rPr sz="1500" b="1">
                          <a:solidFill>
                            <a:srgbClr val="FFFFFF"/>
                          </a:solidFill>
                          <a:latin typeface="Calibri"/>
                        </a:rPr>
                        <a:t>Alert at</a:t>
                      </a:r>
                    </a:p>
                  </a:txBody>
                  <a:tcPr marL="73152" marR="73152" marT="27432" marB="27432" anchor="ctr">
                    <a:solidFill>
                      <a:srgbClr val="1F4E79"/>
                    </a:solidFill>
                  </a:tcPr>
                </a:tc>
                <a:tc>
                  <a:txBody>
                    <a:bodyPr wrap="square"/>
                    <a:lstStyle/>
                    <a:p>
                      <a:pPr algn="ctr"/>
                      <a:r>
                        <a:rPr sz="1500" b="1">
                          <a:solidFill>
                            <a:srgbClr val="FFFFFF"/>
                          </a:solidFill>
                          <a:latin typeface="Calibri"/>
                        </a:rPr>
                        <a:t>Action</a:t>
                      </a:r>
                    </a:p>
                  </a:txBody>
                  <a:tcPr marL="73152" marR="73152" marT="27432" marB="27432" anchor="ctr">
                    <a:solidFill>
                      <a:srgbClr val="1F4E79"/>
                    </a:solidFill>
                  </a:tcPr>
                </a:tc>
              </a:tr>
              <a:tr h="777240">
                <a:tc>
                  <a:txBody>
                    <a:bodyPr wrap="square"/>
                    <a:lstStyle/>
                    <a:p>
                      <a:r>
                        <a:rPr sz="1500" b="1">
                          <a:solidFill>
                            <a:srgbClr val="222222"/>
                          </a:solidFill>
                          <a:latin typeface="Calibri"/>
                        </a:rPr>
                        <a:t>Input drift</a:t>
                      </a:r>
                    </a:p>
                  </a:txBody>
                  <a:tcPr marL="73152" marR="73152" marT="27432" marB="27432" anchor="ctr">
                    <a:solidFill>
                      <a:srgbClr val="FFFFFF"/>
                    </a:solidFill>
                  </a:tcPr>
                </a:tc>
                <a:tc>
                  <a:txBody>
                    <a:bodyPr wrap="square"/>
                    <a:lstStyle/>
                    <a:p>
                      <a:r>
                        <a:rPr sz="1500" b="0">
                          <a:solidFill>
                            <a:srgbClr val="222222"/>
                          </a:solidFill>
                          <a:latin typeface="Calibri"/>
                        </a:rPr>
                        <a:t>PSI of each model input</a:t>
                      </a:r>
                    </a:p>
                  </a:txBody>
                  <a:tcPr marL="73152" marR="73152" marT="27432" marB="27432" anchor="ctr">
                    <a:solidFill>
                      <a:srgbClr val="FFFFFF"/>
                    </a:solidFill>
                  </a:tcPr>
                </a:tc>
                <a:tc>
                  <a:txBody>
                    <a:bodyPr wrap="square"/>
                    <a:lstStyle/>
                    <a:p>
                      <a:pPr algn="ctr"/>
                      <a:r>
                        <a:rPr sz="1500" b="0">
                          <a:solidFill>
                            <a:srgbClr val="222222"/>
                          </a:solidFill>
                          <a:latin typeface="Calibri"/>
                        </a:rPr>
                        <a:t>&gt;= 0.10</a:t>
                      </a:r>
                    </a:p>
                  </a:txBody>
                  <a:tcPr marL="73152" marR="73152" marT="27432" marB="27432" anchor="ctr">
                    <a:solidFill>
                      <a:srgbClr val="FFFFFF"/>
                    </a:solidFill>
                  </a:tcPr>
                </a:tc>
                <a:tc>
                  <a:txBody>
                    <a:bodyPr wrap="square"/>
                    <a:lstStyle/>
                    <a:p>
                      <a:pPr algn="ctr"/>
                      <a:r>
                        <a:rPr sz="1500" b="0">
                          <a:solidFill>
                            <a:srgbClr val="222222"/>
                          </a:solidFill>
                          <a:latin typeface="Calibri"/>
                        </a:rPr>
                        <a:t>&gt;= 0.25</a:t>
                      </a:r>
                    </a:p>
                  </a:txBody>
                  <a:tcPr marL="73152" marR="73152" marT="27432" marB="27432" anchor="ctr">
                    <a:solidFill>
                      <a:srgbClr val="FFFFFF"/>
                    </a:solidFill>
                  </a:tcPr>
                </a:tc>
                <a:tc>
                  <a:txBody>
                    <a:bodyPr wrap="square"/>
                    <a:lstStyle/>
                    <a:p>
                      <a:r>
                        <a:rPr sz="1500" b="0">
                          <a:solidFill>
                            <a:srgbClr val="222222"/>
                          </a:solidFill>
                          <a:latin typeface="Calibri"/>
                        </a:rPr>
                        <a:t>Check the data source; refit if it persists</a:t>
                      </a:r>
                    </a:p>
                  </a:txBody>
                  <a:tcPr marL="73152" marR="73152" marT="27432" marB="27432" anchor="ctr">
                    <a:solidFill>
                      <a:srgbClr val="FFFFFF"/>
                    </a:solidFill>
                  </a:tcPr>
                </a:tc>
              </a:tr>
              <a:tr h="777240">
                <a:tc>
                  <a:txBody>
                    <a:bodyPr wrap="square"/>
                    <a:lstStyle/>
                    <a:p>
                      <a:r>
                        <a:rPr sz="1500" b="1">
                          <a:solidFill>
                            <a:srgbClr val="222222"/>
                          </a:solidFill>
                          <a:latin typeface="Calibri"/>
                        </a:rPr>
                        <a:t>Demand error</a:t>
                      </a:r>
                    </a:p>
                  </a:txBody>
                  <a:tcPr marL="73152" marR="73152" marT="27432" marB="27432" anchor="ctr">
                    <a:solidFill>
                      <a:srgbClr val="F2F5F8"/>
                    </a:solidFill>
                  </a:tcPr>
                </a:tc>
                <a:tc>
                  <a:txBody>
                    <a:bodyPr wrap="square"/>
                    <a:lstStyle/>
                    <a:p>
                      <a:r>
                        <a:rPr sz="1500" b="0">
                          <a:solidFill>
                            <a:srgbClr val="222222"/>
                          </a:solidFill>
                          <a:latin typeface="Calibri"/>
                        </a:rPr>
                        <a:t>Monthly MAE against the tested 0.065 kW</a:t>
                      </a:r>
                    </a:p>
                  </a:txBody>
                  <a:tcPr marL="73152" marR="73152" marT="27432" marB="27432" anchor="ctr">
                    <a:solidFill>
                      <a:srgbClr val="F2F5F8"/>
                    </a:solidFill>
                  </a:tcPr>
                </a:tc>
                <a:tc>
                  <a:txBody>
                    <a:bodyPr wrap="square"/>
                    <a:lstStyle/>
                    <a:p>
                      <a:pPr algn="ctr"/>
                      <a:r>
                        <a:rPr sz="1500" b="0">
                          <a:solidFill>
                            <a:srgbClr val="222222"/>
                          </a:solidFill>
                          <a:latin typeface="Calibri"/>
                        </a:rPr>
                        <a:t>&gt;= 1.5 times</a:t>
                      </a:r>
                    </a:p>
                  </a:txBody>
                  <a:tcPr marL="73152" marR="73152" marT="27432" marB="27432" anchor="ctr">
                    <a:solidFill>
                      <a:srgbClr val="F2F5F8"/>
                    </a:solidFill>
                  </a:tcPr>
                </a:tc>
                <a:tc>
                  <a:txBody>
                    <a:bodyPr wrap="square"/>
                    <a:lstStyle/>
                    <a:p>
                      <a:pPr algn="ctr"/>
                      <a:r>
                        <a:rPr sz="1500" b="0">
                          <a:solidFill>
                            <a:srgbClr val="222222"/>
                          </a:solidFill>
                          <a:latin typeface="Calibri"/>
                        </a:rPr>
                        <a:t>&gt;= 2.0 times</a:t>
                      </a:r>
                    </a:p>
                  </a:txBody>
                  <a:tcPr marL="73152" marR="73152" marT="27432" marB="27432" anchor="ctr">
                    <a:solidFill>
                      <a:srgbClr val="F2F5F8"/>
                    </a:solidFill>
                  </a:tcPr>
                </a:tc>
                <a:tc>
                  <a:txBody>
                    <a:bodyPr wrap="square"/>
                    <a:lstStyle/>
                    <a:p>
                      <a:r>
                        <a:rPr sz="1500" b="0">
                          <a:solidFill>
                            <a:srgbClr val="222222"/>
                          </a:solidFill>
                          <a:latin typeface="Calibri"/>
                        </a:rPr>
                        <a:t>Refit on the newest months; check sensors</a:t>
                      </a:r>
                    </a:p>
                  </a:txBody>
                  <a:tcPr marL="73152" marR="73152" marT="27432" marB="27432" anchor="ctr">
                    <a:solidFill>
                      <a:srgbClr val="F2F5F8"/>
                    </a:solidFill>
                  </a:tcPr>
                </a:tc>
              </a:tr>
              <a:tr h="777240">
                <a:tc>
                  <a:txBody>
                    <a:bodyPr wrap="square"/>
                    <a:lstStyle/>
                    <a:p>
                      <a:r>
                        <a:rPr sz="1500" b="1">
                          <a:solidFill>
                            <a:srgbClr val="222222"/>
                          </a:solidFill>
                          <a:latin typeface="Calibri"/>
                        </a:rPr>
                        <a:t>Heatwave safeguard</a:t>
                      </a:r>
                    </a:p>
                  </a:txBody>
                  <a:tcPr marL="73152" marR="73152" marT="27432" marB="27432" anchor="ctr">
                    <a:solidFill>
                      <a:srgbClr val="FFFFFF"/>
                    </a:solidFill>
                  </a:tcPr>
                </a:tc>
                <a:tc>
                  <a:txBody>
                    <a:bodyPr wrap="square"/>
                    <a:lstStyle/>
                    <a:p>
                      <a:r>
                        <a:rPr sz="1500" b="0">
                          <a:solidFill>
                            <a:srgbClr val="222222"/>
                          </a:solidFill>
                          <a:latin typeface="Calibri"/>
                        </a:rPr>
                        <a:t>Hours above 40 °C that used Ridge</a:t>
                      </a:r>
                    </a:p>
                  </a:txBody>
                  <a:tcPr marL="73152" marR="73152" marT="27432" marB="27432" anchor="ctr">
                    <a:solidFill>
                      <a:srgbClr val="FFFFFF"/>
                    </a:solidFill>
                  </a:tcPr>
                </a:tc>
                <a:tc>
                  <a:txBody>
                    <a:bodyPr wrap="square"/>
                    <a:lstStyle/>
                    <a:p>
                      <a:pPr algn="ctr"/>
                      <a:r>
                        <a:rPr sz="1500" b="0">
                          <a:solidFill>
                            <a:srgbClr val="222222"/>
                          </a:solidFill>
                          <a:latin typeface="Calibri"/>
                        </a:rPr>
                        <a:t>any</a:t>
                      </a:r>
                    </a:p>
                  </a:txBody>
                  <a:tcPr marL="73152" marR="73152" marT="27432" marB="27432" anchor="ctr">
                    <a:solidFill>
                      <a:srgbClr val="FFFFFF"/>
                    </a:solidFill>
                  </a:tcPr>
                </a:tc>
                <a:tc>
                  <a:txBody>
                    <a:bodyPr wrap="square"/>
                    <a:lstStyle/>
                    <a:p>
                      <a:pPr algn="ctr"/>
                      <a:r>
                        <a:rPr sz="1500" b="0">
                          <a:solidFill>
                            <a:srgbClr val="222222"/>
                          </a:solidFill>
                          <a:latin typeface="Calibri"/>
                        </a:rPr>
                        <a:t>Error &gt;= 2 x 0.08 kW</a:t>
                      </a:r>
                    </a:p>
                  </a:txBody>
                  <a:tcPr marL="73152" marR="73152" marT="27432" marB="27432" anchor="ctr">
                    <a:solidFill>
                      <a:srgbClr val="FFFFFF"/>
                    </a:solidFill>
                  </a:tcPr>
                </a:tc>
                <a:tc>
                  <a:txBody>
                    <a:bodyPr wrap="square"/>
                    <a:lstStyle/>
                    <a:p>
                      <a:r>
                        <a:rPr sz="1500" b="0">
                          <a:solidFill>
                            <a:srgbClr val="222222"/>
                          </a:solidFill>
                          <a:latin typeface="Calibri"/>
                        </a:rPr>
                        <a:t>Extend the Ridge range; review features</a:t>
                      </a:r>
                    </a:p>
                  </a:txBody>
                  <a:tcPr marL="73152" marR="73152" marT="27432" marB="27432" anchor="ctr">
                    <a:solidFill>
                      <a:srgbClr val="FFFFFF"/>
                    </a:solidFill>
                  </a:tcPr>
                </a:tc>
              </a:tr>
              <a:tr h="777240">
                <a:tc>
                  <a:txBody>
                    <a:bodyPr wrap="square"/>
                    <a:lstStyle/>
                    <a:p>
                      <a:r>
                        <a:rPr sz="1500" b="1">
                          <a:solidFill>
                            <a:srgbClr val="222222"/>
                          </a:solidFill>
                          <a:latin typeface="Calibri"/>
                        </a:rPr>
                        <a:t>Failure ranking</a:t>
                      </a:r>
                    </a:p>
                  </a:txBody>
                  <a:tcPr marL="73152" marR="73152" marT="27432" marB="27432" anchor="ctr">
                    <a:solidFill>
                      <a:srgbClr val="F2F5F8"/>
                    </a:solidFill>
                  </a:tcPr>
                </a:tc>
                <a:tc>
                  <a:txBody>
                    <a:bodyPr wrap="square"/>
                    <a:lstStyle/>
                    <a:p>
                      <a:r>
                        <a:rPr sz="1500" b="0">
                          <a:solidFill>
                            <a:srgbClr val="222222"/>
                          </a:solidFill>
                          <a:latin typeface="Calibri"/>
                        </a:rPr>
                        <a:t>Failures found in the top 10% (tested 94%)</a:t>
                      </a:r>
                    </a:p>
                  </a:txBody>
                  <a:tcPr marL="73152" marR="73152" marT="27432" marB="27432" anchor="ctr">
                    <a:solidFill>
                      <a:srgbClr val="F2F5F8"/>
                    </a:solidFill>
                  </a:tcPr>
                </a:tc>
                <a:tc>
                  <a:txBody>
                    <a:bodyPr wrap="square"/>
                    <a:lstStyle/>
                    <a:p>
                      <a:pPr algn="ctr"/>
                      <a:r>
                        <a:rPr sz="1500" b="0">
                          <a:solidFill>
                            <a:srgbClr val="222222"/>
                          </a:solidFill>
                          <a:latin typeface="Calibri"/>
                        </a:rPr>
                        <a:t>&lt; 85%</a:t>
                      </a:r>
                    </a:p>
                  </a:txBody>
                  <a:tcPr marL="73152" marR="73152" marT="27432" marB="27432" anchor="ctr">
                    <a:solidFill>
                      <a:srgbClr val="F2F5F8"/>
                    </a:solidFill>
                  </a:tcPr>
                </a:tc>
                <a:tc>
                  <a:txBody>
                    <a:bodyPr wrap="square"/>
                    <a:lstStyle/>
                    <a:p>
                      <a:pPr algn="ctr"/>
                      <a:r>
                        <a:rPr sz="1500" b="0">
                          <a:solidFill>
                            <a:srgbClr val="222222"/>
                          </a:solidFill>
                          <a:latin typeface="Calibri"/>
                        </a:rPr>
                        <a:t>&lt; 70%</a:t>
                      </a:r>
                    </a:p>
                  </a:txBody>
                  <a:tcPr marL="73152" marR="73152" marT="27432" marB="27432" anchor="ctr">
                    <a:solidFill>
                      <a:srgbClr val="F2F5F8"/>
                    </a:solidFill>
                  </a:tcPr>
                </a:tc>
                <a:tc>
                  <a:txBody>
                    <a:bodyPr wrap="square"/>
                    <a:lstStyle/>
                    <a:p>
                      <a:r>
                        <a:rPr sz="1500" b="0">
                          <a:solidFill>
                            <a:srgbClr val="222222"/>
                          </a:solidFill>
                          <a:latin typeface="Calibri"/>
                        </a:rPr>
                        <a:t>Refit with the new failures; review sensors</a:t>
                      </a:r>
                    </a:p>
                  </a:txBody>
                  <a:tcPr marL="73152" marR="73152" marT="27432" marB="27432" anchor="ctr">
                    <a:solidFill>
                      <a:srgbClr val="F2F5F8"/>
                    </a:solidFill>
                  </a:tcPr>
                </a:tc>
              </a:tr>
              <a:tr h="777240">
                <a:tc>
                  <a:txBody>
                    <a:bodyPr wrap="square"/>
                    <a:lstStyle/>
                    <a:p>
                      <a:r>
                        <a:rPr sz="1500" b="1">
                          <a:solidFill>
                            <a:srgbClr val="222222"/>
                          </a:solidFill>
                          <a:latin typeface="Calibri"/>
                        </a:rPr>
                        <a:t>Churn calibration</a:t>
                      </a:r>
                    </a:p>
                  </a:txBody>
                  <a:tcPr marL="73152" marR="73152" marT="27432" marB="27432" anchor="ctr">
                    <a:solidFill>
                      <a:srgbClr val="FFFFFF"/>
                    </a:solidFill>
                  </a:tcPr>
                </a:tc>
                <a:tc>
                  <a:txBody>
                    <a:bodyPr wrap="square"/>
                    <a:lstStyle/>
                    <a:p>
                      <a:r>
                        <a:rPr sz="1500" b="0">
                          <a:solidFill>
                            <a:srgbClr val="222222"/>
                          </a:solidFill>
                          <a:latin typeface="Calibri"/>
                        </a:rPr>
                        <a:t>Predicted against actual lapse rate</a:t>
                      </a:r>
                    </a:p>
                  </a:txBody>
                  <a:tcPr marL="73152" marR="73152" marT="27432" marB="27432" anchor="ctr">
                    <a:solidFill>
                      <a:srgbClr val="FFFFFF"/>
                    </a:solidFill>
                  </a:tcPr>
                </a:tc>
                <a:tc>
                  <a:txBody>
                    <a:bodyPr wrap="square"/>
                    <a:lstStyle/>
                    <a:p>
                      <a:pPr algn="ctr"/>
                      <a:r>
                        <a:rPr sz="1500" b="0">
                          <a:solidFill>
                            <a:srgbClr val="222222"/>
                          </a:solidFill>
                          <a:latin typeface="Calibri"/>
                        </a:rPr>
                        <a:t>Gap &gt; 0.10</a:t>
                      </a:r>
                    </a:p>
                  </a:txBody>
                  <a:tcPr marL="73152" marR="73152" marT="27432" marB="27432" anchor="ctr">
                    <a:solidFill>
                      <a:srgbClr val="FFFFFF"/>
                    </a:solidFill>
                  </a:tcPr>
                </a:tc>
                <a:tc>
                  <a:txBody>
                    <a:bodyPr wrap="square"/>
                    <a:lstStyle/>
                    <a:p>
                      <a:pPr algn="ctr"/>
                      <a:r>
                        <a:rPr sz="1500" b="0">
                          <a:solidFill>
                            <a:srgbClr val="222222"/>
                          </a:solidFill>
                          <a:latin typeface="Calibri"/>
                        </a:rPr>
                        <a:t>Gap &gt; 0.20</a:t>
                      </a:r>
                    </a:p>
                  </a:txBody>
                  <a:tcPr marL="73152" marR="73152" marT="27432" marB="27432" anchor="ctr">
                    <a:solidFill>
                      <a:srgbClr val="FFFFFF"/>
                    </a:solidFill>
                  </a:tcPr>
                </a:tc>
                <a:tc>
                  <a:txBody>
                    <a:bodyPr wrap="square"/>
                    <a:lstStyle/>
                    <a:p>
                      <a:r>
                        <a:rPr sz="1500" b="0">
                          <a:solidFill>
                            <a:srgbClr val="222222"/>
                          </a:solidFill>
                          <a:latin typeface="Calibri"/>
                        </a:rPr>
                        <a:t>Refit on the latest cutoff; reset the threshold</a:t>
                      </a:r>
                    </a:p>
                  </a:txBody>
                  <a:tcPr marL="73152" marR="73152" marT="27432" marB="27432" anchor="ctr">
                    <a:solidFill>
                      <a:srgbClr val="FFFFFF"/>
                    </a:solidFill>
                  </a:tcPr>
                </a:tc>
              </a:tr>
            </a:tbl>
          </a:graphicData>
        </a:graphic>
      </p:graphicFrame>
      <p:sp>
        <p:nvSpPr>
          <p:cNvPr id="8" name="TextBox 7"/>
          <p:cNvSpPr txBox="1"/>
          <p:nvPr/>
        </p:nvSpPr>
        <p:spPr>
          <a:xfrm>
            <a:off x="411480" y="6108192"/>
            <a:ext cx="11338560" cy="365760"/>
          </a:xfrm>
          <a:prstGeom prst="rect">
            <a:avLst/>
          </a:prstGeom>
          <a:noFill/>
        </p:spPr>
        <p:txBody>
          <a:bodyPr wrap="square" anchor="t" lIns="45720" rIns="45720">
            <a:spAutoFit/>
          </a:bodyPr>
          <a:lstStyle/>
          <a:p>
            <a:pPr algn="l"/>
            <a:r>
              <a:rPr sz="1250" b="0" i="1">
                <a:solidFill>
                  <a:srgbClr val="333333"/>
                </a:solidFill>
                <a:latin typeface="Calibri"/>
              </a:rPr>
              <a:t>PSI thresholds are the usual rules of thumb (0.10 moderate, 0.25 large shift), not values fitted to our data.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The checks fire when the weather moves into new ground</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10: Monitoring</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54</a:t>
            </a:r>
          </a:p>
        </p:txBody>
      </p:sp>
      <p:pic>
        <p:nvPicPr>
          <p:cNvPr id="7" name="Picture 6" descr="s10_02_input_drift.png"/>
          <p:cNvPicPr>
            <a:picLocks noChangeAspect="1"/>
          </p:cNvPicPr>
          <p:nvPr/>
        </p:nvPicPr>
        <p:blipFill>
          <a:blip r:embed="rId3"/>
          <a:stretch>
            <a:fillRect/>
          </a:stretch>
        </p:blipFill>
        <p:spPr>
          <a:xfrm>
            <a:off x="320040" y="1005840"/>
            <a:ext cx="11548872" cy="3234403"/>
          </a:xfrm>
          <a:prstGeom prst="rect">
            <a:avLst/>
          </a:prstGeom>
        </p:spPr>
      </p:pic>
      <p:sp>
        <p:nvSpPr>
          <p:cNvPr id="8" name="Oval 7"/>
          <p:cNvSpPr/>
          <p:nvPr/>
        </p:nvSpPr>
        <p:spPr>
          <a:xfrm>
            <a:off x="548640" y="4514563"/>
            <a:ext cx="128016" cy="128016"/>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4404835"/>
            <a:ext cx="10972800" cy="822960"/>
          </a:xfrm>
          <a:prstGeom prst="rect">
            <a:avLst/>
          </a:prstGeom>
          <a:noFill/>
        </p:spPr>
        <p:txBody>
          <a:bodyPr wrap="square" anchor="t" lIns="45720" rIns="45720">
            <a:spAutoFit/>
          </a:bodyPr>
          <a:lstStyle/>
          <a:p>
            <a:pPr algn="l"/>
            <a:r>
              <a:rPr sz="1800" b="0" i="0">
                <a:solidFill>
                  <a:srgbClr val="222222"/>
                </a:solidFill>
                <a:latin typeface="Calibri"/>
              </a:rPr>
              <a:t>Months 10 to 12 against months 1 to 9 alert because of the season.</a:t>
            </a:r>
          </a:p>
        </p:txBody>
      </p:sp>
      <p:sp>
        <p:nvSpPr>
          <p:cNvPr id="10" name="Oval 9"/>
          <p:cNvSpPr/>
          <p:nvPr/>
        </p:nvSpPr>
        <p:spPr>
          <a:xfrm>
            <a:off x="548640" y="5044915"/>
            <a:ext cx="128016" cy="128016"/>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5187"/>
            <a:ext cx="10972800" cy="822960"/>
          </a:xfrm>
          <a:prstGeom prst="rect">
            <a:avLst/>
          </a:prstGeom>
          <a:noFill/>
        </p:spPr>
        <p:txBody>
          <a:bodyPr wrap="square" anchor="t" lIns="45720" rIns="45720">
            <a:spAutoFit/>
          </a:bodyPr>
          <a:lstStyle/>
          <a:p>
            <a:pPr algn="l"/>
            <a:r>
              <a:rPr sz="1800" b="0" i="0">
                <a:solidFill>
                  <a:srgbClr val="222222"/>
                </a:solidFill>
                <a:latin typeface="Calibri"/>
              </a:rPr>
              <a:t>Heatwave hours against cooler hours reach PSI 8.3.</a:t>
            </a:r>
          </a:p>
        </p:txBody>
      </p:sp>
      <p:sp>
        <p:nvSpPr>
          <p:cNvPr id="12" name="Oval 11"/>
          <p:cNvSpPr/>
          <p:nvPr/>
        </p:nvSpPr>
        <p:spPr>
          <a:xfrm>
            <a:off x="548640" y="5575267"/>
            <a:ext cx="128016" cy="128016"/>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465539"/>
            <a:ext cx="10972800" cy="822960"/>
          </a:xfrm>
          <a:prstGeom prst="rect">
            <a:avLst/>
          </a:prstGeom>
          <a:noFill/>
        </p:spPr>
        <p:txBody>
          <a:bodyPr wrap="square" anchor="t" lIns="45720" rIns="45720">
            <a:spAutoFit/>
          </a:bodyPr>
          <a:lstStyle/>
          <a:p>
            <a:pPr algn="l"/>
            <a:r>
              <a:rPr sz="1800" b="0" i="0">
                <a:solidFill>
                  <a:srgbClr val="222222"/>
                </a:solidFill>
                <a:latin typeface="Calibri"/>
              </a:rPr>
              <a:t>For churn, tenure drifts because customers are a year older.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Error over time, and predicted against actual churn</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10: Monitoring</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55</a:t>
            </a:r>
          </a:p>
        </p:txBody>
      </p:sp>
      <p:pic>
        <p:nvPicPr>
          <p:cNvPr id="7" name="Picture 6" descr="s10_03_performance_over_time.png"/>
          <p:cNvPicPr>
            <a:picLocks noChangeAspect="1"/>
          </p:cNvPicPr>
          <p:nvPr/>
        </p:nvPicPr>
        <p:blipFill>
          <a:blip r:embed="rId3"/>
          <a:stretch>
            <a:fillRect/>
          </a:stretch>
        </p:blipFill>
        <p:spPr>
          <a:xfrm>
            <a:off x="320040" y="1005840"/>
            <a:ext cx="11548872" cy="3902263"/>
          </a:xfrm>
          <a:prstGeom prst="rect">
            <a:avLst/>
          </a:prstGeom>
        </p:spPr>
      </p:pic>
      <p:sp>
        <p:nvSpPr>
          <p:cNvPr id="8" name="Oval 7"/>
          <p:cNvSpPr/>
          <p:nvPr/>
        </p:nvSpPr>
        <p:spPr>
          <a:xfrm>
            <a:off x="548640" y="5182423"/>
            <a:ext cx="128016" cy="128016"/>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072695"/>
            <a:ext cx="10972800" cy="822960"/>
          </a:xfrm>
          <a:prstGeom prst="rect">
            <a:avLst/>
          </a:prstGeom>
          <a:noFill/>
        </p:spPr>
        <p:txBody>
          <a:bodyPr wrap="square" anchor="t" lIns="45720" rIns="45720">
            <a:spAutoFit/>
          </a:bodyPr>
          <a:lstStyle/>
          <a:p>
            <a:pPr algn="l"/>
            <a:r>
              <a:rPr sz="1600" b="0" i="0">
                <a:solidFill>
                  <a:srgbClr val="222222"/>
                </a:solidFill>
                <a:latin typeface="Calibri"/>
              </a:rPr>
              <a:t>A model trained only on earlier months has large errors in April, May and July.</a:t>
            </a:r>
          </a:p>
        </p:txBody>
      </p:sp>
      <p:sp>
        <p:nvSpPr>
          <p:cNvPr id="10" name="Oval 9"/>
          <p:cNvSpPr/>
          <p:nvPr/>
        </p:nvSpPr>
        <p:spPr>
          <a:xfrm>
            <a:off x="548640" y="5648767"/>
            <a:ext cx="128016" cy="128016"/>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39039"/>
            <a:ext cx="10972800" cy="822960"/>
          </a:xfrm>
          <a:prstGeom prst="rect">
            <a:avLst/>
          </a:prstGeom>
          <a:noFill/>
        </p:spPr>
        <p:txBody>
          <a:bodyPr wrap="square" anchor="t" lIns="45720" rIns="45720">
            <a:spAutoFit/>
          </a:bodyPr>
          <a:lstStyle/>
          <a:p>
            <a:pPr algn="l"/>
            <a:r>
              <a:rPr sz="1600" b="0" i="0">
                <a:solidFill>
                  <a:srgbClr val="222222"/>
                </a:solidFill>
                <a:latin typeface="Calibri"/>
              </a:rPr>
              <a:t>The churn rate prediction misses by 0.26 in the holiday window, although the ranking stays useful.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Maintenance calendar</a:t>
            </a:r>
          </a:p>
        </p:txBody>
      </p:sp>
      <p:sp>
        <p:nvSpPr>
          <p:cNvPr id="3" name="Rectangle 2"/>
          <p:cNvSpPr/>
          <p:nvPr/>
        </p:nvSpPr>
        <p:spPr>
          <a:xfrm>
            <a:off x="411480" y="868680"/>
            <a:ext cx="11384280" cy="45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Stage 10: Monitoring</a:t>
            </a:r>
          </a:p>
          <a:p>
            <a:pPr algn="ctr"/>
            <a:r>
              <a:rPr sz="1000">
                <a:solidFill>
                  <a:srgbClr val="FFFFFF"/>
                </a:solidFill>
                <a:latin typeface="Calibri"/>
              </a:rPr>
              <a:t>Sourav Kumar Boro</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56</a:t>
            </a:r>
          </a:p>
        </p:txBody>
      </p:sp>
      <p:pic>
        <p:nvPicPr>
          <p:cNvPr id="7" name="Picture 6" descr="s10_05_retraining_timeline.png"/>
          <p:cNvPicPr>
            <a:picLocks noChangeAspect="1"/>
          </p:cNvPicPr>
          <p:nvPr/>
        </p:nvPicPr>
        <p:blipFill>
          <a:blip r:embed="rId3"/>
          <a:stretch>
            <a:fillRect/>
          </a:stretch>
        </p:blipFill>
        <p:spPr>
          <a:xfrm>
            <a:off x="320040" y="1520245"/>
            <a:ext cx="11548872" cy="4411869"/>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What each tool is for, and what not to use it for</a:t>
            </a:r>
          </a:p>
        </p:txBody>
      </p:sp>
      <p:sp>
        <p:nvSpPr>
          <p:cNvPr id="3" name="Rectangle 2"/>
          <p:cNvSpPr/>
          <p:nvPr/>
        </p:nvSpPr>
        <p:spPr>
          <a:xfrm>
            <a:off x="411480" y="868680"/>
            <a:ext cx="11384280" cy="45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Summary</a:t>
            </a:r>
          </a:p>
          <a:p>
            <a:pPr algn="ctr"/>
            <a:r>
              <a:rPr sz="1000">
                <a:solidFill>
                  <a:srgbClr val="FFFFFF"/>
                </a:solidFill>
                <a:latin typeface="Calibri"/>
              </a:rPr>
              <a:t>Whole group</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57</a:t>
            </a:r>
          </a:p>
        </p:txBody>
      </p:sp>
      <p:pic>
        <p:nvPicPr>
          <p:cNvPr id="7" name="Picture 6" descr="s12_01_recommendation_map.png"/>
          <p:cNvPicPr>
            <a:picLocks noChangeAspect="1"/>
          </p:cNvPicPr>
          <p:nvPr/>
        </p:nvPicPr>
        <p:blipFill>
          <a:blip r:embed="rId3"/>
          <a:stretch>
            <a:fillRect/>
          </a:stretch>
        </p:blipFill>
        <p:spPr>
          <a:xfrm>
            <a:off x="320040" y="1005840"/>
            <a:ext cx="11548872" cy="3919300"/>
          </a:xfrm>
          <a:prstGeom prst="rect">
            <a:avLst/>
          </a:prstGeom>
        </p:spPr>
      </p:pic>
      <p:sp>
        <p:nvSpPr>
          <p:cNvPr id="8" name="Oval 7"/>
          <p:cNvSpPr/>
          <p:nvPr/>
        </p:nvSpPr>
        <p:spPr>
          <a:xfrm>
            <a:off x="548640" y="5199460"/>
            <a:ext cx="128016" cy="128016"/>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089732"/>
            <a:ext cx="10972800" cy="822960"/>
          </a:xfrm>
          <a:prstGeom prst="rect">
            <a:avLst/>
          </a:prstGeom>
          <a:noFill/>
        </p:spPr>
        <p:txBody>
          <a:bodyPr wrap="square" anchor="t" lIns="45720" rIns="45720">
            <a:spAutoFit/>
          </a:bodyPr>
          <a:lstStyle/>
          <a:p>
            <a:pPr algn="l"/>
            <a:r>
              <a:rPr sz="1600" b="0" i="0">
                <a:solidFill>
                  <a:srgbClr val="222222"/>
                </a:solidFill>
                <a:latin typeface="Calibri"/>
              </a:rPr>
              <a:t>A manager can trust the Demand Planner with its safeguard and the Failure Radar for ranking.</a:t>
            </a:r>
          </a:p>
        </p:txBody>
      </p:sp>
      <p:sp>
        <p:nvSpPr>
          <p:cNvPr id="10" name="Oval 9"/>
          <p:cNvSpPr/>
          <p:nvPr/>
        </p:nvSpPr>
        <p:spPr>
          <a:xfrm>
            <a:off x="548640" y="5665804"/>
            <a:ext cx="128016" cy="128016"/>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556076"/>
            <a:ext cx="10972800" cy="822960"/>
          </a:xfrm>
          <a:prstGeom prst="rect">
            <a:avLst/>
          </a:prstGeom>
          <a:noFill/>
        </p:spPr>
        <p:txBody>
          <a:bodyPr wrap="square" anchor="t" lIns="45720" rIns="45720">
            <a:spAutoFit/>
          </a:bodyPr>
          <a:lstStyle/>
          <a:p>
            <a:pPr algn="l"/>
            <a:r>
              <a:rPr sz="1600" b="0" i="0">
                <a:solidFill>
                  <a:srgbClr val="222222"/>
                </a:solidFill>
                <a:latin typeface="Calibri"/>
              </a:rPr>
              <a:t>The Retention List is a modest aid.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Recommendation: pilot Failure Radar and Demand Planner first</a:t>
            </a:r>
          </a:p>
        </p:txBody>
      </p:sp>
      <p:sp>
        <p:nvSpPr>
          <p:cNvPr id="3" name="Rectangle 2"/>
          <p:cNvSpPr/>
          <p:nvPr/>
        </p:nvSpPr>
        <p:spPr>
          <a:xfrm>
            <a:off x="411480" y="868680"/>
            <a:ext cx="11384280" cy="45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Summary</a:t>
            </a:r>
          </a:p>
          <a:p>
            <a:pPr algn="ctr"/>
            <a:r>
              <a:rPr sz="1000">
                <a:solidFill>
                  <a:srgbClr val="FFFFFF"/>
                </a:solidFill>
                <a:latin typeface="Calibri"/>
              </a:rPr>
              <a:t>Whole group</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58</a:t>
            </a:r>
          </a:p>
        </p:txBody>
      </p:sp>
      <p:pic>
        <p:nvPicPr>
          <p:cNvPr id="7" name="Picture 6" descr="s12_02_recommendation_table.png"/>
          <p:cNvPicPr>
            <a:picLocks noChangeAspect="1"/>
          </p:cNvPicPr>
          <p:nvPr/>
        </p:nvPicPr>
        <p:blipFill>
          <a:blip r:embed="rId3"/>
          <a:stretch>
            <a:fillRect/>
          </a:stretch>
        </p:blipFill>
        <p:spPr>
          <a:xfrm>
            <a:off x="320040" y="1005840"/>
            <a:ext cx="11548872" cy="4144007"/>
          </a:xfrm>
          <a:prstGeom prst="rect">
            <a:avLst/>
          </a:prstGeom>
        </p:spPr>
      </p:pic>
      <p:sp>
        <p:nvSpPr>
          <p:cNvPr id="8" name="Oval 7"/>
          <p:cNvSpPr/>
          <p:nvPr/>
        </p:nvSpPr>
        <p:spPr>
          <a:xfrm>
            <a:off x="548640" y="5424167"/>
            <a:ext cx="128016" cy="128016"/>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314439"/>
            <a:ext cx="10972800" cy="822960"/>
          </a:xfrm>
          <a:prstGeom prst="rect">
            <a:avLst/>
          </a:prstGeom>
          <a:noFill/>
        </p:spPr>
        <p:txBody>
          <a:bodyPr wrap="square" anchor="t" lIns="45720" rIns="45720">
            <a:spAutoFit/>
          </a:bodyPr>
          <a:lstStyle/>
          <a:p>
            <a:pPr algn="l"/>
            <a:r>
              <a:rPr sz="1600" b="0" i="0">
                <a:solidFill>
                  <a:srgbClr val="222222"/>
                </a:solidFill>
                <a:latin typeface="Calibri"/>
              </a:rPr>
              <a:t>Retrain on company data before relying on any score.</a:t>
            </a:r>
          </a:p>
        </p:txBody>
      </p:sp>
      <p:sp>
        <p:nvSpPr>
          <p:cNvPr id="10" name="Oval 9"/>
          <p:cNvSpPr/>
          <p:nvPr/>
        </p:nvSpPr>
        <p:spPr>
          <a:xfrm>
            <a:off x="548640" y="5890511"/>
            <a:ext cx="128016" cy="128016"/>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780783"/>
            <a:ext cx="10972800" cy="822960"/>
          </a:xfrm>
          <a:prstGeom prst="rect">
            <a:avLst/>
          </a:prstGeom>
          <a:noFill/>
        </p:spPr>
        <p:txBody>
          <a:bodyPr wrap="square" anchor="t" lIns="45720" rIns="45720">
            <a:spAutoFit/>
          </a:bodyPr>
          <a:lstStyle/>
          <a:p>
            <a:pPr algn="l"/>
            <a:r>
              <a:rPr sz="1600" b="0" i="0">
                <a:solidFill>
                  <a:srgbClr val="222222"/>
                </a:solidFill>
                <a:latin typeface="Calibri"/>
              </a:rPr>
              <a:t>Run a four-week side-by-side pilot.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300" b="1" i="0">
                <a:solidFill>
                  <a:srgbClr val="1F4E79"/>
                </a:solidFill>
                <a:latin typeface="Calibri"/>
              </a:rPr>
              <a:t>Limits and future work: where a graph model might help</a:t>
            </a:r>
          </a:p>
        </p:txBody>
      </p:sp>
      <p:sp>
        <p:nvSpPr>
          <p:cNvPr id="3" name="Rectangle 2"/>
          <p:cNvSpPr/>
          <p:nvPr/>
        </p:nvSpPr>
        <p:spPr>
          <a:xfrm>
            <a:off x="411480" y="868680"/>
            <a:ext cx="11384280" cy="45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Summary</a:t>
            </a:r>
          </a:p>
          <a:p>
            <a:pPr algn="ctr"/>
            <a:r>
              <a:rPr sz="1000">
                <a:solidFill>
                  <a:srgbClr val="FFFFFF"/>
                </a:solidFill>
                <a:latin typeface="Calibri"/>
              </a:rPr>
              <a:t>Whole group</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59</a:t>
            </a:r>
          </a:p>
        </p:txBody>
      </p:sp>
      <p:pic>
        <p:nvPicPr>
          <p:cNvPr id="7" name="Picture 6" descr="s13_01_future_work_map.png"/>
          <p:cNvPicPr>
            <a:picLocks noChangeAspect="1"/>
          </p:cNvPicPr>
          <p:nvPr/>
        </p:nvPicPr>
        <p:blipFill>
          <a:blip r:embed="rId3"/>
          <a:stretch>
            <a:fillRect/>
          </a:stretch>
        </p:blipFill>
        <p:spPr>
          <a:xfrm>
            <a:off x="320040" y="1301439"/>
            <a:ext cx="11548872" cy="4849481"/>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Conclusion</a:t>
            </a:r>
          </a:p>
        </p:txBody>
      </p:sp>
      <p:sp>
        <p:nvSpPr>
          <p:cNvPr id="3" name="Rectangle 2"/>
          <p:cNvSpPr/>
          <p:nvPr/>
        </p:nvSpPr>
        <p:spPr>
          <a:xfrm>
            <a:off x="411480" y="868680"/>
            <a:ext cx="11384280" cy="45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Summary</a:t>
            </a:r>
          </a:p>
          <a:p>
            <a:pPr algn="ctr"/>
            <a:r>
              <a:rPr sz="1000">
                <a:solidFill>
                  <a:srgbClr val="FFFFFF"/>
                </a:solidFill>
                <a:latin typeface="Calibri"/>
              </a:rPr>
              <a:t>Whole group</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60</a:t>
            </a:r>
          </a:p>
        </p:txBody>
      </p:sp>
      <p:sp>
        <p:nvSpPr>
          <p:cNvPr id="7" name="Oval 6"/>
          <p:cNvSpPr/>
          <p:nvPr/>
        </p:nvSpPr>
        <p:spPr>
          <a:xfrm>
            <a:off x="640080" y="1508760"/>
            <a:ext cx="201168" cy="201168"/>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325880"/>
            <a:ext cx="10607040" cy="731520"/>
          </a:xfrm>
          <a:prstGeom prst="rect">
            <a:avLst/>
          </a:prstGeom>
          <a:noFill/>
        </p:spPr>
        <p:txBody>
          <a:bodyPr wrap="square" anchor="t" lIns="45720" rIns="45720">
            <a:spAutoFit/>
          </a:bodyPr>
          <a:lstStyle/>
          <a:p>
            <a:pPr algn="l"/>
            <a:r>
              <a:rPr sz="2000" b="0" i="0">
                <a:solidFill>
                  <a:srgbClr val="222222"/>
                </a:solidFill>
                <a:latin typeface="Calibri"/>
              </a:rPr>
              <a:t>Machine learning helps most where a ranking drives an action: inspecting machines, with 94% of failures in the top 10% of the list.</a:t>
            </a:r>
          </a:p>
        </p:txBody>
      </p:sp>
      <p:sp>
        <p:nvSpPr>
          <p:cNvPr id="9" name="Oval 8"/>
          <p:cNvSpPr/>
          <p:nvPr/>
        </p:nvSpPr>
        <p:spPr>
          <a:xfrm>
            <a:off x="640080" y="2423160"/>
            <a:ext cx="201168" cy="201168"/>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40280"/>
            <a:ext cx="10607040" cy="731520"/>
          </a:xfrm>
          <a:prstGeom prst="rect">
            <a:avLst/>
          </a:prstGeom>
          <a:noFill/>
        </p:spPr>
        <p:txBody>
          <a:bodyPr wrap="square" anchor="t" lIns="45720" rIns="45720">
            <a:spAutoFit/>
          </a:bodyPr>
          <a:lstStyle/>
          <a:p>
            <a:pPr algn="l"/>
            <a:r>
              <a:rPr sz="2000" b="0" i="0">
                <a:solidFill>
                  <a:srgbClr val="222222"/>
                </a:solidFill>
                <a:latin typeface="Calibri"/>
              </a:rPr>
              <a:t>Demand can be forecast to 0.065 kW, but only a linear model stays safe in a heatwave, so the planner switches at 40 °C.</a:t>
            </a:r>
          </a:p>
        </p:txBody>
      </p:sp>
      <p:sp>
        <p:nvSpPr>
          <p:cNvPr id="11" name="Oval 10"/>
          <p:cNvSpPr/>
          <p:nvPr/>
        </p:nvSpPr>
        <p:spPr>
          <a:xfrm>
            <a:off x="640080" y="3337560"/>
            <a:ext cx="201168" cy="201168"/>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54680"/>
            <a:ext cx="10607040" cy="731520"/>
          </a:xfrm>
          <a:prstGeom prst="rect">
            <a:avLst/>
          </a:prstGeom>
          <a:noFill/>
        </p:spPr>
        <p:txBody>
          <a:bodyPr wrap="square" anchor="t" lIns="45720" rIns="45720">
            <a:spAutoFit/>
          </a:bodyPr>
          <a:lstStyle/>
          <a:p>
            <a:pPr algn="l"/>
            <a:r>
              <a:rPr sz="2000" b="0" i="0">
                <a:solidFill>
                  <a:srgbClr val="222222"/>
                </a:solidFill>
                <a:latin typeface="Calibri"/>
              </a:rPr>
              <a:t>Retention gains are modest: about twice the hit rate of random calling, and all models tie.</a:t>
            </a:r>
          </a:p>
        </p:txBody>
      </p:sp>
      <p:sp>
        <p:nvSpPr>
          <p:cNvPr id="13" name="Oval 12"/>
          <p:cNvSpPr/>
          <p:nvPr/>
        </p:nvSpPr>
        <p:spPr>
          <a:xfrm>
            <a:off x="640080" y="4251960"/>
            <a:ext cx="201168" cy="201168"/>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4069080"/>
            <a:ext cx="10607040" cy="731520"/>
          </a:xfrm>
          <a:prstGeom prst="rect">
            <a:avLst/>
          </a:prstGeom>
          <a:noFill/>
        </p:spPr>
        <p:txBody>
          <a:bodyPr wrap="square" anchor="t" lIns="45720" rIns="45720">
            <a:spAutoFit/>
          </a:bodyPr>
          <a:lstStyle/>
          <a:p>
            <a:pPr algn="l"/>
            <a:r>
              <a:rPr sz="2000" b="0" i="0">
                <a:solidFill>
                  <a:srgbClr val="222222"/>
                </a:solidFill>
                <a:latin typeface="Calibri"/>
              </a:rPr>
              <a:t>We recommend a pilot of the Failure Radar and the Demand Planner on company data, with monitoring from the first day.</a:t>
            </a:r>
          </a:p>
        </p:txBody>
      </p:sp>
      <p:sp>
        <p:nvSpPr>
          <p:cNvPr id="15" name="Oval 14"/>
          <p:cNvSpPr/>
          <p:nvPr/>
        </p:nvSpPr>
        <p:spPr>
          <a:xfrm>
            <a:off x="640080" y="5166360"/>
            <a:ext cx="201168" cy="201168"/>
          </a:xfrm>
          <a:prstGeom prst="ellipse">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983480"/>
            <a:ext cx="10607040" cy="731520"/>
          </a:xfrm>
          <a:prstGeom prst="rect">
            <a:avLst/>
          </a:prstGeom>
          <a:noFill/>
        </p:spPr>
        <p:txBody>
          <a:bodyPr wrap="square" anchor="t" lIns="45720" rIns="45720">
            <a:spAutoFit/>
          </a:bodyPr>
          <a:lstStyle/>
          <a:p>
            <a:pPr algn="l"/>
            <a:r>
              <a:rPr sz="2000" b="0" i="0">
                <a:solidFill>
                  <a:srgbClr val="222222"/>
                </a:solidFill>
                <a:latin typeface="Calibri"/>
              </a:rPr>
              <a:t>All scores come from public stand-in data and unseen test data; the method transfers, the numbers do not.</a:t>
            </a:r>
          </a:p>
        </p:txBody>
      </p:sp>
      <p:sp>
        <p:nvSpPr>
          <p:cNvPr id="17" name="TextBox 16"/>
          <p:cNvSpPr txBox="1"/>
          <p:nvPr/>
        </p:nvSpPr>
        <p:spPr>
          <a:xfrm>
            <a:off x="640080" y="6035040"/>
            <a:ext cx="10972800" cy="457200"/>
          </a:xfrm>
          <a:prstGeom prst="rect">
            <a:avLst/>
          </a:prstGeom>
          <a:noFill/>
        </p:spPr>
        <p:txBody>
          <a:bodyPr wrap="square" anchor="t" lIns="45720" rIns="45720">
            <a:spAutoFit/>
          </a:bodyPr>
          <a:lstStyle/>
          <a:p>
            <a:pPr algn="l"/>
            <a:r>
              <a:rPr sz="2400" b="1" i="0">
                <a:solidFill>
                  <a:srgbClr val="1F4E79"/>
                </a:solidFill>
                <a:latin typeface="Calibri"/>
              </a:rPr>
              <a:t>Thank you. Questions?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9418320" cy="685800"/>
          </a:xfrm>
          <a:prstGeom prst="rect">
            <a:avLst/>
          </a:prstGeom>
          <a:noFill/>
        </p:spPr>
        <p:txBody>
          <a:bodyPr wrap="square" anchor="ctr" lIns="45720" rIns="45720">
            <a:spAutoFit/>
          </a:bodyPr>
          <a:lstStyle/>
          <a:p>
            <a:pPr algn="l"/>
            <a:r>
              <a:rPr sz="2600" b="1" i="0">
                <a:solidFill>
                  <a:srgbClr val="1F4E79"/>
                </a:solidFill>
                <a:latin typeface="Calibri"/>
              </a:rPr>
              <a:t>References and data sources</a:t>
            </a:r>
          </a:p>
        </p:txBody>
      </p:sp>
      <p:sp>
        <p:nvSpPr>
          <p:cNvPr id="3" name="Rectangle 2"/>
          <p:cNvSpPr/>
          <p:nvPr/>
        </p:nvSpPr>
        <p:spPr>
          <a:xfrm>
            <a:off x="411480" y="868680"/>
            <a:ext cx="11384280" cy="45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829800" y="256032"/>
            <a:ext cx="2011680" cy="53035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wrap="square"/>
          <a:lstStyle/>
          <a:p>
            <a:pPr algn="ctr"/>
            <a:r>
              <a:rPr sz="1100" b="1">
                <a:solidFill>
                  <a:srgbClr val="FFFFFF"/>
                </a:solidFill>
                <a:latin typeface="Calibri"/>
              </a:rPr>
              <a:t>Summary</a:t>
            </a:r>
          </a:p>
          <a:p>
            <a:pPr algn="ctr"/>
            <a:r>
              <a:rPr sz="1000">
                <a:solidFill>
                  <a:srgbClr val="FFFFFF"/>
                </a:solidFill>
                <a:latin typeface="Calibri"/>
              </a:rPr>
              <a:t>Whole group</a:t>
            </a:r>
          </a:p>
        </p:txBody>
      </p:sp>
      <p:sp>
        <p:nvSpPr>
          <p:cNvPr id="5" name="TextBox 4"/>
          <p:cNvSpPr txBox="1"/>
          <p:nvPr/>
        </p:nvSpPr>
        <p:spPr>
          <a:xfrm>
            <a:off x="365760" y="6510528"/>
            <a:ext cx="7315200" cy="274320"/>
          </a:xfrm>
          <a:prstGeom prst="rect">
            <a:avLst/>
          </a:prstGeom>
          <a:noFill/>
        </p:spPr>
        <p:txBody>
          <a:bodyPr wrap="square" anchor="t" lIns="45720" rIns="45720">
            <a:spAutoFit/>
          </a:bodyPr>
          <a:lstStyle/>
          <a:p>
            <a:pPr algn="l"/>
            <a:r>
              <a:rPr sz="900" b="0" i="0">
                <a:solidFill>
                  <a:srgbClr val="666666"/>
                </a:solidFill>
                <a:latin typeface="Calibri"/>
              </a:rPr>
              <a:t>HVAC Service Planner  |  Group 1  |  CSC-505 Machine Learning, IIT Roorkee</a:t>
            </a:r>
          </a:p>
        </p:txBody>
      </p:sp>
      <p:sp>
        <p:nvSpPr>
          <p:cNvPr id="6" name="TextBox 5"/>
          <p:cNvSpPr txBox="1"/>
          <p:nvPr/>
        </p:nvSpPr>
        <p:spPr>
          <a:xfrm>
            <a:off x="10972800" y="6510528"/>
            <a:ext cx="868680" cy="274320"/>
          </a:xfrm>
          <a:prstGeom prst="rect">
            <a:avLst/>
          </a:prstGeom>
          <a:noFill/>
        </p:spPr>
        <p:txBody>
          <a:bodyPr wrap="square" anchor="t" lIns="45720" rIns="45720">
            <a:spAutoFit/>
          </a:bodyPr>
          <a:lstStyle/>
          <a:p>
            <a:pPr algn="r"/>
            <a:r>
              <a:rPr sz="1000" b="0" i="0">
                <a:solidFill>
                  <a:srgbClr val="666666"/>
                </a:solidFill>
                <a:latin typeface="Calibri"/>
              </a:rPr>
              <a:t>61</a:t>
            </a:r>
          </a:p>
        </p:txBody>
      </p:sp>
      <p:graphicFrame>
        <p:nvGraphicFramePr>
          <p:cNvPr id="7" name="Table 6"/>
          <p:cNvGraphicFramePr>
            <a:graphicFrameLocks noGrp="1"/>
          </p:cNvGraphicFramePr>
          <p:nvPr/>
        </p:nvGraphicFramePr>
        <p:xfrm>
          <a:off x="365760" y="1097280"/>
          <a:ext cx="11430000" cy="5029200"/>
        </p:xfrm>
        <a:graphic>
          <a:graphicData uri="http://schemas.openxmlformats.org/drawingml/2006/table">
            <a:tbl>
              <a:tblPr firstRow="0" bandRow="0">
                <a:tableStyleId>{5C22544A-7EE6-4342-B048-85BDC9FD1C3A}</a:tableStyleId>
              </a:tblPr>
              <a:tblGrid>
                <a:gridCol w="1645920"/>
                <a:gridCol w="9784080"/>
              </a:tblGrid>
              <a:tr h="457200">
                <a:tc>
                  <a:txBody>
                    <a:bodyPr wrap="square"/>
                    <a:lstStyle/>
                    <a:p>
                      <a:r>
                        <a:rPr sz="1300" b="1">
                          <a:solidFill>
                            <a:srgbClr val="FFFFFF"/>
                          </a:solidFill>
                          <a:latin typeface="Calibri"/>
                        </a:rPr>
                        <a:t>Source</a:t>
                      </a:r>
                    </a:p>
                  </a:txBody>
                  <a:tcPr marL="73152" marR="73152" marT="27432" marB="27432" anchor="ctr">
                    <a:solidFill>
                      <a:srgbClr val="1F4E79"/>
                    </a:solidFill>
                  </a:tcPr>
                </a:tc>
                <a:tc>
                  <a:txBody>
                    <a:bodyPr wrap="square"/>
                    <a:lstStyle/>
                    <a:p>
                      <a:r>
                        <a:rPr sz="1300" b="1">
                          <a:solidFill>
                            <a:srgbClr val="FFFFFF"/>
                          </a:solidFill>
                          <a:latin typeface="Calibri"/>
                        </a:rPr>
                        <a:t>Reference</a:t>
                      </a:r>
                    </a:p>
                  </a:txBody>
                  <a:tcPr marL="73152" marR="73152" marT="27432" marB="27432" anchor="ctr">
                    <a:solidFill>
                      <a:srgbClr val="1F4E79"/>
                    </a:solidFill>
                  </a:tcPr>
                </a:tc>
              </a:tr>
              <a:tr h="457200">
                <a:tc>
                  <a:txBody>
                    <a:bodyPr wrap="square"/>
                    <a:lstStyle/>
                    <a:p>
                      <a:r>
                        <a:rPr sz="1300" b="1">
                          <a:solidFill>
                            <a:srgbClr val="222222"/>
                          </a:solidFill>
                          <a:latin typeface="Calibri"/>
                        </a:rPr>
                        <a:t>Data 1</a:t>
                      </a:r>
                    </a:p>
                  </a:txBody>
                  <a:tcPr marL="73152" marR="73152" marT="27432" marB="27432" anchor="ctr">
                    <a:solidFill>
                      <a:srgbClr val="FFFFFF"/>
                    </a:solidFill>
                  </a:tcPr>
                </a:tc>
                <a:tc>
                  <a:txBody>
                    <a:bodyPr wrap="square"/>
                    <a:lstStyle/>
                    <a:p>
                      <a:r>
                        <a:rPr sz="1300" b="0">
                          <a:solidFill>
                            <a:srgbClr val="222222"/>
                          </a:solidFill>
                          <a:latin typeface="Calibri"/>
                        </a:rPr>
                        <a:t>felixpradoh. HVAC Power Consumption (hourly, 2025). Kaggle. kaggle.com/datasets/felixpradoh/hvac-power-consumption</a:t>
                      </a:r>
                    </a:p>
                  </a:txBody>
                  <a:tcPr marL="73152" marR="73152" marT="27432" marB="27432" anchor="ctr">
                    <a:solidFill>
                      <a:srgbClr val="FFFFFF"/>
                    </a:solidFill>
                  </a:tcPr>
                </a:tc>
              </a:tr>
              <a:tr h="457200">
                <a:tc>
                  <a:txBody>
                    <a:bodyPr wrap="square"/>
                    <a:lstStyle/>
                    <a:p>
                      <a:r>
                        <a:rPr sz="1300" b="1">
                          <a:solidFill>
                            <a:srgbClr val="222222"/>
                          </a:solidFill>
                          <a:latin typeface="Calibri"/>
                        </a:rPr>
                        <a:t>Data 2</a:t>
                      </a:r>
                    </a:p>
                  </a:txBody>
                  <a:tcPr marL="73152" marR="73152" marT="27432" marB="27432" anchor="ctr">
                    <a:solidFill>
                      <a:srgbClr val="F2F5F8"/>
                    </a:solidFill>
                  </a:tcPr>
                </a:tc>
                <a:tc>
                  <a:txBody>
                    <a:bodyPr wrap="square"/>
                    <a:lstStyle/>
                    <a:p>
                      <a:r>
                        <a:rPr sz="1300" b="0">
                          <a:solidFill>
                            <a:srgbClr val="222222"/>
                          </a:solidFill>
                          <a:latin typeface="Calibri"/>
                        </a:rPr>
                        <a:t>Matzka, S. (2020). AI4I 2020 Predictive Maintenance Dataset. UCI Machine Learning Repository, 601.</a:t>
                      </a:r>
                    </a:p>
                  </a:txBody>
                  <a:tcPr marL="73152" marR="73152" marT="27432" marB="27432" anchor="ctr">
                    <a:solidFill>
                      <a:srgbClr val="F2F5F8"/>
                    </a:solidFill>
                  </a:tcPr>
                </a:tc>
              </a:tr>
              <a:tr h="457200">
                <a:tc>
                  <a:txBody>
                    <a:bodyPr wrap="square"/>
                    <a:lstStyle/>
                    <a:p>
                      <a:r>
                        <a:rPr sz="1300" b="1">
                          <a:solidFill>
                            <a:srgbClr val="222222"/>
                          </a:solidFill>
                          <a:latin typeface="Calibri"/>
                        </a:rPr>
                        <a:t>Data 3</a:t>
                      </a:r>
                    </a:p>
                  </a:txBody>
                  <a:tcPr marL="73152" marR="73152" marT="27432" marB="27432" anchor="ctr">
                    <a:solidFill>
                      <a:srgbClr val="FFFFFF"/>
                    </a:solidFill>
                  </a:tcPr>
                </a:tc>
                <a:tc>
                  <a:txBody>
                    <a:bodyPr wrap="square"/>
                    <a:lstStyle/>
                    <a:p>
                      <a:r>
                        <a:rPr sz="1300" b="0">
                          <a:solidFill>
                            <a:srgbClr val="222222"/>
                          </a:solidFill>
                          <a:latin typeface="Calibri"/>
                        </a:rPr>
                        <a:t>Chen, D. (2019). Online Retail II. UCI Machine Learning Repository, 502.</a:t>
                      </a:r>
                    </a:p>
                  </a:txBody>
                  <a:tcPr marL="73152" marR="73152" marT="27432" marB="27432" anchor="ctr">
                    <a:solidFill>
                      <a:srgbClr val="FFFFFF"/>
                    </a:solidFill>
                  </a:tcPr>
                </a:tc>
              </a:tr>
              <a:tr h="457200">
                <a:tc>
                  <a:txBody>
                    <a:bodyPr wrap="square"/>
                    <a:lstStyle/>
                    <a:p>
                      <a:r>
                        <a:rPr sz="1300" b="1">
                          <a:solidFill>
                            <a:srgbClr val="222222"/>
                          </a:solidFill>
                          <a:latin typeface="Calibri"/>
                        </a:rPr>
                        <a:t>Ridge</a:t>
                      </a:r>
                    </a:p>
                  </a:txBody>
                  <a:tcPr marL="73152" marR="73152" marT="27432" marB="27432" anchor="ctr">
                    <a:solidFill>
                      <a:srgbClr val="F2F5F8"/>
                    </a:solidFill>
                  </a:tcPr>
                </a:tc>
                <a:tc>
                  <a:txBody>
                    <a:bodyPr wrap="square"/>
                    <a:lstStyle/>
                    <a:p>
                      <a:r>
                        <a:rPr sz="1300" b="0">
                          <a:solidFill>
                            <a:srgbClr val="222222"/>
                          </a:solidFill>
                          <a:latin typeface="Calibri"/>
                        </a:rPr>
                        <a:t>Hoerl and Kennard (1970). Ridge regression: biased estimation for nonorthogonal problems. Technometrics 12(1).</a:t>
                      </a:r>
                    </a:p>
                  </a:txBody>
                  <a:tcPr marL="73152" marR="73152" marT="27432" marB="27432" anchor="ctr">
                    <a:solidFill>
                      <a:srgbClr val="F2F5F8"/>
                    </a:solidFill>
                  </a:tcPr>
                </a:tc>
              </a:tr>
              <a:tr h="457200">
                <a:tc>
                  <a:txBody>
                    <a:bodyPr wrap="square"/>
                    <a:lstStyle/>
                    <a:p>
                      <a:r>
                        <a:rPr sz="1300" b="1">
                          <a:solidFill>
                            <a:srgbClr val="222222"/>
                          </a:solidFill>
                          <a:latin typeface="Calibri"/>
                        </a:rPr>
                        <a:t>Random Forest</a:t>
                      </a:r>
                    </a:p>
                  </a:txBody>
                  <a:tcPr marL="73152" marR="73152" marT="27432" marB="27432" anchor="ctr">
                    <a:solidFill>
                      <a:srgbClr val="FFFFFF"/>
                    </a:solidFill>
                  </a:tcPr>
                </a:tc>
                <a:tc>
                  <a:txBody>
                    <a:bodyPr wrap="square"/>
                    <a:lstStyle/>
                    <a:p>
                      <a:r>
                        <a:rPr sz="1300" b="0">
                          <a:solidFill>
                            <a:srgbClr val="222222"/>
                          </a:solidFill>
                          <a:latin typeface="Calibri"/>
                        </a:rPr>
                        <a:t>Breiman (2001). Random forests. Machine Learning 45(1).</a:t>
                      </a:r>
                    </a:p>
                  </a:txBody>
                  <a:tcPr marL="73152" marR="73152" marT="27432" marB="27432" anchor="ctr">
                    <a:solidFill>
                      <a:srgbClr val="FFFFFF"/>
                    </a:solidFill>
                  </a:tcPr>
                </a:tc>
              </a:tr>
              <a:tr h="457200">
                <a:tc>
                  <a:txBody>
                    <a:bodyPr wrap="square"/>
                    <a:lstStyle/>
                    <a:p>
                      <a:r>
                        <a:rPr sz="1300" b="1">
                          <a:solidFill>
                            <a:srgbClr val="222222"/>
                          </a:solidFill>
                          <a:latin typeface="Calibri"/>
                        </a:rPr>
                        <a:t>XGBoost</a:t>
                      </a:r>
                    </a:p>
                  </a:txBody>
                  <a:tcPr marL="73152" marR="73152" marT="27432" marB="27432" anchor="ctr">
                    <a:solidFill>
                      <a:srgbClr val="F2F5F8"/>
                    </a:solidFill>
                  </a:tcPr>
                </a:tc>
                <a:tc>
                  <a:txBody>
                    <a:bodyPr wrap="square"/>
                    <a:lstStyle/>
                    <a:p>
                      <a:r>
                        <a:rPr sz="1300" b="0">
                          <a:solidFill>
                            <a:srgbClr val="222222"/>
                          </a:solidFill>
                          <a:latin typeface="Calibri"/>
                        </a:rPr>
                        <a:t>Chen and Guestrin (2016). XGBoost: a scalable tree boosting system. KDD.</a:t>
                      </a:r>
                    </a:p>
                  </a:txBody>
                  <a:tcPr marL="73152" marR="73152" marT="27432" marB="27432" anchor="ctr">
                    <a:solidFill>
                      <a:srgbClr val="F2F5F8"/>
                    </a:solidFill>
                  </a:tcPr>
                </a:tc>
              </a:tr>
              <a:tr h="457200">
                <a:tc>
                  <a:txBody>
                    <a:bodyPr wrap="square"/>
                    <a:lstStyle/>
                    <a:p>
                      <a:r>
                        <a:rPr sz="1300" b="1">
                          <a:solidFill>
                            <a:srgbClr val="222222"/>
                          </a:solidFill>
                          <a:latin typeface="Calibri"/>
                        </a:rPr>
                        <a:t>scikit-learn</a:t>
                      </a:r>
                    </a:p>
                  </a:txBody>
                  <a:tcPr marL="73152" marR="73152" marT="27432" marB="27432" anchor="ctr">
                    <a:solidFill>
                      <a:srgbClr val="FFFFFF"/>
                    </a:solidFill>
                  </a:tcPr>
                </a:tc>
                <a:tc>
                  <a:txBody>
                    <a:bodyPr wrap="square"/>
                    <a:lstStyle/>
                    <a:p>
                      <a:r>
                        <a:rPr sz="1300" b="0">
                          <a:solidFill>
                            <a:srgbClr val="222222"/>
                          </a:solidFill>
                          <a:latin typeface="Calibri"/>
                        </a:rPr>
                        <a:t>Pedregosa et al. (2011). Scikit-learn: machine learning in Python. JMLR 12.</a:t>
                      </a:r>
                    </a:p>
                  </a:txBody>
                  <a:tcPr marL="73152" marR="73152" marT="27432" marB="27432" anchor="ctr">
                    <a:solidFill>
                      <a:srgbClr val="FFFFFF"/>
                    </a:solidFill>
                  </a:tcPr>
                </a:tc>
              </a:tr>
              <a:tr h="457200">
                <a:tc>
                  <a:txBody>
                    <a:bodyPr wrap="square"/>
                    <a:lstStyle/>
                    <a:p>
                      <a:r>
                        <a:rPr sz="1300" b="1">
                          <a:solidFill>
                            <a:srgbClr val="222222"/>
                          </a:solidFill>
                          <a:latin typeface="Calibri"/>
                        </a:rPr>
                        <a:t>PR curves</a:t>
                      </a:r>
                    </a:p>
                  </a:txBody>
                  <a:tcPr marL="73152" marR="73152" marT="27432" marB="27432" anchor="ctr">
                    <a:solidFill>
                      <a:srgbClr val="F2F5F8"/>
                    </a:solidFill>
                  </a:tcPr>
                </a:tc>
                <a:tc>
                  <a:txBody>
                    <a:bodyPr wrap="square"/>
                    <a:lstStyle/>
                    <a:p>
                      <a:r>
                        <a:rPr sz="1300" b="0">
                          <a:solidFill>
                            <a:srgbClr val="222222"/>
                          </a:solidFill>
                          <a:latin typeface="Calibri"/>
                        </a:rPr>
                        <a:t>Saito and Rehmsmeier (2015). The precision-recall plot is more informative than the ROC plot on imbalanced data. PLOS ONE 10(3).</a:t>
                      </a:r>
                    </a:p>
                  </a:txBody>
                  <a:tcPr marL="73152" marR="73152" marT="27432" marB="27432" anchor="ctr">
                    <a:solidFill>
                      <a:srgbClr val="F2F5F8"/>
                    </a:solidFill>
                  </a:tcPr>
                </a:tc>
              </a:tr>
              <a:tr h="457200">
                <a:tc>
                  <a:txBody>
                    <a:bodyPr wrap="square"/>
                    <a:lstStyle/>
                    <a:p>
                      <a:r>
                        <a:rPr sz="1300" b="1">
                          <a:solidFill>
                            <a:srgbClr val="222222"/>
                          </a:solidFill>
                          <a:latin typeface="Calibri"/>
                        </a:rPr>
                        <a:t>PSI</a:t>
                      </a:r>
                    </a:p>
                  </a:txBody>
                  <a:tcPr marL="73152" marR="73152" marT="27432" marB="27432" anchor="ctr">
                    <a:solidFill>
                      <a:srgbClr val="FFFFFF"/>
                    </a:solidFill>
                  </a:tcPr>
                </a:tc>
                <a:tc>
                  <a:txBody>
                    <a:bodyPr wrap="square"/>
                    <a:lstStyle/>
                    <a:p>
                      <a:r>
                        <a:rPr sz="1300" b="0">
                          <a:solidFill>
                            <a:srgbClr val="222222"/>
                          </a:solidFill>
                          <a:latin typeface="Calibri"/>
                        </a:rPr>
                        <a:t>Siddiqi (2006). Credit Risk Scorecards. Wiley.</a:t>
                      </a:r>
                    </a:p>
                  </a:txBody>
                  <a:tcPr marL="73152" marR="73152" marT="27432" marB="27432" anchor="ctr">
                    <a:solidFill>
                      <a:srgbClr val="FFFFFF"/>
                    </a:solidFill>
                  </a:tcPr>
                </a:tc>
              </a:tr>
              <a:tr h="457200">
                <a:tc>
                  <a:txBody>
                    <a:bodyPr wrap="square"/>
                    <a:lstStyle/>
                    <a:p>
                      <a:r>
                        <a:rPr sz="1300" b="1">
                          <a:solidFill>
                            <a:srgbClr val="222222"/>
                          </a:solidFill>
                          <a:latin typeface="Calibri"/>
                        </a:rPr>
                        <a:t>GraphSAGE</a:t>
                      </a:r>
                    </a:p>
                  </a:txBody>
                  <a:tcPr marL="73152" marR="73152" marT="27432" marB="27432" anchor="ctr">
                    <a:solidFill>
                      <a:srgbClr val="F2F5F8"/>
                    </a:solidFill>
                  </a:tcPr>
                </a:tc>
                <a:tc>
                  <a:txBody>
                    <a:bodyPr wrap="square"/>
                    <a:lstStyle/>
                    <a:p>
                      <a:r>
                        <a:rPr sz="1300" b="0">
                          <a:solidFill>
                            <a:srgbClr val="222222"/>
                          </a:solidFill>
                          <a:latin typeface="Calibri"/>
                        </a:rPr>
                        <a:t>Hamilton, Ying and Leskovec (2017). Inductive representation learning on large graphs. NeurIPS 30.</a:t>
                      </a:r>
                    </a:p>
                  </a:txBody>
                  <a:tcPr marL="73152" marR="73152" marT="27432" marB="27432" anchor="ctr">
                    <a:solidFill>
                      <a:srgbClr val="F2F5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