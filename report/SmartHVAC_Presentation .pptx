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7"/>
  </p:notesMasterIdLst>
  <p:sldIdLst>
    <p:sldId id="262" r:id="rId2"/>
    <p:sldId id="267" r:id="rId5"/>
    <p:sldId id="268" r:id="rId4"/>
    <p:sldId id="269" r:id="rId3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66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-132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30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24-04-2016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 smtClean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IN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I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24-Apr-16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1069520" y="1111751"/>
            <a:ext cx="7247166" cy="49933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sz="2600" b="1" i="0">
                <a:solidFill>
                  <a:srgbClr val="1F3B63"/>
                </a:solidFill>
              </a:rPr>
              <a:t>Using ML to Improve the Business Chain of HVAC Systems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794760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sz="1600" b="1" i="0">
                <a:solidFill>
                  <a:srgbClr val="1F2D3D"/>
                </a:solidFill>
              </a:rPr>
              <a:t>Course: Machine Learning (CSC-505) · Group 1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4206240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sz="1400" b="0" i="1">
                <a:solidFill>
                  <a:srgbClr val="1F2D3D"/>
                </a:solidFill>
              </a:rPr>
              <a:t>Under the guidance of Dr. Durga Toshniwal, Professor, CSE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1783080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sz="1600" b="0" i="0">
                <a:solidFill>
                  <a:srgbClr val="4A5560"/>
                </a:solidFill>
              </a:rPr>
              <a:t>Multi-task Heterogeneous Graph Neural Network · SmartHVAC</a:t>
            </a:r>
          </a:p>
        </p:txBody>
      </p:sp>
      <p:sp>
        <p:nvSpPr>
          <p:cNvPr id="16" name="members"/>
          <p:cNvSpPr txBox="1"/>
          <p:nvPr/>
        </p:nvSpPr>
        <p:spPr>
          <a:xfrm>
            <a:off x="1069848" y="2423160"/>
            <a:ext cx="72237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Animesh Bhashak (26911001) · Ankit Kumar (26911002) · Dhruv Agar (25911019)</a:t>
            </a:r>
          </a:p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Kriti Vajpayee (269) · Saurav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8412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An HVAC service business loses money to unpredictable demand, sudden breakdowns, stock-outs and customers who go quiet off-season. In India these swing hard with the seasons.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48840"/>
            <a:ext cx="4069080" cy="164592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1992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B63"/>
                </a:solidFill>
                <a:latin typeface="Calibri"/>
              </a:rPr>
              <a:t>1  Demand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88620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How many service requests per location each month (summer peak in cities, winter peak in villages)?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148840"/>
            <a:ext cx="4069080" cy="164592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221992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B63"/>
                </a:solidFill>
                <a:latin typeface="Calibri"/>
              </a:rPr>
              <a:t>2  Predictive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06040"/>
            <a:ext cx="388620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Which devices will fail soon, and how much power do they draw?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4069080" cy="164592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50791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B63"/>
                </a:solidFill>
                <a:latin typeface="Calibri"/>
              </a:rPr>
              <a:t>3  Customer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388620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Which customers are going dormant ("sleepers"), and what can we cross-sell them?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977639"/>
            <a:ext cx="4069080" cy="164592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050791"/>
            <a:ext cx="3886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F3B63"/>
                </a:solidFill>
                <a:latin typeface="Calibri"/>
              </a:rPr>
              <a:t>4  Spare-parts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434840"/>
            <a:ext cx="3886200" cy="1143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How many compressors, coils, PCBs and filters to stock each month?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98932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C86A1E"/>
                </a:solidFill>
                <a:latin typeface="Calibri"/>
              </a:rPr>
              <a:t>Goal: one model that answers all four, month by month, and turns predictions into a profit-and-loss 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The 10-stage ML lifecycle</a:t>
            </a:r>
          </a:p>
        </p:txBody>
      </p:sp>
      <p:pic>
        <p:nvPicPr>
          <p:cNvPr id="3" name="Picture 2" descr="01_ml_lifecycle_10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59552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We followed all ten stages, from problem definition to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Our approach: one graph, one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80160"/>
            <a:ext cx="8412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The business is modelled as a graph. Locations, customers (residents), devices and spare parts are nodes; "lives in", "owns" and "needs part" are edges.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Effects spread along these links: a hot month stresses devices, failures use up parts, and service quality affects whether a customer stays.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One multi-task Hetero-GNN predicts demand, power, failure, churn and parts demand together, on 12 monthly snapshots of the graph.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A business engine converts the predictions into revenue, costs and profit, and a Streamlit dashboard shows the results.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206240"/>
            <a:ext cx="8503920" cy="1900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98932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End-to-end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End-to-end system pipeline</a:t>
            </a:r>
          </a:p>
        </p:txBody>
      </p:sp>
      <p:pic>
        <p:nvPicPr>
          <p:cNvPr id="3" name="Picture 2" descr="04_end_to_end_system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" y="1188720"/>
            <a:ext cx="7800975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62472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Data ingestion → graph builder → V100 training → fine-tuning → evaluation →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80160"/>
          <a:ext cx="8503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41148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UCI AI4I 2020 Predictive Maintenance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10,000 rows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Failure prior (heat-dissipation + power failures) and power curve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UCI Online Retail II → RFM per customer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4,312 customers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Engagement, income tier, sleeper label (no purchase &gt; 90 days)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Kaggle HVAC Power Consumption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8,760 hourly rows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Monthly power and temperature profiles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33756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Company graph (generated with a fixed seed, calibrated with the datasets above)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947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4340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locations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(45% metro)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7947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34340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residents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7947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34340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devices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(60% cooling)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3794760"/>
            <a:ext cx="1828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4343400"/>
            <a:ext cx="1828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spare parts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20640"/>
            <a:ext cx="8412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Edges: resident → location (600), resident → device (1–3 each, ≈1,200), device → part (2 each, 360). Every edge also has a reverse edge so information flows both ways.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Exploratory data analysis</a:t>
            </a:r>
          </a:p>
        </p:txBody>
      </p:sp>
      <p:pic>
        <p:nvPicPr>
          <p:cNvPr id="3" name="Picture 2" descr="eda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120640" cy="2414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32120" y="1280160"/>
            <a:ext cx="3337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Power follows temperature: lowest in Feb/Nov (≈1 kW), peak in June (3.2 kW at 41 °C).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Humidity jumps to 85–88% in Jul–Aug: the monsoon regime.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56% of hours are cooling, 19% heating.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2.07%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79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devices with a critical failure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(207 of 10,000) → rare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977639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33.3%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526279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customers inactive &gt; 90 days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→ "sleepers"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977639"/>
            <a:ext cx="2468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£706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526279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median spend (max £349k)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→ log-scaled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49240"/>
            <a:ext cx="8412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Each month is assigned a regime (winter, summer, monsoon) with a cooling and a heating multiplier, e.g. cooling 1.00 in May, heating 0.95 in December.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Climate regimes and regional demand</a:t>
            </a:r>
          </a:p>
        </p:txBody>
      </p:sp>
      <p:pic>
        <p:nvPicPr>
          <p:cNvPr id="3" name="Picture 2" descr="09_seasonal_cooling_heating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750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012574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Metro demand peaks in summer (cooling); village demand peaks in winter (heating).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Data cleaning and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4114800" cy="224028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35331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Online Retail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737360"/>
            <a:ext cx="3931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Drop cancelled invoices, missing customer IDs and non-positive quantity/price; compute Recency, Frequency and Monetary per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280160"/>
            <a:ext cx="4114800" cy="224028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35331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AI4I 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37360"/>
            <a:ext cx="3931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Mechanical power = torque × rpm × 2π/60, rescaled to 1.2–3.6 kW; failure label = heat-dissipation OR power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703320"/>
            <a:ext cx="4114800" cy="224028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77647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HVAC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160520"/>
            <a:ext cx="3931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Split into 12 months; mean temperature, mean and 90th-percentile power per month; physical bounds on temperature and power.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703320"/>
            <a:ext cx="4114800" cy="224028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377647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Graph sanitation &amp;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160520"/>
            <a:ext cx="393192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No orphan nodes, compatible parts only, reverse edges added; all features scaled to about 0–1 (e.g. price/60,000, tenure/48).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035040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A5560"/>
                </a:solidFill>
                <a:latin typeface="Calibri"/>
              </a:rPr>
              <a:t>None of the source files has missing values after cleaning.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8412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Each month is encoded as θ = 2π(m−1)/12 with features sin θ and cos θ, so December sits next to January.</a:t>
            </a:r>
          </a:p>
        </p:txBody>
      </p:sp>
      <p:pic>
        <p:nvPicPr>
          <p:cNvPr id="4" name="Picture 3" descr="s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8046720" cy="321868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5029200"/>
          <a:ext cx="8503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400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Node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 features per node (incl. sin/cos month)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metro flag, temperature, grid stability, population density, cooling &amp; heating multipliers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Device / Resident / Part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type, price/cost, power, failure prob. / app activity, engagement, tenure, income / stock, holding cost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Model selection</a:t>
            </a:r>
          </a:p>
        </p:txBody>
      </p:sp>
      <p:pic>
        <p:nvPicPr>
          <p:cNvPr id="3" name="Picture 2" descr="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4297680" cy="2406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09160" y="137160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00584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 family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Uses links?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XGBoost / LightGBM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GCN / GAT (one node type)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Hetero-GNN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Yes, per relation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86200"/>
            <a:ext cx="8412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Tabular models treat rows as independent and would need four separate models.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A single-type GNN forces customers, devices and parts into one feature space.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A heterogeneous GNN keeps separate weights for each relation and shares one representation across all four tasks.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Heterogeneous graph schema</a:t>
            </a:r>
          </a:p>
        </p:txBody>
      </p:sp>
      <p:pic>
        <p:nvPicPr>
          <p:cNvPr id="3" name="Picture 2" descr="02_heterogeneous_graph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188720"/>
            <a:ext cx="716889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742432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Four node types linked by location, ownership and supply-chain edges.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108192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Conceptual repo diagram. The code uses GraphSAGE layers and 8 features per node type.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Architecture: MultiTaskHVACHeteroGNN</a:t>
            </a:r>
          </a:p>
        </p:txBody>
      </p:sp>
      <p:pic>
        <p:nvPicPr>
          <p:cNvPr id="3" name="Picture 2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3649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52160" y="132588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Per-type linear layer 8 → 128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3 HeteroConv layers, one GraphSAGE conv per relation, mean aggregation, residual + dropout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5 heads (MLP 128→64→1): demand, power, failure, churn, inventory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300" b="0">
                <a:solidFill>
                  <a:srgbClr val="1F2D3D"/>
                </a:solidFill>
                <a:latin typeface="Calibri"/>
              </a:rPr>
              <a:t>Cross-sell score = σ(resident · device embedding)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00600"/>
            <a:ext cx="84124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1F3B63"/>
                </a:solidFill>
                <a:latin typeface="Calibri"/>
              </a:rPr>
              <a:t>h(v) ← W₁·h(v) + W₂·mean of neighbours, for every relation; results are summed across relations.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Model architecture (detailed view)</a:t>
            </a:r>
          </a:p>
        </p:txBody>
      </p:sp>
      <p:pic>
        <p:nvPicPr>
          <p:cNvPr id="3" name="Picture 2" descr="03_hetero_gnn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689" y="1188720"/>
            <a:ext cx="6852621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742432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Shared graph layers feed five task heads, balanced by Kendall uncertainty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108192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Conceptual repo diagram. The code uses GraphSAGE layers and 8 features per node 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Model training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80160"/>
          <a:ext cx="48463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Tesla V100S 32 GB, FP16 mixed precision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120 pre-train, 60 fine-tune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AdamW, wd 1e-4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1e-3 → 2.5e-4 (fine-tune)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Scheduler / clipping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Cosine annealing / max norm 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12 monthly graphs per epoch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394960" y="128016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0" y="1353312"/>
            <a:ext cx="3246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Self-healing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737360"/>
            <a:ext cx="3246120" cy="16001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If the loss becomes NaN/Inf, halve the learning rate and restart, so unattended runs don't crash.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3566160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3639312"/>
            <a:ext cx="3246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Pre-training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023360"/>
            <a:ext cx="3246120" cy="16001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Loss fell from ≈23,000 to ≈558 in 10 epochs, then oscillated (253–583); best 235. Regression losses dominated.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06240"/>
            <a:ext cx="48463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A5560"/>
                </a:solidFill>
                <a:latin typeface="Calibri"/>
              </a:rPr>
              <a:t>Peak GPU memory was only 28.8 MB because the graphs are small and sparse.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Self-healing training safeguard</a:t>
            </a:r>
          </a:p>
        </p:txBody>
      </p:sp>
      <p:pic>
        <p:nvPicPr>
          <p:cNvPr id="3" name="Picture 2" descr="05_self_healing_train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29" y="1188720"/>
            <a:ext cx="6212541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62472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On NaN/Inf or a 10× loss spike: roll back, halve the learning rate, restart.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Pre-training vs. fine-tuning loss</a:t>
            </a:r>
          </a:p>
        </p:txBody>
      </p:sp>
      <p:pic>
        <p:nvPicPr>
          <p:cNvPr id="3" name="Picture 2" descr="06_pretrain_vs_finetune_loss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281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543736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Fine-tuning brought the combined loss from 137.04 to 46.80 in 17 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09496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Illustrative figure from the repo (generate_all_visualizations.py), drawn from formulas; these curves are not in the training log.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Evaluation and fine-tuning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280160"/>
          <a:ext cx="8503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402336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 found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Demand loss (~115) drowned out failure/churn losses (~0.6)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Kendall uncertainty weighting: learns a weight per task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No failures flagged in off-peak/monsoon months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Class weights (2.5 failure, 1.8 churn) + real-data calibration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518 sleepers flagged, mostly wrong; loss oscillating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Huber loss, cosine LR schedule, gradient clipping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inetu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548640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3383280"/>
            <a:ext cx="283464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L = Σ ½·e^(−sᵢ)·Lᵢ + ½·sᵢ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60 epochs in 17 s on the V100.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Learned weights down-weight demand and inventory, up-weight churn.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Kendall uncertainty task weights</a:t>
            </a:r>
          </a:p>
        </p:txBody>
      </p:sp>
      <p:pic>
        <p:nvPicPr>
          <p:cNvPr id="3" name="Picture 2" descr="11_kendall_uncertainty_task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516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778155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Learned weights shrink the large regression losses so classification tasks can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143915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Illustrative figure from the repo (generate_all_visualizations.py), drawn from formulas; these curves are not in the training log.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Results: before vs. after fine-tuning</a:t>
            </a:r>
          </a:p>
        </p:txBody>
      </p:sp>
      <p:pic>
        <p:nvPicPr>
          <p:cNvPr id="3" name="Picture 2" descr="before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438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754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−66%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combined loss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137 → 46.8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4754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3E7B35"/>
                </a:solidFill>
                <a:latin typeface="Calibri"/>
              </a:rPr>
              <a:t>0.697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5303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failure F1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(was 0.540)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4754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3E7B35"/>
                </a:solidFill>
                <a:latin typeface="Calibri"/>
              </a:rPr>
              <a:t>0.646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5303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churn F1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(was 0.397)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754880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3E7B35"/>
                </a:solidFill>
                <a:latin typeface="Calibri"/>
              </a:rPr>
              <a:t>4.64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530352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demand MAE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(was 8.77)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Pillar performance before vs. after</a:t>
            </a:r>
          </a:p>
        </p:txBody>
      </p:sp>
      <p:pic>
        <p:nvPicPr>
          <p:cNvPr id="3" name="Picture 2" descr="07_pillar_performance_comparis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5162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778155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Demand MSE −71%, inventory MSE −34%, power MSE −92%; failure F1 +0.157, churn F1 +0.249.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ROC curves: failure and churn classifiers</a:t>
            </a:r>
          </a:p>
        </p:txBody>
      </p:sp>
      <p:pic>
        <p:nvPicPr>
          <p:cNvPr id="3" name="Picture 2" descr="10_failure_and_churn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750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012574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F1 values match the logged results (0.697 / 0.646).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78334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Illustrative figure from the repo (generate_all_visualizations.py), drawn from formulas; these curves are not in the training log. The AUC values are also missing from the log.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Business impact (simulated)</a:t>
            </a:r>
          </a:p>
        </p:txBody>
      </p:sp>
      <p:pic>
        <p:nvPicPr>
          <p:cNvPr id="3" name="Picture 2" descr="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577840" cy="2479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23444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₹2.61 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7830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annual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42316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₹2.27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97180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net profit, positive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in all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361188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7.76×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416052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revenue / operating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480060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1F3B63"/>
                </a:solidFill>
                <a:latin typeface="Calibri"/>
              </a:rPr>
              <a:t>22.6%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534924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saving vs. reactive</a:t>
            </a:r>
          </a:p>
          <a:p>
            <a:pPr algn="ctr"/>
            <a:r>
              <a:rPr sz="1200" b="0">
                <a:solidFill>
                  <a:srgbClr val="4A5560"/>
                </a:solidFill>
                <a:latin typeface="Calibri"/>
              </a:rPr>
              <a:t>maintenance</a:t>
            </a:r>
          </a:p>
        </p:txBody>
      </p:sp>
      <p:pic>
        <p:nvPicPr>
          <p:cNvPr id="12" name="Picture 11" descr="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5212080" cy="20848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080760"/>
            <a:ext cx="8412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Figures come from the business engine's default cost assumptions.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12-month financial ledger</a:t>
            </a:r>
          </a:p>
        </p:txBody>
      </p:sp>
      <p:pic>
        <p:nvPicPr>
          <p:cNvPr id="3" name="Picture 2" descr="08_12month_audited_financial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750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012574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Revenue vs. OPEX and cost-efficiency ratio (6.5× to 9.5×) for every month.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78334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Simulated with the business engine's default cost assumptions.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Proactive savings vs. reactive repair</a:t>
            </a:r>
          </a:p>
        </p:txBody>
      </p:sp>
      <p:pic>
        <p:nvPicPr>
          <p:cNvPr id="3" name="Picture 2" descr="12_economic_proactive_savings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1188720"/>
            <a:ext cx="8595360" cy="37507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012574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1F2D3D"/>
                </a:solidFill>
                <a:latin typeface="Calibri"/>
              </a:rPr>
              <a:t>Average saving 22.6%, highest in winter and peak summer.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78334"/>
            <a:ext cx="8412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4A5560"/>
                </a:solidFill>
                <a:latin typeface="Calibri"/>
              </a:rPr>
              <a:t>Simulated with the business engine's default cost assumptions.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Model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353312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Streamlit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737360"/>
            <a:ext cx="256032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app.py on Streamlit Community Cloud, auto-redeploys on every GitHub push. Month slider, filters, business inputs and 7 tabs: graph, demand, devices, churn, parts, finance, Neo4j.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28016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353312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Offline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256032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ARGOS_BROWSER_RESULTS.html: one HTML file with Chart.js charts that opens in any browser, no Python or internet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8016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353312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Neo4j graph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737360"/>
            <a:ext cx="256032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All nodes and edges pushed over Bolt with ready Cypher queries; falls back to local PyTorch Geometric if Neo4j is down.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8412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Artefacts 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3484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fine_tuned_hetero_gnn_v100.pt (weights) · fine_tuned_financial_metrics.csv (12-month ledger) · fine_tune_telemetry.json (metrics + log)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D3D"/>
                </a:solidFill>
                <a:latin typeface="Calibri"/>
              </a:rPr>
              <a:t>Live at smarthvac-advisor.streamlit.app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Monitoring and maintenance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4114800" cy="192024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35331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Covariate drift (weather)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737360"/>
            <a:ext cx="393192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Heatwaves, late monsoon: KS test / PSI on temperature and humidity → update seasonal multipliers.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280160"/>
            <a:ext cx="4114800" cy="1920240"/>
          </a:xfrm>
          <a:prstGeom prst="roundRect">
            <a:avLst>
              <a:gd name="adj" fmla="val 6000"/>
            </a:avLst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353312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F3B63"/>
                </a:solidFill>
                <a:latin typeface="Calibri"/>
              </a:rPr>
              <a:t>Concept drift (wear, behaviour)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37360"/>
            <a:ext cx="393192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Alert if power MSE &gt; 0.20 kW² (now 0.065) or failure F1 &lt; 0.60 (now 0.697) → recalibrate and fine-tune.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3657600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85800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54864" marT="18288" marB="18288" anchor="ctr">
                    <a:solidFill>
                      <a:srgbClr val="365F9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Load the new month snapshot, refresh predictions and ledger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Fine-tune with new service logs (fine_tune_v100.py)</a:t>
                      </a:r>
                    </a:p>
                  </a:txBody>
                  <a:tcPr marL="54864" marR="54864" marT="18288" marB="18288" anchor="ctr">
                    <a:solidFill>
                      <a:srgbClr val="E6EE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Yearly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Full retrain + schema review: new devices, new locations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486400"/>
            <a:ext cx="8412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4A5560"/>
                </a:solidFill>
                <a:latin typeface="Calibri"/>
              </a:rPr>
              <a:t>Every run writes a telemetry JSON (metrics, GPU memory, learned task weights) so a new model is compared before it is published.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Challenges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C86A1E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Company graph and targets are simulated; the real datasets only calibrate them.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Scores are measured on the training graphs; there is no held-out test set yet.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₹ results depend on assumed costs and conversion rates.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Rare failures (≈2%) and mixed loss scales made training unstable at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23444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3E7B35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69164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Retrain on real HVAC service tickets and IoT sensor logs; test on a held-out year.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Compare with simple baselines (seasonal naïve, XGBoost per task).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Add live weather (e.g. Open-Meteo) and technician scheduling.</a:t>
            </a:r>
          </a:p>
          <a:p>
            <a:pPr marL="228600" indent="-201168">
              <a:spcAft>
                <a:spcPts val="600"/>
              </a:spcAft>
              <a:buChar char="•"/>
            </a:pPr>
            <a:r>
              <a:rPr sz="1400" b="0">
                <a:solidFill>
                  <a:srgbClr val="1F2D3D"/>
                </a:solidFill>
                <a:latin typeface="Calibri"/>
              </a:rPr>
              <a:t>Calibrated probabilities and automatic drift alerts in the dashboard.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800" b="1">
                <a:solidFill>
                  <a:srgbClr val="1F2D3D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8412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01168">
              <a:spcAft>
                <a:spcPts val="1200"/>
              </a:spcAft>
              <a:buChar char="•"/>
            </a:pPr>
            <a:r>
              <a:rPr sz="1700" b="0">
                <a:solidFill>
                  <a:srgbClr val="1F2D3D"/>
                </a:solidFill>
                <a:latin typeface="Calibri"/>
              </a:rPr>
              <a:t>Built a 10-stage ML pipeline for an HVAC service business.</a:t>
            </a:r>
          </a:p>
          <a:p>
            <a:pPr marL="228600" indent="-201168">
              <a:spcAft>
                <a:spcPts val="1200"/>
              </a:spcAft>
              <a:buChar char="•"/>
            </a:pPr>
            <a:r>
              <a:rPr sz="1700" b="0">
                <a:solidFill>
                  <a:srgbClr val="1F2D3D"/>
                </a:solidFill>
                <a:latin typeface="Calibri"/>
              </a:rPr>
              <a:t>One heterogeneous graph + one multi-task GNN covers demand, maintenance, retention and inventory.</a:t>
            </a:r>
          </a:p>
          <a:p>
            <a:pPr marL="228600" indent="-201168">
              <a:spcAft>
                <a:spcPts val="1200"/>
              </a:spcAft>
              <a:buChar char="•"/>
            </a:pPr>
            <a:r>
              <a:rPr sz="1700" b="0">
                <a:solidFill>
                  <a:srgbClr val="1F2D3D"/>
                </a:solidFill>
                <a:latin typeface="Calibri"/>
              </a:rPr>
              <a:t>Fine-tuning cut the combined loss by 66% and lifted failure F1 to 0.70 and churn F1 to 0.65.</a:t>
            </a:r>
          </a:p>
          <a:p>
            <a:pPr marL="228600" indent="-201168">
              <a:spcAft>
                <a:spcPts val="1200"/>
              </a:spcAft>
              <a:buChar char="•"/>
            </a:pPr>
            <a:r>
              <a:rPr sz="1700" b="0">
                <a:solidFill>
                  <a:srgbClr val="1F2D3D"/>
                </a:solidFill>
                <a:latin typeface="Calibri"/>
              </a:rPr>
              <a:t>Predictions feed a business engine and a live Streamlit dashboard, with a drift-monitoring and retraining plan.</a:t>
            </a:r>
          </a:p>
          <a:p>
            <a:pPr marL="228600" indent="-201168">
              <a:spcAft>
                <a:spcPts val="1200"/>
              </a:spcAft>
              <a:buChar char="•"/>
            </a:pPr>
            <a:r>
              <a:rPr sz="1700" b="0">
                <a:solidFill>
                  <a:srgbClr val="1F2D3D"/>
                </a:solidFill>
                <a:latin typeface="Calibri"/>
              </a:rPr>
              <a:t>Next: validate on real company data with a proper test set.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34640"/>
            <a:ext cx="4572000" cy="731520"/>
          </a:xfrm>
        </p:spPr>
        <p:txBody>
          <a:bodyPr/>
          <a:lstStyle/>
          <a:p>
            <a:r>
              <a:rPr sz="3200" b="1">
                <a:solidFill>
                  <a:srgbClr val="1F3B63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111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IITR_PPT_Template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Dr. Sudip Roy</Manager>
  <Company>IIT Roorkee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user</cp:lastModifiedBy>
  <cp:revision>59</cp:revision>
  <dcterms:created xsi:type="dcterms:W3CDTF">2015-07-18T13:17:54Z</dcterms:created>
  <dcterms:modified xsi:type="dcterms:W3CDTF">2016-04-24T07:53:06Z</dcterms:modified>
  <cp:version>v1</cp:version>
</cp:coreProperties>
</file>