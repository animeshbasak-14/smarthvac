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9144000"/>
  <p:notesSz cx="6858000" cy="9144000"/>
  <p:embeddedFontLst>
    <p:embeddedFont>
      <p:font typeface="Franklin Gothic"/>
      <p:bold r:id="rId46"/>
    </p:embeddedFont>
    <p:embeddedFont>
      <p:font typeface="Roboto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495EED-EF19-488C-8A38-317F3BB6B96A}">
  <a:tblStyle styleId="{C4495EED-EF19-488C-8A38-317F3BB6B96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4108515-2D9B-4480-8E0F-6BD9CE425BC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FranklinGothic-bold.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ee7f0720d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ee7f0720d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8ee7f0720d_0_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61f37bc4f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61f37bc4f_0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461f37bc4f_0_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61f37bc4f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61f37bc4f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461f37bc4f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fdc06df2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fdc06df2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cfdc06df2d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fdc06df2d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fdc06df2d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cfdc06df2d_0_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fdc06df2d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fdc06df2d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cfdc06df2d_0_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fdc06df2d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fdc06df2d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cfdc06df2d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7d2cd1e8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7d2cd1e8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d7d2cd1e8f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9fbf86b5e_3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9fbf86b5e_3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d9fbf86b5e_3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fbf86b5e_3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9fbf86b5e_3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9fbf86b5e_3_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9f4525978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9f4525978_0_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d9f4525978_0_2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9f4525978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9f4525978_0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d9f4525978_0_4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9fbf86b5e_3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9fbf86b5e_3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d9fbf86b5e_3_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9fbf86b5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9fbf86b5e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d9fbf86b5e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b543a2ba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b543a2ba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8b543a2ba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b543a2ba6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8b543a2ba6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8b543a2ba6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9fbf86b5e_1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9fbf86b5e_1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d9fbf86b5e_1_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9fbf86b5e_1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9fbf86b5e_1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d9fbf86b5e_1_4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9fbf86b5e_1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9fbf86b5e_1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d9fbf86b5e_1_5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9fbf86b5e_1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9fbf86b5e_1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3d9fbf86b5e_1_6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9fbf86b5e_1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9fbf86b5e_1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d9fbf86b5e_1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9fbf86b5e_1_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9fbf86b5e_1_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d9fbf86b5e_1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9fbf86b5e_1_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d9fbf86b5e_1_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d9fbf86b5e_1_8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9fbf86b5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9fbf86b5e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d9fbf86b5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9fbf86b5e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9fbf86b5e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d9fbf86b5e_0_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9fbf86b5e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d9fbf86b5e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d9fbf86b5e_0_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9fbf86b5e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9fbf86b5e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3d9fbf86b5e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9fbf86b5e_0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9fbf86b5e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d9fbf86b5e_0_5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9fbf86b5e_3_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d9fbf86b5e_3_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d9fbf86b5e_3_9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9fbf86b5e_3_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d9fbf86b5e_3_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g3d9fbf86b5e_3_1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8982a7a5d6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8982a7a5d6_0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8982a7a5d6_0_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91a976da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91a976da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591a976da7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91a976da7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591a976da7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591a976da7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91a976da7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591a976da7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591a976da7_0_1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3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16.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16.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2"/>
          <p:cNvSpPr/>
          <p:nvPr/>
        </p:nvSpPr>
        <p:spPr>
          <a:xfrm>
            <a:off x="0" y="0"/>
            <a:ext cx="9152529" cy="736270"/>
          </a:xfrm>
          <a:prstGeom prst="rect">
            <a:avLst/>
          </a:prstGeom>
          <a:gradFill>
            <a:gsLst>
              <a:gs pos="0">
                <a:srgbClr val="166018"/>
              </a:gs>
              <a:gs pos="1000">
                <a:srgbClr val="166018"/>
              </a:gs>
              <a:gs pos="52000">
                <a:srgbClr val="00B0F0"/>
              </a:gs>
              <a:gs pos="100000">
                <a:srgbClr val="17365D"/>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Franklin Gothic"/>
                <a:ea typeface="Franklin Gothic"/>
                <a:cs typeface="Franklin Gothic"/>
                <a:sym typeface="Franklin Gothic"/>
              </a:rPr>
              <a:t>INDIAN INSTITUTE OF TECHNOLOGY ROORKEE</a:t>
            </a:r>
            <a:endParaRPr/>
          </a:p>
        </p:txBody>
      </p:sp>
      <p:pic>
        <p:nvPicPr>
          <p:cNvPr id="17" name="Google Shape;17;p2"/>
          <p:cNvPicPr preferRelativeResize="0"/>
          <p:nvPr/>
        </p:nvPicPr>
        <p:blipFill rotWithShape="1">
          <a:blip r:embed="rId2">
            <a:alphaModFix/>
          </a:blip>
          <a:srcRect b="0" l="0" r="0" t="0"/>
          <a:stretch/>
        </p:blipFill>
        <p:spPr>
          <a:xfrm>
            <a:off x="8377895" y="-1281"/>
            <a:ext cx="755828" cy="732103"/>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0" y="5006150"/>
            <a:ext cx="9133727" cy="1851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0" t="0"/>
          <a:stretch/>
        </p:blipFill>
        <p:spPr>
          <a:xfrm>
            <a:off x="8164285" y="-1480"/>
            <a:ext cx="979715" cy="961360"/>
          </a:xfrm>
          <a:prstGeom prst="rect">
            <a:avLst/>
          </a:prstGeom>
          <a:noFill/>
          <a:ln>
            <a:noFill/>
          </a:ln>
        </p:spPr>
      </p:pic>
      <p:cxnSp>
        <p:nvCxnSpPr>
          <p:cNvPr id="21" name="Google Shape;21;p3"/>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22" name="Google Shape;22;p3"/>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23" name="Google Shape;23;p3"/>
          <p:cNvPicPr preferRelativeResize="0"/>
          <p:nvPr/>
        </p:nvPicPr>
        <p:blipFill rotWithShape="1">
          <a:blip r:embed="rId3">
            <a:alphaModFix/>
          </a:blip>
          <a:srcRect b="0" l="0" r="0" t="0"/>
          <a:stretch/>
        </p:blipFill>
        <p:spPr>
          <a:xfrm>
            <a:off x="7464197" y="6447291"/>
            <a:ext cx="1666875" cy="198437"/>
          </a:xfrm>
          <a:prstGeom prst="rect">
            <a:avLst/>
          </a:prstGeom>
          <a:noFill/>
          <a:ln>
            <a:noFill/>
          </a:ln>
        </p:spPr>
      </p:pic>
      <p:pic>
        <p:nvPicPr>
          <p:cNvPr id="24" name="Google Shape;24;p3"/>
          <p:cNvPicPr preferRelativeResize="0"/>
          <p:nvPr/>
        </p:nvPicPr>
        <p:blipFill rotWithShape="1">
          <a:blip r:embed="rId4">
            <a:alphaModFix/>
          </a:blip>
          <a:srcRect b="0" l="0" r="0" t="0"/>
          <a:stretch/>
        </p:blipFill>
        <p:spPr>
          <a:xfrm>
            <a:off x="1873072" y="2118212"/>
            <a:ext cx="5321656" cy="3510576"/>
          </a:xfrm>
          <a:prstGeom prst="rect">
            <a:avLst/>
          </a:prstGeom>
          <a:noFill/>
          <a:ln>
            <a:noFill/>
          </a:ln>
        </p:spPr>
      </p:pic>
      <p:sp>
        <p:nvSpPr>
          <p:cNvPr id="25" name="Google Shape;25;p3"/>
          <p:cNvSpPr txBox="1"/>
          <p:nvPr/>
        </p:nvSpPr>
        <p:spPr>
          <a:xfrm>
            <a:off x="8382001" y="6607628"/>
            <a:ext cx="762000" cy="1988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
        <p:nvSpPr>
          <p:cNvPr id="26" name="Google Shape;26;p3"/>
          <p:cNvSpPr txBox="1"/>
          <p:nvPr>
            <p:ph type="title"/>
          </p:nvPr>
        </p:nvSpPr>
        <p:spPr>
          <a:xfrm>
            <a:off x="180654" y="202990"/>
            <a:ext cx="7042080" cy="55458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3"/>
          <p:cNvSpPr txBox="1"/>
          <p:nvPr>
            <p:ph idx="1" type="body"/>
          </p:nvPr>
        </p:nvSpPr>
        <p:spPr>
          <a:xfrm>
            <a:off x="180653" y="1173984"/>
            <a:ext cx="8768137" cy="5223272"/>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atin typeface="Arial"/>
                <a:ea typeface="Arial"/>
                <a:cs typeface="Arial"/>
                <a:sym typeface="Arial"/>
              </a:defRPr>
            </a:lvl1pPr>
            <a:lvl2pPr indent="-355600" lvl="1" marL="914400" algn="l">
              <a:spcBef>
                <a:spcPts val="400"/>
              </a:spcBef>
              <a:spcAft>
                <a:spcPts val="0"/>
              </a:spcAft>
              <a:buClr>
                <a:schemeClr val="dk1"/>
              </a:buClr>
              <a:buSzPts val="2000"/>
              <a:buChar char="–"/>
              <a:defRPr sz="2000">
                <a:latin typeface="Arial"/>
                <a:ea typeface="Arial"/>
                <a:cs typeface="Arial"/>
                <a:sym typeface="Arial"/>
              </a:defRPr>
            </a:lvl2pPr>
            <a:lvl3pPr indent="-342900" lvl="2" marL="1371600" algn="l">
              <a:spcBef>
                <a:spcPts val="360"/>
              </a:spcBef>
              <a:spcAft>
                <a:spcPts val="0"/>
              </a:spcAft>
              <a:buClr>
                <a:schemeClr val="dk1"/>
              </a:buClr>
              <a:buSzPts val="1800"/>
              <a:buChar char="•"/>
              <a:defRPr sz="1800">
                <a:latin typeface="Arial"/>
                <a:ea typeface="Arial"/>
                <a:cs typeface="Arial"/>
                <a:sym typeface="Arial"/>
              </a:defRPr>
            </a:lvl3pPr>
            <a:lvl4pPr indent="-330200" lvl="3" marL="1828800" algn="l">
              <a:spcBef>
                <a:spcPts val="320"/>
              </a:spcBef>
              <a:spcAft>
                <a:spcPts val="0"/>
              </a:spcAft>
              <a:buClr>
                <a:schemeClr val="dk1"/>
              </a:buClr>
              <a:buSzPts val="1600"/>
              <a:buChar char="–"/>
              <a:defRPr sz="1600">
                <a:latin typeface="Arial"/>
                <a:ea typeface="Arial"/>
                <a:cs typeface="Arial"/>
                <a:sym typeface="Arial"/>
              </a:defRPr>
            </a:lvl4pPr>
            <a:lvl5pPr indent="-330200" lvl="4" marL="2286000" algn="l">
              <a:spcBef>
                <a:spcPts val="320"/>
              </a:spcBef>
              <a:spcAft>
                <a:spcPts val="0"/>
              </a:spcAft>
              <a:buClr>
                <a:schemeClr val="dk1"/>
              </a:buClr>
              <a:buSzPts val="1600"/>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Slide">
  <p:cSld name="Last Slide">
    <p:spTree>
      <p:nvGrpSpPr>
        <p:cNvPr id="28" name="Shape 28"/>
        <p:cNvGrpSpPr/>
        <p:nvPr/>
      </p:nvGrpSpPr>
      <p:grpSpPr>
        <a:xfrm>
          <a:off x="0" y="0"/>
          <a:ext cx="0" cy="0"/>
          <a:chOff x="0" y="0"/>
          <a:chExt cx="0" cy="0"/>
        </a:xfrm>
      </p:grpSpPr>
      <p:sp>
        <p:nvSpPr>
          <p:cNvPr id="29" name="Google Shape;29;p4"/>
          <p:cNvSpPr txBox="1"/>
          <p:nvPr/>
        </p:nvSpPr>
        <p:spPr>
          <a:xfrm>
            <a:off x="8382001" y="6607628"/>
            <a:ext cx="762000" cy="1988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
        <p:nvSpPr>
          <p:cNvPr id="30" name="Google Shape;30;p4"/>
          <p:cNvSpPr txBox="1"/>
          <p:nvPr>
            <p:ph type="title"/>
          </p:nvPr>
        </p:nvSpPr>
        <p:spPr>
          <a:xfrm>
            <a:off x="3363913" y="2971801"/>
            <a:ext cx="2452687" cy="711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b="1" sz="36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31" name="Google Shape;31;p4"/>
          <p:cNvCxnSpPr/>
          <p:nvPr/>
        </p:nvCxnSpPr>
        <p:spPr>
          <a:xfrm>
            <a:off x="3595524" y="3619535"/>
            <a:ext cx="2009553" cy="0"/>
          </a:xfrm>
          <a:prstGeom prst="straightConnector1">
            <a:avLst/>
          </a:prstGeom>
          <a:noFill/>
          <a:ln cap="flat" cmpd="sng" w="50800">
            <a:solidFill>
              <a:srgbClr val="36609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type="twoTxTwoObj">
  <p:cSld name="TWO_OBJECTS_WITH_TEXT">
    <p:spTree>
      <p:nvGrpSpPr>
        <p:cNvPr id="32" name="Shape 32"/>
        <p:cNvGrpSpPr/>
        <p:nvPr/>
      </p:nvGrpSpPr>
      <p:grpSpPr>
        <a:xfrm>
          <a:off x="0" y="0"/>
          <a:ext cx="0" cy="0"/>
          <a:chOff x="0" y="0"/>
          <a:chExt cx="0" cy="0"/>
        </a:xfrm>
      </p:grpSpPr>
      <p:pic>
        <p:nvPicPr>
          <p:cNvPr id="33" name="Google Shape;33;p5"/>
          <p:cNvPicPr preferRelativeResize="0"/>
          <p:nvPr/>
        </p:nvPicPr>
        <p:blipFill rotWithShape="1">
          <a:blip r:embed="rId2">
            <a:alphaModFix/>
          </a:blip>
          <a:srcRect b="0" l="0" r="0" t="0"/>
          <a:stretch/>
        </p:blipFill>
        <p:spPr>
          <a:xfrm>
            <a:off x="1873072" y="2118212"/>
            <a:ext cx="5321656" cy="3510576"/>
          </a:xfrm>
          <a:prstGeom prst="rect">
            <a:avLst/>
          </a:prstGeom>
          <a:noFill/>
          <a:ln>
            <a:noFill/>
          </a:ln>
        </p:spPr>
      </p:pic>
      <p:sp>
        <p:nvSpPr>
          <p:cNvPr id="34" name="Google Shape;34;p5"/>
          <p:cNvSpPr txBox="1"/>
          <p:nvPr>
            <p:ph type="title"/>
          </p:nvPr>
        </p:nvSpPr>
        <p:spPr>
          <a:xfrm>
            <a:off x="180654" y="202990"/>
            <a:ext cx="7042080" cy="55458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180654" y="1132413"/>
            <a:ext cx="4288604" cy="48063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6" name="Google Shape;36;p5"/>
          <p:cNvSpPr txBox="1"/>
          <p:nvPr>
            <p:ph idx="2" type="body"/>
          </p:nvPr>
        </p:nvSpPr>
        <p:spPr>
          <a:xfrm>
            <a:off x="180654" y="1613043"/>
            <a:ext cx="4288604" cy="4784213"/>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7" name="Google Shape;37;p5"/>
          <p:cNvSpPr txBox="1"/>
          <p:nvPr>
            <p:ph idx="3" type="body"/>
          </p:nvPr>
        </p:nvSpPr>
        <p:spPr>
          <a:xfrm>
            <a:off x="4645025" y="1125166"/>
            <a:ext cx="4242121" cy="487877"/>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8" name="Google Shape;38;p5"/>
          <p:cNvSpPr txBox="1"/>
          <p:nvPr>
            <p:ph idx="4" type="body"/>
          </p:nvPr>
        </p:nvSpPr>
        <p:spPr>
          <a:xfrm>
            <a:off x="4645025" y="1613043"/>
            <a:ext cx="4242121" cy="4784213"/>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pic>
        <p:nvPicPr>
          <p:cNvPr id="39" name="Google Shape;39;p5"/>
          <p:cNvPicPr preferRelativeResize="0"/>
          <p:nvPr/>
        </p:nvPicPr>
        <p:blipFill rotWithShape="1">
          <a:blip r:embed="rId3">
            <a:alphaModFix/>
          </a:blip>
          <a:srcRect b="0" l="0" r="0" t="0"/>
          <a:stretch/>
        </p:blipFill>
        <p:spPr>
          <a:xfrm>
            <a:off x="8164285" y="-1480"/>
            <a:ext cx="979715" cy="961360"/>
          </a:xfrm>
          <a:prstGeom prst="rect">
            <a:avLst/>
          </a:prstGeom>
          <a:noFill/>
          <a:ln>
            <a:noFill/>
          </a:ln>
        </p:spPr>
      </p:pic>
      <p:cxnSp>
        <p:nvCxnSpPr>
          <p:cNvPr id="40" name="Google Shape;40;p5"/>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41" name="Google Shape;41;p5"/>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42" name="Google Shape;42;p5"/>
          <p:cNvPicPr preferRelativeResize="0"/>
          <p:nvPr/>
        </p:nvPicPr>
        <p:blipFill rotWithShape="1">
          <a:blip r:embed="rId4">
            <a:alphaModFix/>
          </a:blip>
          <a:srcRect b="0" l="0" r="0" t="0"/>
          <a:stretch/>
        </p:blipFill>
        <p:spPr>
          <a:xfrm>
            <a:off x="7464197" y="6447291"/>
            <a:ext cx="1666875" cy="198437"/>
          </a:xfrm>
          <a:prstGeom prst="rect">
            <a:avLst/>
          </a:prstGeom>
          <a:noFill/>
          <a:ln>
            <a:noFill/>
          </a:ln>
        </p:spPr>
      </p:pic>
      <p:sp>
        <p:nvSpPr>
          <p:cNvPr id="43" name="Google Shape;43;p5"/>
          <p:cNvSpPr txBox="1"/>
          <p:nvPr/>
        </p:nvSpPr>
        <p:spPr>
          <a:xfrm>
            <a:off x="8382001" y="6607628"/>
            <a:ext cx="762000" cy="1988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1873072" y="2118212"/>
            <a:ext cx="5321656" cy="3510576"/>
          </a:xfrm>
          <a:prstGeom prst="rect">
            <a:avLst/>
          </a:prstGeom>
          <a:noFill/>
          <a:ln>
            <a:noFill/>
          </a:ln>
        </p:spPr>
      </p:pic>
      <p:pic>
        <p:nvPicPr>
          <p:cNvPr id="46" name="Google Shape;46;p6"/>
          <p:cNvPicPr preferRelativeResize="0"/>
          <p:nvPr/>
        </p:nvPicPr>
        <p:blipFill rotWithShape="1">
          <a:blip r:embed="rId3">
            <a:alphaModFix/>
          </a:blip>
          <a:srcRect b="0" l="0" r="0" t="0"/>
          <a:stretch/>
        </p:blipFill>
        <p:spPr>
          <a:xfrm>
            <a:off x="8164285" y="-1480"/>
            <a:ext cx="979715" cy="961360"/>
          </a:xfrm>
          <a:prstGeom prst="rect">
            <a:avLst/>
          </a:prstGeom>
          <a:noFill/>
          <a:ln>
            <a:noFill/>
          </a:ln>
        </p:spPr>
      </p:pic>
      <p:cxnSp>
        <p:nvCxnSpPr>
          <p:cNvPr id="47" name="Google Shape;47;p6"/>
          <p:cNvCxnSpPr/>
          <p:nvPr/>
        </p:nvCxnSpPr>
        <p:spPr>
          <a:xfrm>
            <a:off x="0" y="990600"/>
            <a:ext cx="9144000" cy="0"/>
          </a:xfrm>
          <a:prstGeom prst="straightConnector1">
            <a:avLst/>
          </a:prstGeom>
          <a:noFill/>
          <a:ln cap="flat" cmpd="sng" w="50800">
            <a:solidFill>
              <a:srgbClr val="366092"/>
            </a:solidFill>
            <a:prstDash val="solid"/>
            <a:round/>
            <a:headEnd len="sm" w="sm" type="none"/>
            <a:tailEnd len="sm" w="sm" type="none"/>
          </a:ln>
        </p:spPr>
      </p:cxnSp>
      <p:cxnSp>
        <p:nvCxnSpPr>
          <p:cNvPr id="48" name="Google Shape;48;p6"/>
          <p:cNvCxnSpPr/>
          <p:nvPr/>
        </p:nvCxnSpPr>
        <p:spPr>
          <a:xfrm>
            <a:off x="0" y="6756400"/>
            <a:ext cx="9144000" cy="0"/>
          </a:xfrm>
          <a:prstGeom prst="straightConnector1">
            <a:avLst/>
          </a:prstGeom>
          <a:noFill/>
          <a:ln cap="flat" cmpd="sng" w="222250">
            <a:solidFill>
              <a:srgbClr val="366092"/>
            </a:solidFill>
            <a:prstDash val="solid"/>
            <a:round/>
            <a:headEnd len="sm" w="sm" type="none"/>
            <a:tailEnd len="sm" w="sm" type="none"/>
          </a:ln>
        </p:spPr>
      </p:cxnSp>
      <p:pic>
        <p:nvPicPr>
          <p:cNvPr id="49" name="Google Shape;49;p6"/>
          <p:cNvPicPr preferRelativeResize="0"/>
          <p:nvPr/>
        </p:nvPicPr>
        <p:blipFill rotWithShape="1">
          <a:blip r:embed="rId4">
            <a:alphaModFix/>
          </a:blip>
          <a:srcRect b="0" l="0" r="0" t="0"/>
          <a:stretch/>
        </p:blipFill>
        <p:spPr>
          <a:xfrm>
            <a:off x="7464197" y="6447291"/>
            <a:ext cx="1666875" cy="198437"/>
          </a:xfrm>
          <a:prstGeom prst="rect">
            <a:avLst/>
          </a:prstGeom>
          <a:noFill/>
          <a:ln>
            <a:noFill/>
          </a:ln>
        </p:spPr>
      </p:pic>
      <p:sp>
        <p:nvSpPr>
          <p:cNvPr id="50" name="Google Shape;50;p6"/>
          <p:cNvSpPr txBox="1"/>
          <p:nvPr/>
        </p:nvSpPr>
        <p:spPr>
          <a:xfrm>
            <a:off x="8382001" y="6607628"/>
            <a:ext cx="762000" cy="19880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400" u="none" cap="none" strike="noStrike">
                <a:solidFill>
                  <a:schemeClr val="lt1"/>
                </a:solidFill>
                <a:latin typeface="Calibri"/>
                <a:ea typeface="Calibri"/>
                <a:cs typeface="Calibri"/>
                <a:sym typeface="Calibri"/>
              </a:rPr>
              <a:t>‹#›</a:t>
            </a:fld>
            <a:endParaRPr b="1" i="0" sz="1400" u="none" cap="none" strike="noStrik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eveloper.imdb.com/non-commercial-dataset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7"/>
          <p:cNvSpPr txBox="1"/>
          <p:nvPr>
            <p:ph idx="4294967295" type="title"/>
          </p:nvPr>
        </p:nvSpPr>
        <p:spPr>
          <a:xfrm>
            <a:off x="1069545" y="940776"/>
            <a:ext cx="7247100" cy="499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2800">
                <a:solidFill>
                  <a:srgbClr val="000000"/>
                </a:solidFill>
              </a:rPr>
              <a:t>CSL</a:t>
            </a:r>
            <a:r>
              <a:rPr b="1" i="0" lang="en-US" sz="2800" u="none" cap="none" strike="noStrike">
                <a:solidFill>
                  <a:srgbClr val="000000"/>
                </a:solidFill>
                <a:latin typeface="Calibri"/>
                <a:ea typeface="Calibri"/>
                <a:cs typeface="Calibri"/>
                <a:sym typeface="Calibri"/>
              </a:rPr>
              <a:t>-5</a:t>
            </a:r>
            <a:r>
              <a:rPr b="1" lang="en-US" sz="2800">
                <a:solidFill>
                  <a:srgbClr val="000000"/>
                </a:solidFill>
              </a:rPr>
              <a:t>15</a:t>
            </a:r>
            <a:r>
              <a:rPr b="1" i="0" lang="en-US" sz="2800" u="none" cap="none" strike="noStrike">
                <a:solidFill>
                  <a:srgbClr val="000000"/>
                </a:solidFill>
                <a:latin typeface="Calibri"/>
                <a:ea typeface="Calibri"/>
                <a:cs typeface="Calibri"/>
                <a:sym typeface="Calibri"/>
              </a:rPr>
              <a:t> </a:t>
            </a:r>
            <a:r>
              <a:rPr b="1" lang="en-US" sz="2800">
                <a:solidFill>
                  <a:srgbClr val="000000"/>
                </a:solidFill>
              </a:rPr>
              <a:t>Data Mining</a:t>
            </a:r>
            <a:endParaRPr b="1" i="0" sz="2800" u="none" cap="none" strike="noStrike">
              <a:solidFill>
                <a:schemeClr val="dk1"/>
              </a:solidFill>
              <a:latin typeface="Calibri"/>
              <a:ea typeface="Calibri"/>
              <a:cs typeface="Calibri"/>
              <a:sym typeface="Calibri"/>
            </a:endParaRPr>
          </a:p>
        </p:txBody>
      </p:sp>
      <p:sp>
        <p:nvSpPr>
          <p:cNvPr id="56" name="Google Shape;56;p7"/>
          <p:cNvSpPr txBox="1"/>
          <p:nvPr>
            <p:ph idx="4294967295" type="body"/>
          </p:nvPr>
        </p:nvSpPr>
        <p:spPr>
          <a:xfrm>
            <a:off x="336150" y="2027650"/>
            <a:ext cx="8471700" cy="1178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lt1"/>
              </a:buClr>
              <a:buSzPts val="1100"/>
              <a:buFont typeface="Arial"/>
              <a:buNone/>
            </a:pPr>
            <a:r>
              <a:rPr lang="en-US" sz="3500"/>
              <a:t>Using Data Mining to make Recommendation for Movies to watch to any viewer</a:t>
            </a:r>
            <a:endParaRPr sz="3800"/>
          </a:p>
        </p:txBody>
      </p:sp>
      <p:sp>
        <p:nvSpPr>
          <p:cNvPr id="57" name="Google Shape;57;p7"/>
          <p:cNvSpPr txBox="1"/>
          <p:nvPr>
            <p:ph idx="4294967295" type="body"/>
          </p:nvPr>
        </p:nvSpPr>
        <p:spPr>
          <a:xfrm>
            <a:off x="5423575" y="3429000"/>
            <a:ext cx="3607500" cy="18762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2400"/>
          </a:p>
          <a:p>
            <a:pPr indent="0" lvl="0" marL="0" marR="0" rtl="0" algn="l">
              <a:spcBef>
                <a:spcPts val="0"/>
              </a:spcBef>
              <a:spcAft>
                <a:spcPts val="0"/>
              </a:spcAft>
              <a:buClr>
                <a:schemeClr val="dk1"/>
              </a:buClr>
              <a:buSzPts val="1800"/>
              <a:buFont typeface="Arial"/>
              <a:buNone/>
            </a:pPr>
            <a:r>
              <a:t/>
            </a:r>
            <a:endParaRPr sz="2400"/>
          </a:p>
          <a:p>
            <a:pPr indent="0" lvl="0" marL="0" marR="0" rtl="0" algn="l">
              <a:spcBef>
                <a:spcPts val="0"/>
              </a:spcBef>
              <a:spcAft>
                <a:spcPts val="0"/>
              </a:spcAft>
              <a:buClr>
                <a:schemeClr val="dk1"/>
              </a:buClr>
              <a:buSzPts val="1800"/>
              <a:buFont typeface="Arial"/>
              <a:buNone/>
            </a:pPr>
            <a:r>
              <a:t/>
            </a:r>
            <a:endParaRPr sz="2400"/>
          </a:p>
          <a:p>
            <a:pPr indent="0" lvl="0" marL="0" marR="0" rtl="0" algn="l">
              <a:spcBef>
                <a:spcPts val="0"/>
              </a:spcBef>
              <a:spcAft>
                <a:spcPts val="0"/>
              </a:spcAft>
              <a:buClr>
                <a:schemeClr val="dk1"/>
              </a:buClr>
              <a:buSzPts val="1800"/>
              <a:buFont typeface="Arial"/>
              <a:buNone/>
            </a:pPr>
            <a:r>
              <a:t/>
            </a:r>
            <a:endParaRPr sz="2400"/>
          </a:p>
          <a:p>
            <a:pPr indent="0" lvl="0" marL="0" marR="0" rtl="0" algn="l">
              <a:spcBef>
                <a:spcPts val="0"/>
              </a:spcBef>
              <a:spcAft>
                <a:spcPts val="0"/>
              </a:spcAft>
              <a:buClr>
                <a:schemeClr val="dk1"/>
              </a:buClr>
              <a:buSzPts val="1800"/>
              <a:buFont typeface="Arial"/>
              <a:buNone/>
            </a:pPr>
            <a:r>
              <a:t/>
            </a:r>
            <a:endParaRPr sz="2400"/>
          </a:p>
          <a:p>
            <a:pPr indent="0" lvl="0" marL="0" marR="0" rtl="0" algn="l">
              <a:spcBef>
                <a:spcPts val="0"/>
              </a:spcBef>
              <a:spcAft>
                <a:spcPts val="0"/>
              </a:spcAft>
              <a:buClr>
                <a:schemeClr val="dk1"/>
              </a:buClr>
              <a:buSzPts val="1800"/>
              <a:buFont typeface="Arial"/>
              <a:buNone/>
            </a:pPr>
            <a:r>
              <a:t/>
            </a:r>
            <a:endParaRPr sz="2400"/>
          </a:p>
          <a:p>
            <a:pPr indent="0" lvl="0" marL="0" rtl="0" algn="l">
              <a:lnSpc>
                <a:spcPct val="115000"/>
              </a:lnSpc>
              <a:spcBef>
                <a:spcPts val="0"/>
              </a:spcBef>
              <a:spcAft>
                <a:spcPts val="0"/>
              </a:spcAft>
              <a:buClr>
                <a:schemeClr val="dk1"/>
              </a:buClr>
              <a:buSzPts val="1100"/>
              <a:buFont typeface="Arial"/>
              <a:buNone/>
            </a:pPr>
            <a:r>
              <a:rPr lang="en-US" sz="1800"/>
              <a:t>Sanskriti Chandra          (24911021)                                                                                   </a:t>
            </a:r>
            <a:endParaRPr sz="1800"/>
          </a:p>
          <a:p>
            <a:pPr indent="0" lvl="0" marL="0" rtl="0" algn="l">
              <a:lnSpc>
                <a:spcPct val="115000"/>
              </a:lnSpc>
              <a:spcBef>
                <a:spcPts val="0"/>
              </a:spcBef>
              <a:spcAft>
                <a:spcPts val="0"/>
              </a:spcAft>
              <a:buClr>
                <a:schemeClr val="dk1"/>
              </a:buClr>
              <a:buSzPts val="1100"/>
              <a:buFont typeface="Arial"/>
              <a:buNone/>
            </a:pPr>
            <a:r>
              <a:rPr lang="en-US" sz="1800"/>
              <a:t>Tarushi Jain                     (25915024)                                                                                         </a:t>
            </a:r>
            <a:endParaRPr sz="1800"/>
          </a:p>
          <a:p>
            <a:pPr indent="0" lvl="0" marL="0" rtl="0" algn="l">
              <a:lnSpc>
                <a:spcPct val="115000"/>
              </a:lnSpc>
              <a:spcBef>
                <a:spcPts val="0"/>
              </a:spcBef>
              <a:spcAft>
                <a:spcPts val="0"/>
              </a:spcAft>
              <a:buClr>
                <a:schemeClr val="dk1"/>
              </a:buClr>
              <a:buSzPts val="1100"/>
              <a:buFont typeface="Arial"/>
              <a:buNone/>
            </a:pPr>
            <a:r>
              <a:rPr lang="en-US" sz="1800"/>
              <a:t>Atul Sharma                   (25911019)                                                                                 </a:t>
            </a:r>
            <a:endParaRPr sz="1800"/>
          </a:p>
          <a:p>
            <a:pPr indent="0" lvl="0" marL="0" rtl="0" algn="l">
              <a:lnSpc>
                <a:spcPct val="115000"/>
              </a:lnSpc>
              <a:spcBef>
                <a:spcPts val="0"/>
              </a:spcBef>
              <a:spcAft>
                <a:spcPts val="0"/>
              </a:spcAft>
              <a:buClr>
                <a:schemeClr val="dk1"/>
              </a:buClr>
              <a:buSzPts val="1100"/>
              <a:buFont typeface="Arial"/>
              <a:buNone/>
            </a:pPr>
            <a:r>
              <a:rPr lang="en-US" sz="1800"/>
              <a:t>Sumit Sharma                (25911020)</a:t>
            </a:r>
            <a:endParaRPr sz="1800"/>
          </a:p>
          <a:p>
            <a:pPr indent="0" lvl="0" marL="0" rtl="0" algn="l">
              <a:lnSpc>
                <a:spcPct val="115000"/>
              </a:lnSpc>
              <a:spcBef>
                <a:spcPts val="0"/>
              </a:spcBef>
              <a:spcAft>
                <a:spcPts val="0"/>
              </a:spcAft>
              <a:buClr>
                <a:schemeClr val="dk1"/>
              </a:buClr>
              <a:buSzPts val="1100"/>
              <a:buFont typeface="Arial"/>
              <a:buNone/>
            </a:pPr>
            <a:r>
              <a:rPr lang="en-US" sz="1800"/>
              <a:t>Sara Mann                      </a:t>
            </a:r>
            <a:r>
              <a:rPr lang="en-US" sz="1800"/>
              <a:t>(22114085)</a:t>
            </a:r>
            <a:endParaRPr sz="1800"/>
          </a:p>
          <a:p>
            <a:pPr indent="0" lvl="0" marL="0" rtl="0" algn="l">
              <a:lnSpc>
                <a:spcPct val="115000"/>
              </a:lnSpc>
              <a:spcBef>
                <a:spcPts val="0"/>
              </a:spcBef>
              <a:spcAft>
                <a:spcPts val="0"/>
              </a:spcAft>
              <a:buClr>
                <a:schemeClr val="dk1"/>
              </a:buClr>
              <a:buSzPts val="1100"/>
              <a:buFont typeface="Arial"/>
              <a:buNone/>
            </a:pPr>
            <a:r>
              <a:rPr lang="en-US" sz="1800"/>
              <a:t>Divij Rawal                      (22114031)</a:t>
            </a:r>
            <a:endParaRPr sz="2400"/>
          </a:p>
        </p:txBody>
      </p:sp>
      <p:sp>
        <p:nvSpPr>
          <p:cNvPr id="58" name="Google Shape;58;p7"/>
          <p:cNvSpPr txBox="1"/>
          <p:nvPr>
            <p:ph idx="4294967295" type="body"/>
          </p:nvPr>
        </p:nvSpPr>
        <p:spPr>
          <a:xfrm>
            <a:off x="1069550" y="1610952"/>
            <a:ext cx="7247100" cy="416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99"/>
              </a:buClr>
              <a:buSzPts val="2000"/>
              <a:buNone/>
            </a:pPr>
            <a:br>
              <a:rPr b="0" i="1" lang="en-US" sz="2000" u="none" cap="none" strike="noStrike">
                <a:solidFill>
                  <a:srgbClr val="000099"/>
                </a:solidFill>
                <a:latin typeface="Calibri"/>
                <a:ea typeface="Calibri"/>
                <a:cs typeface="Calibri"/>
                <a:sym typeface="Calibri"/>
              </a:rPr>
            </a:br>
            <a:r>
              <a:rPr b="1" i="1" lang="en-US" sz="2000" u="none" cap="none" strike="noStrike">
                <a:solidFill>
                  <a:srgbClr val="000099"/>
                </a:solidFill>
                <a:latin typeface="Calibri"/>
                <a:ea typeface="Calibri"/>
                <a:cs typeface="Calibri"/>
                <a:sym typeface="Calibri"/>
              </a:rPr>
              <a:t> Project Presentation</a:t>
            </a:r>
            <a:endParaRPr b="0" i="1" sz="2000" u="none" cap="none" strike="noStrike">
              <a:solidFill>
                <a:srgbClr val="000099"/>
              </a:solidFill>
              <a:latin typeface="Calibri"/>
              <a:ea typeface="Calibri"/>
              <a:cs typeface="Calibri"/>
              <a:sym typeface="Calibri"/>
            </a:endParaRPr>
          </a:p>
        </p:txBody>
      </p:sp>
      <p:sp>
        <p:nvSpPr>
          <p:cNvPr id="59" name="Google Shape;59;p7"/>
          <p:cNvSpPr txBox="1"/>
          <p:nvPr/>
        </p:nvSpPr>
        <p:spPr>
          <a:xfrm>
            <a:off x="87350" y="3965000"/>
            <a:ext cx="3151200" cy="948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Guided By:</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US" sz="2100">
                <a:solidFill>
                  <a:schemeClr val="dk1"/>
                </a:solidFill>
                <a:latin typeface="Calibri"/>
                <a:ea typeface="Calibri"/>
                <a:cs typeface="Calibri"/>
                <a:sym typeface="Calibri"/>
              </a:rPr>
              <a:t>Dr. </a:t>
            </a:r>
            <a:r>
              <a:rPr lang="en-US" sz="2100">
                <a:solidFill>
                  <a:schemeClr val="dk1"/>
                </a:solidFill>
                <a:latin typeface="Calibri"/>
                <a:ea typeface="Calibri"/>
                <a:cs typeface="Calibri"/>
                <a:sym typeface="Calibri"/>
              </a:rPr>
              <a:t>Durga</a:t>
            </a:r>
            <a:r>
              <a:rPr lang="en-US" sz="2100">
                <a:solidFill>
                  <a:schemeClr val="dk1"/>
                </a:solidFill>
                <a:latin typeface="Calibri"/>
                <a:ea typeface="Calibri"/>
                <a:cs typeface="Calibri"/>
                <a:sym typeface="Calibri"/>
              </a:rPr>
              <a:t> Toshniwal</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US" sz="2100">
                <a:solidFill>
                  <a:schemeClr val="dk1"/>
                </a:solidFill>
                <a:latin typeface="Calibri"/>
                <a:ea typeface="Calibri"/>
                <a:cs typeface="Calibri"/>
                <a:sym typeface="Calibri"/>
              </a:rPr>
              <a:t>Professor, CSE IIT Roorkee</a:t>
            </a:r>
            <a:endParaRPr sz="21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8"/>
          <p:cNvSpPr txBox="1"/>
          <p:nvPr>
            <p:ph type="title"/>
          </p:nvPr>
        </p:nvSpPr>
        <p:spPr>
          <a:xfrm>
            <a:off x="180654" y="202990"/>
            <a:ext cx="7042080" cy="55458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Introduction</a:t>
            </a:r>
            <a:endParaRPr/>
          </a:p>
        </p:txBody>
      </p:sp>
      <p:sp>
        <p:nvSpPr>
          <p:cNvPr id="65" name="Google Shape;65;p8"/>
          <p:cNvSpPr txBox="1"/>
          <p:nvPr>
            <p:ph idx="1" type="body"/>
          </p:nvPr>
        </p:nvSpPr>
        <p:spPr>
          <a:xfrm>
            <a:off x="549325" y="1173975"/>
            <a:ext cx="8257500" cy="5223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700"/>
              <a:t>The Problem</a:t>
            </a:r>
            <a:endParaRPr b="1" sz="1700"/>
          </a:p>
          <a:p>
            <a:pPr indent="-336550" lvl="0" marL="457200" rtl="0" algn="l">
              <a:lnSpc>
                <a:spcPct val="115000"/>
              </a:lnSpc>
              <a:spcBef>
                <a:spcPts val="1200"/>
              </a:spcBef>
              <a:spcAft>
                <a:spcPts val="0"/>
              </a:spcAft>
              <a:buSzPts val="1700"/>
              <a:buChar char="❏"/>
            </a:pPr>
            <a:r>
              <a:rPr lang="en-US" sz="1700"/>
              <a:t>Over 500,000 titles on IMDb : viewers spend more time searching than watching</a:t>
            </a:r>
            <a:endParaRPr sz="1700"/>
          </a:p>
          <a:p>
            <a:pPr indent="-336550" lvl="0" marL="457200" rtl="0" algn="l">
              <a:lnSpc>
                <a:spcPct val="115000"/>
              </a:lnSpc>
              <a:spcBef>
                <a:spcPts val="0"/>
              </a:spcBef>
              <a:spcAft>
                <a:spcPts val="0"/>
              </a:spcAft>
              <a:buSzPts val="1700"/>
              <a:buChar char="❏"/>
            </a:pPr>
            <a:r>
              <a:rPr lang="en-US" sz="1700"/>
              <a:t>No built-in personalisation for new or anonymous users</a:t>
            </a:r>
            <a:endParaRPr sz="1700"/>
          </a:p>
          <a:p>
            <a:pPr indent="-336550" lvl="0" marL="457200" rtl="0" algn="l">
              <a:lnSpc>
                <a:spcPct val="115000"/>
              </a:lnSpc>
              <a:spcBef>
                <a:spcPts val="0"/>
              </a:spcBef>
              <a:spcAft>
                <a:spcPts val="0"/>
              </a:spcAft>
              <a:buSzPts val="1700"/>
              <a:buChar char="❏"/>
            </a:pPr>
            <a:r>
              <a:rPr lang="en-US" sz="1700"/>
              <a:t>Existing systems like Netflix require years of watch history to work well</a:t>
            </a:r>
            <a:endParaRPr sz="1700"/>
          </a:p>
          <a:p>
            <a:pPr indent="-336550" lvl="0" marL="457200" rtl="0" algn="l">
              <a:lnSpc>
                <a:spcPct val="115000"/>
              </a:lnSpc>
              <a:spcBef>
                <a:spcPts val="0"/>
              </a:spcBef>
              <a:spcAft>
                <a:spcPts val="0"/>
              </a:spcAft>
              <a:buSzPts val="1700"/>
              <a:buChar char="❏"/>
            </a:pPr>
            <a:r>
              <a:rPr lang="en-US" sz="1700"/>
              <a:t>IMDb's public data has no per-user ratings : standard Colllaborative Filtering is impossible</a:t>
            </a:r>
            <a:endParaRPr sz="1700"/>
          </a:p>
          <a:p>
            <a:pPr indent="0" lvl="0" marL="0" rtl="0" algn="l">
              <a:lnSpc>
                <a:spcPct val="115000"/>
              </a:lnSpc>
              <a:spcBef>
                <a:spcPts val="1200"/>
              </a:spcBef>
              <a:spcAft>
                <a:spcPts val="0"/>
              </a:spcAft>
              <a:buClr>
                <a:schemeClr val="dk1"/>
              </a:buClr>
              <a:buSzPts val="1100"/>
              <a:buFont typeface="Arial"/>
              <a:buNone/>
            </a:pPr>
            <a:r>
              <a:rPr b="1" lang="en-US" sz="1700"/>
              <a:t>Our Solution</a:t>
            </a:r>
            <a:endParaRPr b="1" sz="1700"/>
          </a:p>
          <a:p>
            <a:pPr indent="-336550" lvl="0" marL="457200" rtl="0" algn="l">
              <a:lnSpc>
                <a:spcPct val="115000"/>
              </a:lnSpc>
              <a:spcBef>
                <a:spcPts val="1200"/>
              </a:spcBef>
              <a:spcAft>
                <a:spcPts val="0"/>
              </a:spcAft>
              <a:buSzPts val="1700"/>
              <a:buChar char="❏"/>
            </a:pPr>
            <a:r>
              <a:rPr lang="en-US" sz="1700"/>
              <a:t>6 specialised mining modules, each working on different IMDb attributes</a:t>
            </a:r>
            <a:endParaRPr sz="1700"/>
          </a:p>
          <a:p>
            <a:pPr indent="-336550" lvl="0" marL="457200" rtl="0" algn="l">
              <a:lnSpc>
                <a:spcPct val="115000"/>
              </a:lnSpc>
              <a:spcBef>
                <a:spcPts val="0"/>
              </a:spcBef>
              <a:spcAft>
                <a:spcPts val="0"/>
              </a:spcAft>
              <a:buSzPts val="1700"/>
              <a:buChar char="❏"/>
            </a:pPr>
            <a:r>
              <a:rPr lang="en-US" sz="1700"/>
              <a:t>Modules predict independently, then votes are counted at integration</a:t>
            </a:r>
            <a:endParaRPr sz="1700"/>
          </a:p>
          <a:p>
            <a:pPr indent="-336550" lvl="0" marL="457200" rtl="0" algn="l">
              <a:lnSpc>
                <a:spcPct val="115000"/>
              </a:lnSpc>
              <a:spcBef>
                <a:spcPts val="0"/>
              </a:spcBef>
              <a:spcAft>
                <a:spcPts val="0"/>
              </a:spcAft>
              <a:buSzPts val="1700"/>
              <a:buChar char="❏"/>
            </a:pPr>
            <a:r>
              <a:rPr lang="en-US" sz="1700"/>
              <a:t>A movie recommended by 5 out of 6 modules is far stronger than one score</a:t>
            </a:r>
            <a:endParaRPr sz="1700"/>
          </a:p>
          <a:p>
            <a:pPr indent="-336550" lvl="0" marL="457200" rtl="0" algn="l">
              <a:lnSpc>
                <a:spcPct val="115000"/>
              </a:lnSpc>
              <a:spcBef>
                <a:spcPts val="0"/>
              </a:spcBef>
              <a:spcAft>
                <a:spcPts val="0"/>
              </a:spcAft>
              <a:buSzPts val="1700"/>
              <a:buChar char="❏"/>
            </a:pPr>
            <a:r>
              <a:rPr lang="en-US" sz="1700"/>
              <a:t>Works for any viewer : even with zero watch history (persona cold-start)</a:t>
            </a:r>
            <a:endParaRPr sz="1700"/>
          </a:p>
          <a:p>
            <a:pPr indent="0" lvl="0" marL="0" rtl="0" algn="l">
              <a:spcBef>
                <a:spcPts val="1200"/>
              </a:spcBef>
              <a:spcAft>
                <a:spcPts val="0"/>
              </a:spcAft>
              <a:buNone/>
            </a:pPr>
            <a:r>
              <a:t/>
            </a:r>
            <a:endParaRPr b="1" sz="1700"/>
          </a:p>
          <a:p>
            <a:pPr indent="0" lvl="0" marL="0" rtl="0" algn="l">
              <a:spcBef>
                <a:spcPts val="0"/>
              </a:spcBef>
              <a:spcAft>
                <a:spcPts val="0"/>
              </a:spcAft>
              <a:buNone/>
            </a:pPr>
            <a:r>
              <a:t/>
            </a:r>
            <a:endParaRPr sz="1700"/>
          </a:p>
          <a:p>
            <a:pPr indent="0" lvl="0" marL="342900" rtl="0" algn="l">
              <a:lnSpc>
                <a:spcPct val="100000"/>
              </a:lnSpc>
              <a:spcBef>
                <a:spcPts val="480"/>
              </a:spcBef>
              <a:spcAft>
                <a:spcPts val="0"/>
              </a:spcAft>
              <a:buNone/>
            </a:pPr>
            <a:r>
              <a:t/>
            </a:r>
            <a:endParaRPr b="1" sz="1700">
              <a:solidFill>
                <a:srgbClr val="1F2937"/>
              </a:solidFill>
            </a:endParaRPr>
          </a:p>
          <a:p>
            <a:pPr indent="0" lvl="0" marL="0" rtl="0" algn="l">
              <a:lnSpc>
                <a:spcPct val="100000"/>
              </a:lnSpc>
              <a:spcBef>
                <a:spcPts val="480"/>
              </a:spcBef>
              <a:spcAft>
                <a:spcPts val="0"/>
              </a:spcAft>
              <a:buClr>
                <a:schemeClr val="dk1"/>
              </a:buClr>
              <a:buSzPts val="2400"/>
              <a:buNone/>
            </a:pPr>
            <a:r>
              <a:t/>
            </a:r>
            <a:endParaRPr sz="1700"/>
          </a:p>
        </p:txBody>
      </p:sp>
      <p:sp>
        <p:nvSpPr>
          <p:cNvPr id="66" name="Google Shape;66;p8"/>
          <p:cNvSpPr txBox="1"/>
          <p:nvPr/>
        </p:nvSpPr>
        <p:spPr>
          <a:xfrm>
            <a:off x="380688" y="5718375"/>
            <a:ext cx="35718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sp>
        <p:nvSpPr>
          <p:cNvPr id="67" name="Google Shape;67;p8"/>
          <p:cNvSpPr txBox="1"/>
          <p:nvPr/>
        </p:nvSpPr>
        <p:spPr>
          <a:xfrm>
            <a:off x="4686050" y="5718375"/>
            <a:ext cx="4001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9"/>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600"/>
              </a:spcAft>
              <a:buNone/>
            </a:pPr>
            <a:r>
              <a:rPr lang="en-US">
                <a:highlight>
                  <a:srgbClr val="FFFFFF"/>
                </a:highlight>
              </a:rPr>
              <a:t>Team Members &amp; Contributions</a:t>
            </a:r>
            <a:endParaRPr/>
          </a:p>
        </p:txBody>
      </p:sp>
      <p:sp>
        <p:nvSpPr>
          <p:cNvPr id="74" name="Google Shape;74;p9"/>
          <p:cNvSpPr txBox="1"/>
          <p:nvPr>
            <p:ph idx="1" type="body"/>
          </p:nvPr>
        </p:nvSpPr>
        <p:spPr>
          <a:xfrm>
            <a:off x="180650" y="1173975"/>
            <a:ext cx="6711900" cy="39792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700">
                <a:solidFill>
                  <a:srgbClr val="374151"/>
                </a:solidFill>
              </a:rPr>
              <a:t>Key Contributions</a:t>
            </a:r>
            <a:endParaRPr b="1" sz="1700">
              <a:solidFill>
                <a:srgbClr val="374151"/>
              </a:solidFill>
            </a:endParaRPr>
          </a:p>
          <a:p>
            <a:pPr indent="0" lvl="0" marL="0" rtl="0" algn="l">
              <a:lnSpc>
                <a:spcPct val="115000"/>
              </a:lnSpc>
              <a:spcBef>
                <a:spcPts val="400"/>
              </a:spcBef>
              <a:spcAft>
                <a:spcPts val="0"/>
              </a:spcAft>
              <a:buClr>
                <a:schemeClr val="dk1"/>
              </a:buClr>
              <a:buSzPts val="1100"/>
              <a:buFont typeface="Arial"/>
              <a:buNone/>
            </a:pPr>
            <a:r>
              <a:t/>
            </a:r>
            <a:endParaRPr sz="1700"/>
          </a:p>
          <a:p>
            <a:pPr indent="0" lvl="0" marL="0" rtl="0" algn="l">
              <a:lnSpc>
                <a:spcPct val="115000"/>
              </a:lnSpc>
              <a:spcBef>
                <a:spcPts val="900"/>
              </a:spcBef>
              <a:spcAft>
                <a:spcPts val="0"/>
              </a:spcAft>
              <a:buClr>
                <a:schemeClr val="dk1"/>
              </a:buClr>
              <a:buSzPts val="1100"/>
              <a:buFont typeface="Arial"/>
              <a:buNone/>
            </a:pPr>
            <a:r>
              <a:rPr lang="en-US" sz="1700">
                <a:solidFill>
                  <a:srgbClr val="FFFFFF"/>
                </a:solidFill>
                <a:highlight>
                  <a:srgbClr val="991B1B"/>
                </a:highlight>
              </a:rPr>
              <a:t>  </a:t>
            </a:r>
            <a:endParaRPr sz="1700"/>
          </a:p>
        </p:txBody>
      </p:sp>
      <p:pic>
        <p:nvPicPr>
          <p:cNvPr id="75" name="Google Shape;75;p9"/>
          <p:cNvPicPr preferRelativeResize="0"/>
          <p:nvPr/>
        </p:nvPicPr>
        <p:blipFill>
          <a:blip r:embed="rId3">
            <a:alphaModFix/>
          </a:blip>
          <a:stretch>
            <a:fillRect/>
          </a:stretch>
        </p:blipFill>
        <p:spPr>
          <a:xfrm>
            <a:off x="6813050" y="1173975"/>
            <a:ext cx="2330950" cy="2599950"/>
          </a:xfrm>
          <a:prstGeom prst="rect">
            <a:avLst/>
          </a:prstGeom>
          <a:noFill/>
          <a:ln>
            <a:noFill/>
          </a:ln>
        </p:spPr>
      </p:pic>
      <p:graphicFrame>
        <p:nvGraphicFramePr>
          <p:cNvPr id="76" name="Google Shape;76;p9"/>
          <p:cNvGraphicFramePr/>
          <p:nvPr/>
        </p:nvGraphicFramePr>
        <p:xfrm>
          <a:off x="166475" y="1818175"/>
          <a:ext cx="3000000" cy="3000000"/>
        </p:xfrm>
        <a:graphic>
          <a:graphicData uri="http://schemas.openxmlformats.org/drawingml/2006/table">
            <a:tbl>
              <a:tblPr>
                <a:noFill/>
                <a:tableStyleId>{C4495EED-EF19-488C-8A38-317F3BB6B96A}</a:tableStyleId>
              </a:tblPr>
              <a:tblGrid>
                <a:gridCol w="382850"/>
                <a:gridCol w="1368500"/>
                <a:gridCol w="4988900"/>
              </a:tblGrid>
              <a:tr h="190500">
                <a:tc>
                  <a:txBody>
                    <a:bodyPr/>
                    <a:lstStyle/>
                    <a:p>
                      <a:pPr indent="0" lvl="0" marL="0" rtl="0" algn="ctr">
                        <a:lnSpc>
                          <a:spcPct val="115000"/>
                        </a:lnSpc>
                        <a:spcBef>
                          <a:spcPts val="0"/>
                        </a:spcBef>
                        <a:spcAft>
                          <a:spcPts val="0"/>
                        </a:spcAft>
                        <a:buNone/>
                      </a:pPr>
                      <a:r>
                        <a:rPr b="1" lang="en-US" sz="1100"/>
                        <a: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Member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Key </a:t>
                      </a:r>
                      <a:r>
                        <a:rPr b="1" lang="en-US" sz="1100"/>
                        <a:t>Contribution</a:t>
                      </a:r>
                      <a:endParaRPr b="1" sz="1100"/>
                    </a:p>
                  </a:txBody>
                  <a:tcPr marT="91425" marB="91425" marR="91425" marL="91425"/>
                </a:tc>
              </a:tr>
              <a:tr h="1905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b="1" lang="en-US" sz="1100"/>
                        <a:t>Tarushi Jain</a:t>
                      </a:r>
                      <a:endParaRPr b="1" sz="1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Engineered regional diversity signal from alternate titles across countries and languages</a:t>
                      </a:r>
                      <a:endParaRPr/>
                    </a:p>
                  </a:txBody>
                  <a:tcPr marT="91425" marB="91425" marR="91425" marL="91425"/>
                </a:tc>
              </a:tr>
              <a:tr h="190500">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b="1" lang="en-US" sz="1100"/>
                        <a:t>Sanskriti Chandra</a:t>
                      </a:r>
                      <a:r>
                        <a:rPr lang="en-US" sz="1100"/>
                        <a:t> </a:t>
                      </a:r>
                      <a:endParaRPr b="1" sz="1100"/>
                    </a:p>
                  </a:txBody>
                  <a:tcPr marT="91425" marB="91425" marR="91425" marL="91425"/>
                </a:tc>
                <a:tc>
                  <a:txBody>
                    <a:bodyPr/>
                    <a:lstStyle/>
                    <a:p>
                      <a:pPr indent="0" lvl="0" marL="0" rtl="0" algn="l">
                        <a:spcBef>
                          <a:spcPts val="0"/>
                        </a:spcBef>
                        <a:spcAft>
                          <a:spcPts val="0"/>
                        </a:spcAft>
                        <a:buNone/>
                      </a:pPr>
                      <a:r>
                        <a:rPr lang="en-US"/>
                        <a:t>Built content-based + implicit CF recommender using genres, cast, and decade features</a:t>
                      </a:r>
                      <a:endParaRPr>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b="1" lang="en-US" sz="1100"/>
                        <a:t>Atul Sharma</a:t>
                      </a:r>
                      <a:endParaRPr b="1" sz="1100"/>
                    </a:p>
                  </a:txBody>
                  <a:tcPr marT="91425" marB="91425" marR="91425" marL="91425"/>
                </a:tc>
                <a:tc>
                  <a:txBody>
                    <a:bodyPr/>
                    <a:lstStyle/>
                    <a:p>
                      <a:pPr indent="0" lvl="0" marL="0" rtl="0" algn="l">
                        <a:spcBef>
                          <a:spcPts val="0"/>
                        </a:spcBef>
                        <a:spcAft>
                          <a:spcPts val="0"/>
                        </a:spcAft>
                        <a:buNone/>
                      </a:pPr>
                      <a:r>
                        <a:rPr lang="en-US">
                          <a:solidFill>
                            <a:schemeClr val="dk1"/>
                          </a:solidFill>
                        </a:rPr>
                        <a:t>Mined actor co-occurrence graph with Louvain community detection for cast-similarity recommendations</a:t>
                      </a:r>
                      <a:endParaRPr/>
                    </a:p>
                  </a:txBody>
                  <a:tcPr marT="91425" marB="91425" marR="91425" marL="91425"/>
                </a:tc>
              </a:tr>
              <a:tr h="190500">
                <a:tc>
                  <a:txBody>
                    <a:bodyPr/>
                    <a:lstStyle/>
                    <a:p>
                      <a:pPr indent="0" lvl="0" marL="0" rtl="0" algn="l">
                        <a:spcBef>
                          <a:spcPts val="0"/>
                        </a:spcBef>
                        <a:spcAft>
                          <a:spcPts val="0"/>
                        </a:spcAft>
                        <a:buNone/>
                      </a:pPr>
                      <a:r>
                        <a:rPr lang="en-US"/>
                        <a:t>4</a:t>
                      </a:r>
                      <a:endParaRPr/>
                    </a:p>
                  </a:txBody>
                  <a:tcPr marT="91425" marB="91425" marR="91425" marL="91425"/>
                </a:tc>
                <a:tc>
                  <a:txBody>
                    <a:bodyPr/>
                    <a:lstStyle/>
                    <a:p>
                      <a:pPr indent="0" lvl="0" marL="0" rtl="0" algn="l">
                        <a:spcBef>
                          <a:spcPts val="0"/>
                        </a:spcBef>
                        <a:spcAft>
                          <a:spcPts val="0"/>
                        </a:spcAft>
                        <a:buNone/>
                      </a:pPr>
                      <a:r>
                        <a:rPr b="1" lang="en-US" sz="1100"/>
                        <a:t>Sumit Sharma</a:t>
                      </a:r>
                      <a:endParaRPr b="1" sz="1100"/>
                    </a:p>
                  </a:txBody>
                  <a:tcPr marT="91425" marB="91425" marR="91425" marL="91425"/>
                </a:tc>
                <a:tc>
                  <a:txBody>
                    <a:bodyPr/>
                    <a:lstStyle/>
                    <a:p>
                      <a:pPr indent="0" lvl="0" marL="0" rtl="0" algn="l">
                        <a:spcBef>
                          <a:spcPts val="0"/>
                        </a:spcBef>
                        <a:spcAft>
                          <a:spcPts val="0"/>
                        </a:spcAft>
                        <a:buNone/>
                      </a:pPr>
                      <a:r>
                        <a:rPr lang="en-US"/>
                        <a:t>Analysed ratings data : Bayesian quality ranking, classification, and outlier detection</a:t>
                      </a:r>
                      <a:endParaRPr/>
                    </a:p>
                  </a:txBody>
                  <a:tcPr marT="91425" marB="91425" marR="91425" marL="91425"/>
                </a:tc>
              </a:tr>
              <a:tr h="190500">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b="1" lang="en-US" sz="1100"/>
                        <a:t>Sara Maan</a:t>
                      </a:r>
                      <a:endParaRPr b="1" sz="1100"/>
                    </a:p>
                  </a:txBody>
                  <a:tcPr marT="91425" marB="91425" marR="91425" marL="91425"/>
                </a:tc>
                <a:tc>
                  <a:txBody>
                    <a:bodyPr/>
                    <a:lstStyle/>
                    <a:p>
                      <a:pPr indent="0" lvl="0" marL="0" rtl="0" algn="l">
                        <a:spcBef>
                          <a:spcPts val="0"/>
                        </a:spcBef>
                        <a:spcAft>
                          <a:spcPts val="0"/>
                        </a:spcAft>
                        <a:buNone/>
                      </a:pPr>
                      <a:r>
                        <a:rPr lang="en-US"/>
                        <a:t>Fingerprinted director styles using genre profiles and recommended movies by similar directors</a:t>
                      </a:r>
                      <a:endParaRPr/>
                    </a:p>
                  </a:txBody>
                  <a:tcPr marT="91425" marB="91425" marR="91425" marL="91425"/>
                </a:tc>
              </a:tr>
              <a:tr h="190500">
                <a:tc>
                  <a:txBody>
                    <a:bodyPr/>
                    <a:lstStyle/>
                    <a:p>
                      <a:pPr indent="0" lvl="0" marL="0" rtl="0" algn="l">
                        <a:spcBef>
                          <a:spcPts val="0"/>
                        </a:spcBef>
                        <a:spcAft>
                          <a:spcPts val="0"/>
                        </a:spcAft>
                        <a:buNone/>
                      </a:pPr>
                      <a:r>
                        <a:rPr lang="en-US"/>
                        <a:t>6</a:t>
                      </a:r>
                      <a:endParaRPr/>
                    </a:p>
                  </a:txBody>
                  <a:tcPr marT="91425" marB="91425" marR="91425" marL="91425"/>
                </a:tc>
                <a:tc>
                  <a:txBody>
                    <a:bodyPr/>
                    <a:lstStyle/>
                    <a:p>
                      <a:pPr indent="0" lvl="0" marL="0" rtl="0" algn="l">
                        <a:spcBef>
                          <a:spcPts val="0"/>
                        </a:spcBef>
                        <a:spcAft>
                          <a:spcPts val="0"/>
                        </a:spcAft>
                        <a:buNone/>
                      </a:pPr>
                      <a:r>
                        <a:rPr b="1" lang="en-US" sz="1100"/>
                        <a:t>Divij Rawal</a:t>
                      </a:r>
                      <a:endParaRPr b="1" sz="1100"/>
                    </a:p>
                  </a:txBody>
                  <a:tcPr marT="91425" marB="91425" marR="91425" marL="91425"/>
                </a:tc>
                <a:tc>
                  <a:txBody>
                    <a:bodyPr/>
                    <a:lstStyle/>
                    <a:p>
                      <a:pPr indent="0" lvl="0" marL="0" rtl="0" algn="l">
                        <a:spcBef>
                          <a:spcPts val="0"/>
                        </a:spcBef>
                        <a:spcAft>
                          <a:spcPts val="0"/>
                        </a:spcAft>
                        <a:buNone/>
                      </a:pPr>
                      <a:r>
                        <a:rPr lang="en-US"/>
                        <a:t>Built KNN, SVD matrix factorisation, and NLP title similarity ensemble for multi-model recommendations</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0"/>
          <p:cNvSpPr txBox="1"/>
          <p:nvPr>
            <p:ph type="title"/>
          </p:nvPr>
        </p:nvSpPr>
        <p:spPr>
          <a:xfrm>
            <a:off x="180654" y="202990"/>
            <a:ext cx="7042080" cy="55458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Motivation &amp; Problem Statement</a:t>
            </a:r>
            <a:endParaRPr/>
          </a:p>
        </p:txBody>
      </p:sp>
      <p:sp>
        <p:nvSpPr>
          <p:cNvPr id="82" name="Google Shape;82;p10"/>
          <p:cNvSpPr txBox="1"/>
          <p:nvPr>
            <p:ph idx="1" type="body"/>
          </p:nvPr>
        </p:nvSpPr>
        <p:spPr>
          <a:xfrm>
            <a:off x="388100" y="1330625"/>
            <a:ext cx="8508000" cy="241470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E8A838"/>
              </a:buClr>
              <a:buSzPts val="1200"/>
              <a:buFont typeface="Calibri"/>
              <a:buNone/>
            </a:pPr>
            <a:r>
              <a:rPr b="1" lang="en-US" sz="1700"/>
              <a:t>1.  </a:t>
            </a:r>
            <a:r>
              <a:rPr lang="en-US" sz="1700"/>
              <a:t>Existing systems rely on user history : new or anonymous viewers get no personalisation. </a:t>
            </a:r>
            <a:br>
              <a:rPr lang="en-US" sz="1700"/>
            </a:br>
            <a:r>
              <a:rPr b="1" lang="en-US" sz="1700"/>
              <a:t>2.  </a:t>
            </a:r>
            <a:r>
              <a:rPr lang="en-US" sz="1700"/>
              <a:t>IMDb's public dataset has no per-user ratings, making standard collaborative filtering impossible. </a:t>
            </a:r>
            <a:br>
              <a:rPr lang="en-US" sz="1700"/>
            </a:br>
            <a:r>
              <a:rPr b="1" lang="en-US" sz="1700"/>
              <a:t>3.  </a:t>
            </a:r>
            <a:r>
              <a:rPr lang="en-US" sz="1700"/>
              <a:t>A robust system must work from movie metadata alone and still surface relevant, diverse recommendations. </a:t>
            </a:r>
            <a:endParaRPr sz="1700"/>
          </a:p>
          <a:p>
            <a:pPr indent="0" lvl="0" marL="0" rtl="0" algn="l">
              <a:spcBef>
                <a:spcPts val="0"/>
              </a:spcBef>
              <a:spcAft>
                <a:spcPts val="0"/>
              </a:spcAft>
              <a:buNone/>
            </a:pPr>
            <a:r>
              <a:t/>
            </a:r>
            <a:endParaRPr sz="1700"/>
          </a:p>
        </p:txBody>
      </p:sp>
      <p:sp>
        <p:nvSpPr>
          <p:cNvPr id="83" name="Google Shape;83;p10"/>
          <p:cNvSpPr txBox="1"/>
          <p:nvPr/>
        </p:nvSpPr>
        <p:spPr>
          <a:xfrm>
            <a:off x="1574050" y="3681425"/>
            <a:ext cx="2353800" cy="1285200"/>
          </a:xfrm>
          <a:prstGeom prst="rect">
            <a:avLst/>
          </a:prstGeom>
          <a:solidFill>
            <a:srgbClr val="EFEFEF"/>
          </a:solidFill>
          <a:ln cap="flat" cmpd="sng" w="9525">
            <a:solidFill>
              <a:srgbClr val="991B1B"/>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800">
                <a:solidFill>
                  <a:srgbClr val="991B1B"/>
                </a:solidFill>
                <a:latin typeface="Calibri"/>
                <a:ea typeface="Calibri"/>
                <a:cs typeface="Calibri"/>
                <a:sym typeface="Calibri"/>
              </a:rPr>
              <a:t>500,000+</a:t>
            </a:r>
            <a:endParaRPr b="1" sz="2800">
              <a:solidFill>
                <a:srgbClr val="991B1B"/>
              </a:solidFill>
              <a:latin typeface="Calibri"/>
              <a:ea typeface="Calibri"/>
              <a:cs typeface="Calibri"/>
              <a:sym typeface="Calibri"/>
            </a:endParaRPr>
          </a:p>
          <a:p>
            <a:pPr indent="0" lvl="0" marL="0" rtl="0" algn="ctr">
              <a:spcBef>
                <a:spcPts val="0"/>
              </a:spcBef>
              <a:spcAft>
                <a:spcPts val="0"/>
              </a:spcAft>
              <a:buNone/>
            </a:pPr>
            <a:r>
              <a:rPr lang="en-US" sz="2400">
                <a:solidFill>
                  <a:schemeClr val="dk1"/>
                </a:solidFill>
                <a:latin typeface="Calibri"/>
                <a:ea typeface="Calibri"/>
                <a:cs typeface="Calibri"/>
                <a:sym typeface="Calibri"/>
              </a:rPr>
              <a:t>Titles in IMDb</a:t>
            </a:r>
            <a:endParaRPr b="1" sz="4100">
              <a:solidFill>
                <a:schemeClr val="dk1"/>
              </a:solidFill>
              <a:latin typeface="Calibri"/>
              <a:ea typeface="Calibri"/>
              <a:cs typeface="Calibri"/>
              <a:sym typeface="Calibri"/>
            </a:endParaRPr>
          </a:p>
        </p:txBody>
      </p:sp>
      <p:sp>
        <p:nvSpPr>
          <p:cNvPr id="84" name="Google Shape;84;p10"/>
          <p:cNvSpPr txBox="1"/>
          <p:nvPr/>
        </p:nvSpPr>
        <p:spPr>
          <a:xfrm>
            <a:off x="5314500" y="3681425"/>
            <a:ext cx="2353800" cy="1285200"/>
          </a:xfrm>
          <a:prstGeom prst="rect">
            <a:avLst/>
          </a:prstGeom>
          <a:solidFill>
            <a:srgbClr val="EFEFEF"/>
          </a:solidFill>
          <a:ln cap="flat" cmpd="sng" w="9525">
            <a:solidFill>
              <a:srgbClr val="991B1B"/>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800">
                <a:solidFill>
                  <a:srgbClr val="991B1B"/>
                </a:solidFill>
                <a:latin typeface="Calibri"/>
                <a:ea typeface="Calibri"/>
                <a:cs typeface="Calibri"/>
                <a:sym typeface="Calibri"/>
              </a:rPr>
              <a:t>89 % </a:t>
            </a:r>
            <a:endParaRPr b="1" sz="2800">
              <a:solidFill>
                <a:srgbClr val="991B1B"/>
              </a:solidFill>
              <a:latin typeface="Calibri"/>
              <a:ea typeface="Calibri"/>
              <a:cs typeface="Calibri"/>
              <a:sym typeface="Calibri"/>
            </a:endParaRPr>
          </a:p>
          <a:p>
            <a:pPr indent="0" lvl="0" marL="0" rtl="0" algn="ctr">
              <a:spcBef>
                <a:spcPts val="0"/>
              </a:spcBef>
              <a:spcAft>
                <a:spcPts val="0"/>
              </a:spcAft>
              <a:buNone/>
            </a:pPr>
            <a:r>
              <a:rPr lang="en-US" sz="2400">
                <a:solidFill>
                  <a:schemeClr val="dk1"/>
                </a:solidFill>
                <a:latin typeface="Calibri"/>
                <a:ea typeface="Calibri"/>
                <a:cs typeface="Calibri"/>
                <a:sym typeface="Calibri"/>
              </a:rPr>
              <a:t>Viewers struggle to choose </a:t>
            </a:r>
            <a:endParaRPr b="1" sz="4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1"/>
          <p:cNvSpPr txBox="1"/>
          <p:nvPr>
            <p:ph type="title"/>
          </p:nvPr>
        </p:nvSpPr>
        <p:spPr>
          <a:xfrm>
            <a:off x="180654" y="202990"/>
            <a:ext cx="7042080" cy="55458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Dataset Overview</a:t>
            </a:r>
            <a:endParaRPr/>
          </a:p>
        </p:txBody>
      </p:sp>
      <p:sp>
        <p:nvSpPr>
          <p:cNvPr id="90" name="Google Shape;90;p11"/>
          <p:cNvSpPr txBox="1"/>
          <p:nvPr>
            <p:ph idx="1" type="body"/>
          </p:nvPr>
        </p:nvSpPr>
        <p:spPr>
          <a:xfrm>
            <a:off x="180650" y="1280150"/>
            <a:ext cx="8596200" cy="5372700"/>
          </a:xfrm>
          <a:prstGeom prst="rect">
            <a:avLst/>
          </a:prstGeom>
          <a:noFill/>
          <a:ln>
            <a:noFill/>
          </a:ln>
        </p:spPr>
        <p:txBody>
          <a:bodyPr anchorCtr="0" anchor="ctr" bIns="45700" lIns="91425" spcFirstLastPara="1" rIns="91425" wrap="square" tIns="45700">
            <a:noAutofit/>
          </a:bodyPr>
          <a:lstStyle/>
          <a:p>
            <a:pPr indent="0" lvl="0" marL="0" rtl="0" algn="just">
              <a:lnSpc>
                <a:spcPct val="115000"/>
              </a:lnSpc>
              <a:spcBef>
                <a:spcPts val="0"/>
              </a:spcBef>
              <a:spcAft>
                <a:spcPts val="0"/>
              </a:spcAft>
              <a:buNone/>
            </a:pPr>
            <a:r>
              <a:rPr b="1" lang="en-US" sz="1700"/>
              <a:t>Dataset Source: IMDb Open Dataset  </a:t>
            </a:r>
            <a:endParaRPr b="1" sz="1700"/>
          </a:p>
          <a:p>
            <a:pPr indent="0" lvl="0" marL="0" rtl="0" algn="just">
              <a:lnSpc>
                <a:spcPct val="115000"/>
              </a:lnSpc>
              <a:spcBef>
                <a:spcPts val="0"/>
              </a:spcBef>
              <a:spcAft>
                <a:spcPts val="0"/>
              </a:spcAft>
              <a:buNone/>
            </a:pPr>
            <a:r>
              <a:rPr b="1" lang="en-US" sz="1700" u="sng">
                <a:solidFill>
                  <a:schemeClr val="hlink"/>
                </a:solidFill>
                <a:hlinkClick r:id="rId3"/>
              </a:rPr>
              <a:t>https://developer.imdb.com/non-commercial-datasets/</a:t>
            </a:r>
            <a:endParaRPr b="1" sz="1700"/>
          </a:p>
          <a:p>
            <a:pPr indent="-336550" lvl="0" marL="457200" rtl="0" algn="just">
              <a:lnSpc>
                <a:spcPct val="115000"/>
              </a:lnSpc>
              <a:spcBef>
                <a:spcPts val="0"/>
              </a:spcBef>
              <a:spcAft>
                <a:spcPts val="0"/>
              </a:spcAft>
              <a:buSzPts val="1700"/>
              <a:buAutoNum type="arabicPeriod"/>
            </a:pPr>
            <a:r>
              <a:rPr lang="en-US" sz="1700"/>
              <a:t>title.basics.tsv: Contains basic movie information. </a:t>
            </a:r>
            <a:endParaRPr sz="1700"/>
          </a:p>
          <a:p>
            <a:pPr indent="-336550" lvl="0" marL="914400" rtl="0" algn="just">
              <a:lnSpc>
                <a:spcPct val="115000"/>
              </a:lnSpc>
              <a:spcBef>
                <a:spcPts val="0"/>
              </a:spcBef>
              <a:spcAft>
                <a:spcPts val="0"/>
              </a:spcAft>
              <a:buSzPts val="1700"/>
              <a:buChar char="•"/>
            </a:pPr>
            <a:r>
              <a:rPr lang="en-US" sz="1700"/>
              <a:t>Attributes: tconst, titleType, primaryTitle, OriginalTitle, startYear, runtimeMinutes, genres.</a:t>
            </a:r>
            <a:endParaRPr sz="1700"/>
          </a:p>
          <a:p>
            <a:pPr indent="-336550" lvl="0" marL="457200" rtl="0" algn="just">
              <a:lnSpc>
                <a:spcPct val="115000"/>
              </a:lnSpc>
              <a:spcBef>
                <a:spcPts val="0"/>
              </a:spcBef>
              <a:spcAft>
                <a:spcPts val="0"/>
              </a:spcAft>
              <a:buSzPts val="1700"/>
              <a:buAutoNum type="arabicPeriod"/>
            </a:pPr>
            <a:r>
              <a:rPr lang="en-US" sz="1700"/>
              <a:t>title.rating.tsv: Contain rating information.</a:t>
            </a:r>
            <a:endParaRPr sz="1700"/>
          </a:p>
          <a:p>
            <a:pPr indent="-336550" lvl="0" marL="914400" rtl="0" algn="just">
              <a:lnSpc>
                <a:spcPct val="115000"/>
              </a:lnSpc>
              <a:spcBef>
                <a:spcPts val="0"/>
              </a:spcBef>
              <a:spcAft>
                <a:spcPts val="0"/>
              </a:spcAft>
              <a:buSzPts val="1700"/>
              <a:buChar char="•"/>
            </a:pPr>
            <a:r>
              <a:rPr lang="en-US" sz="1700"/>
              <a:t>Attributes: tconst, averageRating, numVotes.</a:t>
            </a:r>
            <a:endParaRPr sz="1700"/>
          </a:p>
          <a:p>
            <a:pPr indent="-336550" lvl="0" marL="457200" rtl="0" algn="just">
              <a:lnSpc>
                <a:spcPct val="115000"/>
              </a:lnSpc>
              <a:spcBef>
                <a:spcPts val="0"/>
              </a:spcBef>
              <a:spcAft>
                <a:spcPts val="0"/>
              </a:spcAft>
              <a:buSzPts val="1700"/>
              <a:buAutoNum type="arabicPeriod"/>
            </a:pPr>
            <a:r>
              <a:rPr lang="en-US" sz="1700"/>
              <a:t>title.akas.tsv: Contain alternative titles.</a:t>
            </a:r>
            <a:endParaRPr sz="1700"/>
          </a:p>
          <a:p>
            <a:pPr indent="-336550" lvl="0" marL="914400" rtl="0" algn="just">
              <a:lnSpc>
                <a:spcPct val="115000"/>
              </a:lnSpc>
              <a:spcBef>
                <a:spcPts val="0"/>
              </a:spcBef>
              <a:spcAft>
                <a:spcPts val="0"/>
              </a:spcAft>
              <a:buSzPts val="1700"/>
              <a:buChar char="•"/>
            </a:pPr>
            <a:r>
              <a:rPr lang="en-US" sz="1700"/>
              <a:t>Attributes: titled, title, region, language.</a:t>
            </a:r>
            <a:endParaRPr sz="1700"/>
          </a:p>
          <a:p>
            <a:pPr indent="-336550" lvl="0" marL="457200" rtl="0" algn="just">
              <a:lnSpc>
                <a:spcPct val="115000"/>
              </a:lnSpc>
              <a:spcBef>
                <a:spcPts val="0"/>
              </a:spcBef>
              <a:spcAft>
                <a:spcPts val="0"/>
              </a:spcAft>
              <a:buSzPts val="1700"/>
              <a:buAutoNum type="arabicPeriod"/>
            </a:pPr>
            <a:r>
              <a:rPr lang="en-US" sz="1700"/>
              <a:t>title.crew.tsv: Contains movie crew information.</a:t>
            </a:r>
            <a:endParaRPr sz="1700"/>
          </a:p>
          <a:p>
            <a:pPr indent="-336550" lvl="0" marL="914400" rtl="0" algn="just">
              <a:lnSpc>
                <a:spcPct val="115000"/>
              </a:lnSpc>
              <a:spcBef>
                <a:spcPts val="0"/>
              </a:spcBef>
              <a:spcAft>
                <a:spcPts val="0"/>
              </a:spcAft>
              <a:buSzPts val="1700"/>
              <a:buChar char="•"/>
            </a:pPr>
            <a:r>
              <a:rPr lang="en-US" sz="1700"/>
              <a:t>Attributes: tconst, directions, writers.</a:t>
            </a:r>
            <a:endParaRPr sz="1700"/>
          </a:p>
          <a:p>
            <a:pPr indent="-336550" lvl="0" marL="457200" rtl="0" algn="just">
              <a:lnSpc>
                <a:spcPct val="115000"/>
              </a:lnSpc>
              <a:spcBef>
                <a:spcPts val="0"/>
              </a:spcBef>
              <a:spcAft>
                <a:spcPts val="0"/>
              </a:spcAft>
              <a:buSzPts val="1700"/>
              <a:buAutoNum type="arabicPeriod"/>
            </a:pPr>
            <a:r>
              <a:rPr lang="en-US" sz="1700"/>
              <a:t>title.principals.tsv: Contains cast and crew roles.</a:t>
            </a:r>
            <a:endParaRPr sz="1700"/>
          </a:p>
          <a:p>
            <a:pPr indent="-336550" lvl="0" marL="914400" rtl="0" algn="just">
              <a:lnSpc>
                <a:spcPct val="115000"/>
              </a:lnSpc>
              <a:spcBef>
                <a:spcPts val="0"/>
              </a:spcBef>
              <a:spcAft>
                <a:spcPts val="0"/>
              </a:spcAft>
              <a:buSzPts val="1700"/>
              <a:buChar char="•"/>
            </a:pPr>
            <a:r>
              <a:rPr lang="en-US" sz="1700"/>
              <a:t>Attributes: tconst, nconst, category, characters.</a:t>
            </a:r>
            <a:endParaRPr sz="1700"/>
          </a:p>
          <a:p>
            <a:pPr indent="-336550" lvl="0" marL="457200" rtl="0" algn="just">
              <a:lnSpc>
                <a:spcPct val="115000"/>
              </a:lnSpc>
              <a:spcBef>
                <a:spcPts val="0"/>
              </a:spcBef>
              <a:spcAft>
                <a:spcPts val="0"/>
              </a:spcAft>
              <a:buSzPts val="1700"/>
              <a:buAutoNum type="arabicPeriod"/>
            </a:pPr>
            <a:r>
              <a:rPr lang="en-US" sz="1700"/>
              <a:t>name.basics.tsv: Contains person information.</a:t>
            </a:r>
            <a:endParaRPr sz="1700"/>
          </a:p>
          <a:p>
            <a:pPr indent="-336550" lvl="0" marL="914400" rtl="0" algn="just">
              <a:lnSpc>
                <a:spcPct val="115000"/>
              </a:lnSpc>
              <a:spcBef>
                <a:spcPts val="0"/>
              </a:spcBef>
              <a:spcAft>
                <a:spcPts val="0"/>
              </a:spcAft>
              <a:buSzPts val="1700"/>
              <a:buChar char="•"/>
            </a:pPr>
            <a:r>
              <a:rPr lang="en-US" sz="1700"/>
              <a:t>Attributes: nconst, primaryName, BirthYear/DeathYear, primaryProfession, knownForTitles.</a:t>
            </a:r>
            <a:endParaRPr sz="1700"/>
          </a:p>
          <a:p>
            <a:pPr indent="-336550" lvl="0" marL="457200" rtl="0" algn="just">
              <a:lnSpc>
                <a:spcPct val="115000"/>
              </a:lnSpc>
              <a:spcBef>
                <a:spcPts val="0"/>
              </a:spcBef>
              <a:spcAft>
                <a:spcPts val="0"/>
              </a:spcAft>
              <a:buSzPts val="1700"/>
              <a:buAutoNum type="arabicPeriod"/>
            </a:pPr>
            <a:r>
              <a:rPr lang="en-US" sz="1700"/>
              <a:t>title.episodes.tsv : Contains episode information.</a:t>
            </a:r>
            <a:endParaRPr sz="1700"/>
          </a:p>
          <a:p>
            <a:pPr indent="-336550" lvl="0" marL="914400" rtl="0" algn="just">
              <a:lnSpc>
                <a:spcPct val="115000"/>
              </a:lnSpc>
              <a:spcBef>
                <a:spcPts val="0"/>
              </a:spcBef>
              <a:spcAft>
                <a:spcPts val="0"/>
              </a:spcAft>
              <a:buSzPts val="1700"/>
              <a:buChar char="•"/>
            </a:pPr>
            <a:r>
              <a:rPr lang="en-US" sz="1700"/>
              <a:t>Attributes</a:t>
            </a:r>
            <a:r>
              <a:rPr lang="en-US" sz="1700"/>
              <a:t>: </a:t>
            </a:r>
            <a:r>
              <a:rPr lang="en-US" sz="1700">
                <a:highlight>
                  <a:srgbClr val="FFFFFF"/>
                </a:highlight>
              </a:rPr>
              <a:t>tconst, parentTconst, seasonNumber, episodeNumber </a:t>
            </a:r>
            <a:endParaRPr sz="1700">
              <a:highlight>
                <a:srgbClr val="FFFFFF"/>
              </a:highlight>
            </a:endParaRPr>
          </a:p>
          <a:p>
            <a:pPr indent="0" lvl="0" marL="457200" rtl="0" algn="just">
              <a:lnSpc>
                <a:spcPct val="115000"/>
              </a:lnSpc>
              <a:spcBef>
                <a:spcPts val="0"/>
              </a:spcBef>
              <a:spcAft>
                <a:spcPts val="0"/>
              </a:spcAft>
              <a:buNone/>
            </a:pPr>
            <a:r>
              <a:t/>
            </a:r>
            <a:endParaRPr sz="1700"/>
          </a:p>
          <a:p>
            <a:pPr indent="0" lvl="0" marL="457200" rtl="0" algn="just">
              <a:lnSpc>
                <a:spcPct val="115000"/>
              </a:lnSpc>
              <a:spcBef>
                <a:spcPts val="0"/>
              </a:spcBef>
              <a:spcAft>
                <a:spcPts val="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2"/>
          <p:cNvSpPr txBox="1"/>
          <p:nvPr>
            <p:ph type="title"/>
          </p:nvPr>
        </p:nvSpPr>
        <p:spPr>
          <a:xfrm>
            <a:off x="180649" y="203000"/>
            <a:ext cx="80445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600"/>
              </a:spcAft>
              <a:buNone/>
            </a:pPr>
            <a:r>
              <a:rPr lang="en-US">
                <a:highlight>
                  <a:srgbClr val="FFFFFF"/>
                </a:highlight>
              </a:rPr>
              <a:t>Data Preprocessing &amp; Feature Engineering</a:t>
            </a:r>
            <a:endParaRPr/>
          </a:p>
        </p:txBody>
      </p:sp>
      <p:sp>
        <p:nvSpPr>
          <p:cNvPr id="97" name="Google Shape;97;p12"/>
          <p:cNvSpPr txBox="1"/>
          <p:nvPr>
            <p:ph idx="1" type="body"/>
          </p:nvPr>
        </p:nvSpPr>
        <p:spPr>
          <a:xfrm>
            <a:off x="78550" y="1009975"/>
            <a:ext cx="8473800" cy="5304000"/>
          </a:xfrm>
          <a:prstGeom prst="rect">
            <a:avLst/>
          </a:prstGeom>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b="1" lang="en-US" sz="1500"/>
              <a:t>Handling Missing Values</a:t>
            </a:r>
            <a:r>
              <a:rPr lang="en-US" sz="1500"/>
              <a:t> </a:t>
            </a:r>
            <a:endParaRPr sz="1500"/>
          </a:p>
          <a:p>
            <a:pPr indent="0" lvl="0" marL="0" rtl="0" algn="l">
              <a:lnSpc>
                <a:spcPct val="115000"/>
              </a:lnSpc>
              <a:spcBef>
                <a:spcPts val="1200"/>
              </a:spcBef>
              <a:spcAft>
                <a:spcPts val="0"/>
              </a:spcAft>
              <a:buNone/>
            </a:pPr>
            <a:r>
              <a:rPr lang="en-US" sz="1500"/>
              <a:t>▸ Required columns (genres, startYear, averageRating, numVotes) : rows with missing values dropped </a:t>
            </a:r>
            <a:endParaRPr sz="1500"/>
          </a:p>
          <a:p>
            <a:pPr indent="0" lvl="0" marL="0" rtl="0" algn="l">
              <a:lnSpc>
                <a:spcPct val="115000"/>
              </a:lnSpc>
              <a:spcBef>
                <a:spcPts val="0"/>
              </a:spcBef>
              <a:spcAft>
                <a:spcPts val="0"/>
              </a:spcAft>
              <a:buNone/>
            </a:pPr>
            <a:r>
              <a:rPr lang="en-US" sz="1500"/>
              <a:t>▸ Numerical columns (startYear, runtimeMinutes) filled with column median </a:t>
            </a:r>
            <a:endParaRPr sz="1500"/>
          </a:p>
          <a:p>
            <a:pPr indent="0" lvl="0" marL="0" rtl="0" algn="l">
              <a:lnSpc>
                <a:spcPct val="115000"/>
              </a:lnSpc>
              <a:spcBef>
                <a:spcPts val="0"/>
              </a:spcBef>
              <a:spcAft>
                <a:spcPts val="0"/>
              </a:spcAft>
              <a:buNone/>
            </a:pPr>
            <a:r>
              <a:rPr lang="en-US" sz="1500"/>
              <a:t>▸ Remaining NaN fields (cast_ids, suspicious flags) filled with 0 or empty string</a:t>
            </a:r>
            <a:endParaRPr sz="1500"/>
          </a:p>
          <a:p>
            <a:pPr indent="0" lvl="0" marL="0" rtl="0" algn="l">
              <a:lnSpc>
                <a:spcPct val="100000"/>
              </a:lnSpc>
              <a:spcBef>
                <a:spcPts val="1200"/>
              </a:spcBef>
              <a:spcAft>
                <a:spcPts val="0"/>
              </a:spcAft>
              <a:buNone/>
            </a:pPr>
            <a:r>
              <a:rPr b="1" lang="en-US" sz="1500"/>
              <a:t>Feature Engineering</a:t>
            </a:r>
            <a:r>
              <a:rPr lang="en-US" sz="1500"/>
              <a:t> </a:t>
            </a:r>
            <a:endParaRPr sz="1500"/>
          </a:p>
          <a:p>
            <a:pPr indent="0" lvl="0" marL="0" rtl="0" algn="l">
              <a:lnSpc>
                <a:spcPct val="115000"/>
              </a:lnSpc>
              <a:spcBef>
                <a:spcPts val="1200"/>
              </a:spcBef>
              <a:spcAft>
                <a:spcPts val="0"/>
              </a:spcAft>
              <a:buNone/>
            </a:pPr>
            <a:r>
              <a:rPr lang="en-US" sz="1500"/>
              <a:t>▸ Genre binary vectors via MultiLabelBinarizer ▸ Decade labels from startYear | log(numVotes) </a:t>
            </a:r>
            <a:endParaRPr sz="1500"/>
          </a:p>
          <a:p>
            <a:pPr indent="0" lvl="0" marL="0" rtl="0" algn="l">
              <a:lnSpc>
                <a:spcPct val="115000"/>
              </a:lnSpc>
              <a:spcBef>
                <a:spcPts val="0"/>
              </a:spcBef>
              <a:spcAft>
                <a:spcPts val="0"/>
              </a:spcAft>
              <a:buClr>
                <a:schemeClr val="dk1"/>
              </a:buClr>
              <a:buSzPts val="1100"/>
              <a:buFont typeface="Arial"/>
              <a:buNone/>
            </a:pPr>
            <a:r>
              <a:rPr lang="en-US" sz="1500"/>
              <a:t>▸ Diversity signal from AKA region/language counts (title.akas)</a:t>
            </a:r>
            <a:endParaRPr sz="1500"/>
          </a:p>
          <a:p>
            <a:pPr indent="0" lvl="0" marL="0" rtl="0" algn="l">
              <a:lnSpc>
                <a:spcPct val="100000"/>
              </a:lnSpc>
              <a:spcBef>
                <a:spcPts val="1200"/>
              </a:spcBef>
              <a:spcAft>
                <a:spcPts val="0"/>
              </a:spcAft>
              <a:buNone/>
            </a:pPr>
            <a:r>
              <a:rPr b="1" lang="en-US" sz="1500"/>
              <a:t>Data Transformation</a:t>
            </a:r>
            <a:r>
              <a:rPr lang="en-US" sz="1500"/>
              <a:t> </a:t>
            </a:r>
            <a:endParaRPr sz="1500"/>
          </a:p>
          <a:p>
            <a:pPr indent="0" lvl="0" marL="0" rtl="0" algn="l">
              <a:lnSpc>
                <a:spcPct val="115000"/>
              </a:lnSpc>
              <a:spcBef>
                <a:spcPts val="1200"/>
              </a:spcBef>
              <a:spcAft>
                <a:spcPts val="0"/>
              </a:spcAft>
              <a:buNone/>
            </a:pPr>
            <a:r>
              <a:rPr lang="en-US" sz="1500"/>
              <a:t>▸ MultiLabelBinarizer for genre multi-label encoding </a:t>
            </a:r>
            <a:endParaRPr sz="1500"/>
          </a:p>
          <a:p>
            <a:pPr indent="0" lvl="0" marL="0" rtl="0" algn="l">
              <a:lnSpc>
                <a:spcPct val="115000"/>
              </a:lnSpc>
              <a:spcBef>
                <a:spcPts val="0"/>
              </a:spcBef>
              <a:spcAft>
                <a:spcPts val="0"/>
              </a:spcAft>
              <a:buNone/>
            </a:pPr>
            <a:r>
              <a:rPr lang="en-US" sz="1500"/>
              <a:t>▸ StandardScaler (Z-score) for clustering features (averageRating, log_votes) </a:t>
            </a:r>
            <a:endParaRPr sz="1500"/>
          </a:p>
          <a:p>
            <a:pPr indent="0" lvl="0" marL="0" rtl="0" algn="l">
              <a:lnSpc>
                <a:spcPct val="115000"/>
              </a:lnSpc>
              <a:spcBef>
                <a:spcPts val="0"/>
              </a:spcBef>
              <a:spcAft>
                <a:spcPts val="0"/>
              </a:spcAft>
              <a:buNone/>
            </a:pPr>
            <a:r>
              <a:rPr lang="en-US" sz="1500"/>
              <a:t>▸ Min-Max normalization for popularity score (year, runtime, genre count) </a:t>
            </a:r>
            <a:endParaRPr sz="1500"/>
          </a:p>
          <a:p>
            <a:pPr indent="0" lvl="0" marL="0" rtl="0" algn="l">
              <a:lnSpc>
                <a:spcPct val="100000"/>
              </a:lnSpc>
              <a:spcBef>
                <a:spcPts val="1200"/>
              </a:spcBef>
              <a:spcAft>
                <a:spcPts val="0"/>
              </a:spcAft>
              <a:buNone/>
            </a:pPr>
            <a:r>
              <a:rPr b="1" lang="en-US" sz="1500"/>
              <a:t>Integration Key</a:t>
            </a:r>
            <a:r>
              <a:rPr lang="en-US" sz="1500"/>
              <a:t> </a:t>
            </a:r>
            <a:endParaRPr sz="1500"/>
          </a:p>
          <a:p>
            <a:pPr indent="0" lvl="0" marL="0" rtl="0" algn="l">
              <a:lnSpc>
                <a:spcPct val="115000"/>
              </a:lnSpc>
              <a:spcBef>
                <a:spcPts val="1200"/>
              </a:spcBef>
              <a:spcAft>
                <a:spcPts val="0"/>
              </a:spcAft>
              <a:buNone/>
            </a:pPr>
            <a:r>
              <a:rPr lang="en-US" sz="1500"/>
              <a:t>▸ All 7 files joined on tconst (IMDb title ID) </a:t>
            </a:r>
            <a:endParaRPr sz="1500"/>
          </a:p>
          <a:p>
            <a:pPr indent="0" lvl="0" marL="0" rtl="0" algn="l">
              <a:lnSpc>
                <a:spcPct val="115000"/>
              </a:lnSpc>
              <a:spcBef>
                <a:spcPts val="0"/>
              </a:spcBef>
              <a:spcAft>
                <a:spcPts val="0"/>
              </a:spcAft>
              <a:buNone/>
            </a:pPr>
            <a:r>
              <a:rPr lang="en-US" sz="1500"/>
              <a:t>▸ Single file load : all modules share one copy in memory </a:t>
            </a:r>
            <a:endParaRPr sz="1500"/>
          </a:p>
          <a:p>
            <a:pPr indent="0" lvl="0" marL="0" rtl="0" algn="l">
              <a:lnSpc>
                <a:spcPct val="115000"/>
              </a:lnSpc>
              <a:spcBef>
                <a:spcPts val="0"/>
              </a:spcBef>
              <a:spcAft>
                <a:spcPts val="0"/>
              </a:spcAft>
              <a:buNone/>
            </a:pPr>
            <a:r>
              <a:rPr lang="en-US" sz="1500"/>
              <a:t>▸ Large intermediates deleted with gc.collect() after each module </a:t>
            </a:r>
            <a:endParaRPr b="1" sz="1500">
              <a:solidFill>
                <a:srgbClr val="0D1B2A"/>
              </a:solidFill>
            </a:endParaRPr>
          </a:p>
        </p:txBody>
      </p:sp>
      <p:pic>
        <p:nvPicPr>
          <p:cNvPr id="98" name="Google Shape;98;p12"/>
          <p:cNvPicPr preferRelativeResize="0"/>
          <p:nvPr/>
        </p:nvPicPr>
        <p:blipFill>
          <a:blip r:embed="rId3">
            <a:alphaModFix/>
          </a:blip>
          <a:stretch>
            <a:fillRect/>
          </a:stretch>
        </p:blipFill>
        <p:spPr>
          <a:xfrm>
            <a:off x="8144062" y="1384675"/>
            <a:ext cx="999950" cy="3392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600"/>
              </a:spcAft>
              <a:buNone/>
            </a:pPr>
            <a:r>
              <a:rPr lang="en-US">
                <a:highlight>
                  <a:srgbClr val="FFFFFF"/>
                </a:highlight>
              </a:rPr>
              <a:t>Task 1: </a:t>
            </a:r>
            <a:endParaRPr/>
          </a:p>
        </p:txBody>
      </p:sp>
      <p:sp>
        <p:nvSpPr>
          <p:cNvPr id="105" name="Google Shape;105;p13"/>
          <p:cNvSpPr txBox="1"/>
          <p:nvPr>
            <p:ph idx="1" type="body"/>
          </p:nvPr>
        </p:nvSpPr>
        <p:spPr>
          <a:xfrm>
            <a:off x="77025" y="1090074"/>
            <a:ext cx="8768100" cy="709200"/>
          </a:xfrm>
          <a:prstGeom prst="rect">
            <a:avLst/>
          </a:prstGeom>
        </p:spPr>
        <p:txBody>
          <a:bodyPr anchorCtr="0" anchor="t" bIns="45700" lIns="91425" spcFirstLastPara="1" rIns="91425" wrap="square" tIns="45700">
            <a:noAutofit/>
          </a:bodyPr>
          <a:lstStyle/>
          <a:p>
            <a:pPr indent="-355600" lvl="0" marL="457200" rtl="0" algn="l">
              <a:spcBef>
                <a:spcPts val="480"/>
              </a:spcBef>
              <a:spcAft>
                <a:spcPts val="0"/>
              </a:spcAft>
              <a:buSzPts val="2000"/>
              <a:buChar char="●"/>
            </a:pPr>
            <a:r>
              <a:rPr lang="en-US" sz="2000"/>
              <a:t>episode + basics files — handle TV series separately, recommend what to watch next after finishing a season or a show</a:t>
            </a:r>
            <a:endParaRPr sz="2000"/>
          </a:p>
          <a:p>
            <a:pPr indent="0" lvl="0" marL="457200" rtl="0" algn="l">
              <a:spcBef>
                <a:spcPts val="480"/>
              </a:spcBef>
              <a:spcAft>
                <a:spcPts val="0"/>
              </a:spcAft>
              <a:buNone/>
            </a:pPr>
            <a:r>
              <a:t/>
            </a:r>
            <a:endParaRPr sz="2000"/>
          </a:p>
          <a:p>
            <a:pPr indent="0" lvl="0" marL="457200" rtl="0" algn="l">
              <a:spcBef>
                <a:spcPts val="480"/>
              </a:spcBef>
              <a:spcAft>
                <a:spcPts val="0"/>
              </a:spcAft>
              <a:buNone/>
            </a:pPr>
            <a:r>
              <a:t/>
            </a:r>
            <a:endParaRPr sz="2000"/>
          </a:p>
        </p:txBody>
      </p:sp>
      <p:pic>
        <p:nvPicPr>
          <p:cNvPr id="106" name="Google Shape;106;p13"/>
          <p:cNvPicPr preferRelativeResize="0"/>
          <p:nvPr/>
        </p:nvPicPr>
        <p:blipFill>
          <a:blip r:embed="rId3">
            <a:alphaModFix/>
          </a:blip>
          <a:stretch>
            <a:fillRect/>
          </a:stretch>
        </p:blipFill>
        <p:spPr>
          <a:xfrm>
            <a:off x="2496375" y="1799275"/>
            <a:ext cx="4493499" cy="4823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Exploratory Data Analysis(EDA)</a:t>
            </a:r>
            <a:endParaRPr/>
          </a:p>
        </p:txBody>
      </p:sp>
      <p:sp>
        <p:nvSpPr>
          <p:cNvPr id="113" name="Google Shape;113;p14"/>
          <p:cNvSpPr txBox="1"/>
          <p:nvPr>
            <p:ph idx="1" type="body"/>
          </p:nvPr>
        </p:nvSpPr>
        <p:spPr>
          <a:xfrm>
            <a:off x="180650" y="1303725"/>
            <a:ext cx="8565000" cy="1629600"/>
          </a:xfrm>
          <a:prstGeom prst="rect">
            <a:avLst/>
          </a:prstGeom>
        </p:spPr>
        <p:txBody>
          <a:bodyPr anchorCtr="0" anchor="ctr" bIns="45700" lIns="91425" spcFirstLastPara="1" rIns="91425" wrap="square" tIns="45700">
            <a:noAutofit/>
          </a:bodyPr>
          <a:lstStyle/>
          <a:p>
            <a:pPr indent="0" lvl="0" marL="0" rtl="0" algn="just">
              <a:spcBef>
                <a:spcPts val="480"/>
              </a:spcBef>
              <a:spcAft>
                <a:spcPts val="0"/>
              </a:spcAft>
              <a:buNone/>
            </a:pPr>
            <a:r>
              <a:rPr lang="en-US" sz="2000"/>
              <a:t>EDA helps understand dataset patterns.</a:t>
            </a:r>
            <a:endParaRPr sz="2000"/>
          </a:p>
          <a:p>
            <a:pPr indent="0" lvl="0" marL="0" rtl="0" algn="just">
              <a:spcBef>
                <a:spcPts val="480"/>
              </a:spcBef>
              <a:spcAft>
                <a:spcPts val="0"/>
              </a:spcAft>
              <a:buNone/>
            </a:pPr>
            <a:r>
              <a:rPr lang="en-US" sz="2000"/>
              <a:t>Key Observations:</a:t>
            </a:r>
            <a:endParaRPr sz="2000"/>
          </a:p>
          <a:p>
            <a:pPr indent="-355600" lvl="0" marL="457200" rtl="0" algn="just">
              <a:spcBef>
                <a:spcPts val="480"/>
              </a:spcBef>
              <a:spcAft>
                <a:spcPts val="0"/>
              </a:spcAft>
              <a:buSzPts val="2000"/>
              <a:buAutoNum type="arabicPeriod"/>
            </a:pPr>
            <a:r>
              <a:rPr lang="en-US" sz="2000"/>
              <a:t>Some genres appear more frequently.</a:t>
            </a:r>
            <a:endParaRPr sz="2000"/>
          </a:p>
          <a:p>
            <a:pPr indent="-355600" lvl="0" marL="457200" rtl="0" algn="just">
              <a:spcBef>
                <a:spcPts val="0"/>
              </a:spcBef>
              <a:spcAft>
                <a:spcPts val="0"/>
              </a:spcAft>
              <a:buSzPts val="2000"/>
              <a:buAutoNum type="arabicPeriod"/>
            </a:pPr>
            <a:r>
              <a:rPr lang="en-US" sz="2000"/>
              <a:t>Movie production increases in recent years.</a:t>
            </a:r>
            <a:endParaRPr sz="2000"/>
          </a:p>
        </p:txBody>
      </p:sp>
      <p:pic>
        <p:nvPicPr>
          <p:cNvPr id="114" name="Google Shape;114;p14"/>
          <p:cNvPicPr preferRelativeResize="0"/>
          <p:nvPr/>
        </p:nvPicPr>
        <p:blipFill>
          <a:blip r:embed="rId3">
            <a:alphaModFix/>
          </a:blip>
          <a:stretch>
            <a:fillRect/>
          </a:stretch>
        </p:blipFill>
        <p:spPr>
          <a:xfrm>
            <a:off x="180650" y="3293825"/>
            <a:ext cx="4284574" cy="3093149"/>
          </a:xfrm>
          <a:prstGeom prst="rect">
            <a:avLst/>
          </a:prstGeom>
          <a:noFill/>
          <a:ln>
            <a:noFill/>
          </a:ln>
        </p:spPr>
      </p:pic>
      <p:pic>
        <p:nvPicPr>
          <p:cNvPr id="115" name="Google Shape;115;p14"/>
          <p:cNvPicPr preferRelativeResize="0"/>
          <p:nvPr/>
        </p:nvPicPr>
        <p:blipFill>
          <a:blip r:embed="rId4">
            <a:alphaModFix/>
          </a:blip>
          <a:stretch>
            <a:fillRect/>
          </a:stretch>
        </p:blipFill>
        <p:spPr>
          <a:xfrm>
            <a:off x="4644225" y="3293825"/>
            <a:ext cx="4239151" cy="30931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Models Used</a:t>
            </a:r>
            <a:endParaRPr/>
          </a:p>
        </p:txBody>
      </p:sp>
      <p:sp>
        <p:nvSpPr>
          <p:cNvPr id="122" name="Google Shape;122;p15"/>
          <p:cNvSpPr txBox="1"/>
          <p:nvPr>
            <p:ph idx="1" type="body"/>
          </p:nvPr>
        </p:nvSpPr>
        <p:spPr>
          <a:xfrm>
            <a:off x="144600" y="1047225"/>
            <a:ext cx="8854800" cy="5616000"/>
          </a:xfrm>
          <a:prstGeom prst="rect">
            <a:avLst/>
          </a:prstGeom>
        </p:spPr>
        <p:txBody>
          <a:bodyPr anchorCtr="0" anchor="ctr" bIns="45700" lIns="91425" spcFirstLastPara="1" rIns="91425" wrap="square" tIns="45700">
            <a:noAutofit/>
          </a:bodyPr>
          <a:lstStyle/>
          <a:p>
            <a:pPr indent="-355600" lvl="0" marL="457200" rtl="0" algn="just">
              <a:spcBef>
                <a:spcPts val="480"/>
              </a:spcBef>
              <a:spcAft>
                <a:spcPts val="0"/>
              </a:spcAft>
              <a:buSzPts val="2000"/>
              <a:buAutoNum type="arabicPeriod"/>
            </a:pPr>
            <a:r>
              <a:rPr lang="en-US" sz="2000"/>
              <a:t>TF-IDF: </a:t>
            </a:r>
            <a:endParaRPr sz="2000"/>
          </a:p>
          <a:p>
            <a:pPr indent="-355600" lvl="0" marL="914400" rtl="0" algn="just">
              <a:spcBef>
                <a:spcPts val="0"/>
              </a:spcBef>
              <a:spcAft>
                <a:spcPts val="0"/>
              </a:spcAft>
              <a:buSzPts val="2000"/>
              <a:buChar char="●"/>
            </a:pPr>
            <a:r>
              <a:rPr lang="en-US" sz="2000"/>
              <a:t>Converts movie descriptions into numerical vectors.</a:t>
            </a:r>
            <a:endParaRPr sz="2000"/>
          </a:p>
          <a:p>
            <a:pPr indent="-355600" lvl="0" marL="914400" rtl="0" algn="just">
              <a:spcBef>
                <a:spcPts val="0"/>
              </a:spcBef>
              <a:spcAft>
                <a:spcPts val="0"/>
              </a:spcAft>
              <a:buSzPts val="2000"/>
              <a:buChar char="●"/>
            </a:pPr>
            <a:r>
              <a:rPr lang="en-US" sz="2000"/>
              <a:t>Highlights important words.</a:t>
            </a:r>
            <a:endParaRPr sz="2000"/>
          </a:p>
          <a:p>
            <a:pPr indent="-355600" lvl="0" marL="457200" rtl="0" algn="just">
              <a:spcBef>
                <a:spcPts val="0"/>
              </a:spcBef>
              <a:spcAft>
                <a:spcPts val="0"/>
              </a:spcAft>
              <a:buSzPts val="2000"/>
              <a:buAutoNum type="arabicPeriod"/>
            </a:pPr>
            <a:r>
              <a:rPr lang="en-US" sz="2000"/>
              <a:t>Cosine Similarity:</a:t>
            </a:r>
            <a:endParaRPr sz="2000"/>
          </a:p>
          <a:p>
            <a:pPr indent="-355600" lvl="0" marL="914400" rtl="0" algn="just">
              <a:spcBef>
                <a:spcPts val="0"/>
              </a:spcBef>
              <a:spcAft>
                <a:spcPts val="0"/>
              </a:spcAft>
              <a:buSzPts val="2000"/>
              <a:buChar char="●"/>
            </a:pPr>
            <a:r>
              <a:rPr lang="en-US" sz="2000"/>
              <a:t>Measures similarity between movie vectors.</a:t>
            </a:r>
            <a:endParaRPr sz="2000"/>
          </a:p>
          <a:p>
            <a:pPr indent="-355600" lvl="0" marL="914400" rtl="0" algn="just">
              <a:spcBef>
                <a:spcPts val="0"/>
              </a:spcBef>
              <a:spcAft>
                <a:spcPts val="0"/>
              </a:spcAft>
              <a:buSzPts val="2000"/>
              <a:buChar char="●"/>
            </a:pPr>
            <a:r>
              <a:rPr lang="en-US" sz="2000"/>
              <a:t>Used to find most similar movies.</a:t>
            </a:r>
            <a:endParaRPr sz="2000"/>
          </a:p>
          <a:p>
            <a:pPr indent="-355600" lvl="0" marL="457200" rtl="0" algn="just">
              <a:spcBef>
                <a:spcPts val="0"/>
              </a:spcBef>
              <a:spcAft>
                <a:spcPts val="0"/>
              </a:spcAft>
              <a:buSzPts val="2000"/>
              <a:buAutoNum type="arabicPeriod"/>
            </a:pPr>
            <a:r>
              <a:rPr lang="en-US" sz="2000"/>
              <a:t>K-Means Clustering (K=12):</a:t>
            </a:r>
            <a:endParaRPr sz="2000"/>
          </a:p>
          <a:p>
            <a:pPr indent="-355600" lvl="0" marL="914400" rtl="0" algn="just">
              <a:spcBef>
                <a:spcPts val="0"/>
              </a:spcBef>
              <a:spcAft>
                <a:spcPts val="0"/>
              </a:spcAft>
              <a:buSzPts val="2000"/>
              <a:buChar char="●"/>
            </a:pPr>
            <a:r>
              <a:rPr lang="en-US" sz="2000"/>
              <a:t>Groups movies into clusters based on features.</a:t>
            </a:r>
            <a:endParaRPr sz="2000"/>
          </a:p>
          <a:p>
            <a:pPr indent="-355600" lvl="0" marL="914400" rtl="0" algn="just">
              <a:spcBef>
                <a:spcPts val="0"/>
              </a:spcBef>
              <a:spcAft>
                <a:spcPts val="0"/>
              </a:spcAft>
              <a:buSzPts val="2000"/>
              <a:buChar char="●"/>
            </a:pPr>
            <a:r>
              <a:rPr lang="en-US" sz="2000"/>
              <a:t>Movies in the same cluster are recommended together.</a:t>
            </a:r>
            <a:endParaRPr sz="2000"/>
          </a:p>
          <a:p>
            <a:pPr indent="-355600" lvl="0" marL="457200" rtl="0" algn="just">
              <a:spcBef>
                <a:spcPts val="0"/>
              </a:spcBef>
              <a:spcAft>
                <a:spcPts val="0"/>
              </a:spcAft>
              <a:buSzPts val="2000"/>
              <a:buAutoNum type="arabicPeriod"/>
            </a:pPr>
            <a:r>
              <a:rPr lang="en-US" sz="2000"/>
              <a:t>Apriori Algorithm (min_support = 0.02, min_confidence = 0.3):</a:t>
            </a:r>
            <a:endParaRPr sz="2000"/>
          </a:p>
          <a:p>
            <a:pPr indent="-355600" lvl="0" marL="914400" rtl="0" algn="just">
              <a:spcBef>
                <a:spcPts val="0"/>
              </a:spcBef>
              <a:spcAft>
                <a:spcPts val="0"/>
              </a:spcAft>
              <a:buSzPts val="2000"/>
              <a:buChar char="●"/>
            </a:pPr>
            <a:r>
              <a:rPr lang="en-US" sz="2000"/>
              <a:t>Finds frequent genre combinations.</a:t>
            </a:r>
            <a:endParaRPr sz="2000"/>
          </a:p>
          <a:p>
            <a:pPr indent="-355600" lvl="0" marL="914400" rtl="0" algn="just">
              <a:spcBef>
                <a:spcPts val="0"/>
              </a:spcBef>
              <a:spcAft>
                <a:spcPts val="0"/>
              </a:spcAft>
              <a:buSzPts val="2000"/>
              <a:buChar char="●"/>
            </a:pPr>
            <a:r>
              <a:rPr lang="en-US" sz="2000"/>
              <a:t>Generates association rule like Action -&gt; Adventure</a:t>
            </a:r>
            <a:endParaRPr sz="1100"/>
          </a:p>
          <a:p>
            <a:pPr indent="-355600" lvl="0" marL="457200" rtl="0" algn="just">
              <a:spcBef>
                <a:spcPts val="0"/>
              </a:spcBef>
              <a:spcAft>
                <a:spcPts val="0"/>
              </a:spcAft>
              <a:buSzPts val="2000"/>
              <a:buAutoNum type="arabicPeriod"/>
            </a:pPr>
            <a:r>
              <a:rPr lang="en-US" sz="2000"/>
              <a:t>Popularity-Based Filtering: </a:t>
            </a:r>
            <a:endParaRPr sz="2000"/>
          </a:p>
          <a:p>
            <a:pPr indent="-355600" lvl="0" marL="914400" rtl="0" algn="just">
              <a:spcBef>
                <a:spcPts val="0"/>
              </a:spcBef>
              <a:spcAft>
                <a:spcPts val="0"/>
              </a:spcAft>
              <a:buSzPts val="2000"/>
              <a:buChar char="●"/>
            </a:pPr>
            <a:r>
              <a:rPr lang="en-US" sz="2000"/>
              <a:t>Acts as a cold-start solution when no user history is available.</a:t>
            </a:r>
            <a:endParaRPr sz="2000"/>
          </a:p>
          <a:p>
            <a:pPr indent="-355600" lvl="0" marL="914400" rtl="0" algn="just">
              <a:spcBef>
                <a:spcPts val="0"/>
              </a:spcBef>
              <a:spcAft>
                <a:spcPts val="0"/>
              </a:spcAft>
              <a:buSzPts val="2000"/>
              <a:buChar char="●"/>
            </a:pPr>
            <a:r>
              <a:rPr lang="en-US" sz="2000"/>
              <a:t>Supports global and genre-scoped leaderboards.</a:t>
            </a:r>
            <a:endParaRPr sz="2000"/>
          </a:p>
          <a:p>
            <a:pPr indent="-355600" lvl="0" marL="457200" rtl="0" algn="just">
              <a:spcBef>
                <a:spcPts val="0"/>
              </a:spcBef>
              <a:spcAft>
                <a:spcPts val="0"/>
              </a:spcAft>
              <a:buSzPts val="2000"/>
              <a:buAutoNum type="arabicPeriod"/>
            </a:pPr>
            <a:r>
              <a:rPr lang="en-US" sz="2000"/>
              <a:t>Hybrid Model:</a:t>
            </a:r>
            <a:endParaRPr sz="2000"/>
          </a:p>
          <a:p>
            <a:pPr indent="-355600" lvl="0" marL="914400" rtl="0" algn="just">
              <a:spcBef>
                <a:spcPts val="0"/>
              </a:spcBef>
              <a:spcAft>
                <a:spcPts val="0"/>
              </a:spcAft>
              <a:buSzPts val="2000"/>
              <a:buChar char="●"/>
            </a:pPr>
            <a:r>
              <a:rPr lang="en-US" sz="2000"/>
              <a:t>Combines similarity and </a:t>
            </a:r>
            <a:r>
              <a:rPr lang="en-US" sz="2000"/>
              <a:t>clustering</a:t>
            </a:r>
            <a:r>
              <a:rPr lang="en-US" sz="2000"/>
              <a:t> for better recommendations.</a:t>
            </a:r>
            <a:endParaRPr sz="2000"/>
          </a:p>
          <a:p>
            <a:pPr indent="0" lvl="0" marL="457200" rtl="0" algn="just">
              <a:spcBef>
                <a:spcPts val="480"/>
              </a:spcBef>
              <a:spcAft>
                <a:spcPts val="0"/>
              </a:spcAft>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type="title"/>
          </p:nvPr>
        </p:nvSpPr>
        <p:spPr>
          <a:xfrm>
            <a:off x="83000" y="0"/>
            <a:ext cx="8963400" cy="88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Recommendation system and Techniques used</a:t>
            </a:r>
            <a:endParaRPr/>
          </a:p>
        </p:txBody>
      </p:sp>
      <p:sp>
        <p:nvSpPr>
          <p:cNvPr id="129" name="Google Shape;129;p16"/>
          <p:cNvSpPr txBox="1"/>
          <p:nvPr>
            <p:ph idx="1" type="body"/>
          </p:nvPr>
        </p:nvSpPr>
        <p:spPr>
          <a:xfrm>
            <a:off x="45000" y="1065325"/>
            <a:ext cx="9054000" cy="56841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sz="2000"/>
              <a:t>Steps:</a:t>
            </a:r>
            <a:endParaRPr sz="2000"/>
          </a:p>
          <a:p>
            <a:pPr indent="-355600" lvl="0" marL="457200" rtl="0" algn="l">
              <a:spcBef>
                <a:spcPts val="480"/>
              </a:spcBef>
              <a:spcAft>
                <a:spcPts val="0"/>
              </a:spcAft>
              <a:buSzPts val="2000"/>
              <a:buAutoNum type="arabicPeriod"/>
            </a:pPr>
            <a:r>
              <a:rPr lang="en-US" sz="2000"/>
              <a:t>User enters movie title.</a:t>
            </a:r>
            <a:endParaRPr sz="2000"/>
          </a:p>
          <a:p>
            <a:pPr indent="-355600" lvl="0" marL="457200" rtl="0" algn="l">
              <a:spcBef>
                <a:spcPts val="0"/>
              </a:spcBef>
              <a:spcAft>
                <a:spcPts val="0"/>
              </a:spcAft>
              <a:buSzPts val="2000"/>
              <a:buAutoNum type="arabicPeriod"/>
            </a:pPr>
            <a:r>
              <a:rPr lang="en-US" sz="2000"/>
              <a:t>System processes movie features.</a:t>
            </a:r>
            <a:endParaRPr sz="2000"/>
          </a:p>
          <a:p>
            <a:pPr indent="-355600" lvl="0" marL="457200" rtl="0" algn="l">
              <a:spcBef>
                <a:spcPts val="0"/>
              </a:spcBef>
              <a:spcAft>
                <a:spcPts val="0"/>
              </a:spcAft>
              <a:buSzPts val="2000"/>
              <a:buAutoNum type="arabicPeriod"/>
            </a:pPr>
            <a:r>
              <a:rPr lang="en-US" sz="2000"/>
              <a:t>Similarity calculation performed.</a:t>
            </a:r>
            <a:endParaRPr sz="2000"/>
          </a:p>
          <a:p>
            <a:pPr indent="-355600" lvl="0" marL="457200" rtl="0" algn="l">
              <a:spcBef>
                <a:spcPts val="0"/>
              </a:spcBef>
              <a:spcAft>
                <a:spcPts val="0"/>
              </a:spcAft>
              <a:buSzPts val="2000"/>
              <a:buAutoNum type="arabicPeriod"/>
            </a:pPr>
            <a:r>
              <a:rPr lang="en-US" sz="2000"/>
              <a:t>Top recommended movies generated.</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rPr lang="en-US" sz="2000"/>
              <a:t>These techniques help group similar movies and generate recommendations.</a:t>
            </a:r>
            <a:endParaRPr sz="2000"/>
          </a:p>
          <a:p>
            <a:pPr indent="0" lvl="0" marL="0" rtl="0" algn="l">
              <a:spcBef>
                <a:spcPts val="480"/>
              </a:spcBef>
              <a:spcAft>
                <a:spcPts val="0"/>
              </a:spcAft>
              <a:buNone/>
            </a:pPr>
            <a:r>
              <a:t/>
            </a:r>
            <a:endParaRPr sz="2000"/>
          </a:p>
        </p:txBody>
      </p:sp>
      <p:pic>
        <p:nvPicPr>
          <p:cNvPr id="130" name="Google Shape;130;p16"/>
          <p:cNvPicPr preferRelativeResize="0"/>
          <p:nvPr/>
        </p:nvPicPr>
        <p:blipFill>
          <a:blip r:embed="rId3">
            <a:alphaModFix/>
          </a:blip>
          <a:stretch>
            <a:fillRect/>
          </a:stretch>
        </p:blipFill>
        <p:spPr>
          <a:xfrm>
            <a:off x="1037900" y="2873200"/>
            <a:ext cx="6894001" cy="2619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Model Comparison</a:t>
            </a:r>
            <a:endParaRPr/>
          </a:p>
        </p:txBody>
      </p:sp>
      <p:graphicFrame>
        <p:nvGraphicFramePr>
          <p:cNvPr id="137" name="Google Shape;137;p17"/>
          <p:cNvGraphicFramePr/>
          <p:nvPr/>
        </p:nvGraphicFramePr>
        <p:xfrm>
          <a:off x="375275" y="1465450"/>
          <a:ext cx="3000000" cy="3000000"/>
        </p:xfrm>
        <a:graphic>
          <a:graphicData uri="http://schemas.openxmlformats.org/drawingml/2006/table">
            <a:tbl>
              <a:tblPr>
                <a:noFill/>
                <a:tableStyleId>{34108515-2D9B-4480-8E0F-6BD9CE425BC0}</a:tableStyleId>
              </a:tblPr>
              <a:tblGrid>
                <a:gridCol w="4147050"/>
                <a:gridCol w="4147050"/>
              </a:tblGrid>
              <a:tr h="697200">
                <a:tc>
                  <a:txBody>
                    <a:bodyPr/>
                    <a:lstStyle/>
                    <a:p>
                      <a:pPr indent="0" lvl="0" marL="0" rtl="0" algn="just">
                        <a:spcBef>
                          <a:spcPts val="0"/>
                        </a:spcBef>
                        <a:spcAft>
                          <a:spcPts val="0"/>
                        </a:spcAft>
                        <a:buNone/>
                      </a:pPr>
                      <a:r>
                        <a:rPr b="1" lang="en-US" sz="2000"/>
                        <a:t>Performance</a:t>
                      </a:r>
                      <a:endParaRPr b="1" sz="2000"/>
                    </a:p>
                  </a:txBody>
                  <a:tcPr marT="91425" marB="91425" marR="91425" marL="91425"/>
                </a:tc>
                <a:tc>
                  <a:txBody>
                    <a:bodyPr/>
                    <a:lstStyle/>
                    <a:p>
                      <a:pPr indent="0" lvl="0" marL="0" rtl="0" algn="just">
                        <a:spcBef>
                          <a:spcPts val="0"/>
                        </a:spcBef>
                        <a:spcAft>
                          <a:spcPts val="0"/>
                        </a:spcAft>
                        <a:buNone/>
                      </a:pPr>
                      <a:r>
                        <a:rPr b="1" lang="en-US" sz="2000"/>
                        <a:t>Model</a:t>
                      </a:r>
                      <a:endParaRPr b="1" sz="2000"/>
                    </a:p>
                  </a:txBody>
                  <a:tcPr marT="91425" marB="91425" marR="91425" marL="91425"/>
                </a:tc>
              </a:tr>
              <a:tr h="697200">
                <a:tc>
                  <a:txBody>
                    <a:bodyPr/>
                    <a:lstStyle/>
                    <a:p>
                      <a:pPr indent="0" lvl="0" marL="0" rtl="0" algn="just">
                        <a:spcBef>
                          <a:spcPts val="0"/>
                        </a:spcBef>
                        <a:spcAft>
                          <a:spcPts val="0"/>
                        </a:spcAft>
                        <a:buNone/>
                      </a:pPr>
                      <a:r>
                        <a:rPr lang="en-US" sz="2000"/>
                        <a:t>Best Overall Model</a:t>
                      </a:r>
                      <a:endParaRPr sz="2000"/>
                    </a:p>
                  </a:txBody>
                  <a:tcPr marT="91425" marB="91425" marR="91425" marL="91425"/>
                </a:tc>
                <a:tc>
                  <a:txBody>
                    <a:bodyPr/>
                    <a:lstStyle/>
                    <a:p>
                      <a:pPr indent="0" lvl="0" marL="0" rtl="0" algn="just">
                        <a:spcBef>
                          <a:spcPts val="0"/>
                        </a:spcBef>
                        <a:spcAft>
                          <a:spcPts val="0"/>
                        </a:spcAft>
                        <a:buNone/>
                      </a:pPr>
                      <a:r>
                        <a:rPr lang="en-US" sz="2000"/>
                        <a:t>Hybrid Recommender (8.5/10)</a:t>
                      </a:r>
                      <a:endParaRPr sz="2000"/>
                    </a:p>
                  </a:txBody>
                  <a:tcPr marT="91425" marB="91425" marR="91425" marL="91425"/>
                </a:tc>
              </a:tr>
              <a:tr h="697200">
                <a:tc>
                  <a:txBody>
                    <a:bodyPr/>
                    <a:lstStyle/>
                    <a:p>
                      <a:pPr indent="0" lvl="0" marL="0" rtl="0" algn="just">
                        <a:spcBef>
                          <a:spcPts val="0"/>
                        </a:spcBef>
                        <a:spcAft>
                          <a:spcPts val="0"/>
                        </a:spcAft>
                        <a:buNone/>
                      </a:pPr>
                      <a:r>
                        <a:rPr lang="en-US" sz="2000"/>
                        <a:t>Best Personalisation</a:t>
                      </a:r>
                      <a:endParaRPr sz="2000"/>
                    </a:p>
                  </a:txBody>
                  <a:tcPr marT="91425" marB="91425" marR="91425" marL="91425"/>
                </a:tc>
                <a:tc>
                  <a:txBody>
                    <a:bodyPr/>
                    <a:lstStyle/>
                    <a:p>
                      <a:pPr indent="0" lvl="0" marL="0" rtl="0" algn="just">
                        <a:spcBef>
                          <a:spcPts val="0"/>
                        </a:spcBef>
                        <a:spcAft>
                          <a:spcPts val="0"/>
                        </a:spcAft>
                        <a:buNone/>
                      </a:pPr>
                      <a:r>
                        <a:rPr lang="en-US" sz="2000"/>
                        <a:t>Content-Based Filtering (7.5/10)</a:t>
                      </a:r>
                      <a:endParaRPr sz="2000"/>
                    </a:p>
                  </a:txBody>
                  <a:tcPr marT="91425" marB="91425" marR="91425" marL="91425"/>
                </a:tc>
              </a:tr>
              <a:tr h="697200">
                <a:tc>
                  <a:txBody>
                    <a:bodyPr/>
                    <a:lstStyle/>
                    <a:p>
                      <a:pPr indent="0" lvl="0" marL="0" rtl="0" algn="just">
                        <a:spcBef>
                          <a:spcPts val="0"/>
                        </a:spcBef>
                        <a:spcAft>
                          <a:spcPts val="0"/>
                        </a:spcAft>
                        <a:buNone/>
                      </a:pPr>
                      <a:r>
                        <a:rPr lang="en-US" sz="2000"/>
                        <a:t>Best Explainability</a:t>
                      </a:r>
                      <a:endParaRPr sz="2000"/>
                    </a:p>
                  </a:txBody>
                  <a:tcPr marT="91425" marB="91425" marR="91425" marL="91425"/>
                </a:tc>
                <a:tc>
                  <a:txBody>
                    <a:bodyPr/>
                    <a:lstStyle/>
                    <a:p>
                      <a:pPr indent="0" lvl="0" marL="0" rtl="0" algn="just">
                        <a:spcBef>
                          <a:spcPts val="0"/>
                        </a:spcBef>
                        <a:spcAft>
                          <a:spcPts val="0"/>
                        </a:spcAft>
                        <a:buNone/>
                      </a:pPr>
                      <a:r>
                        <a:rPr lang="en-US" sz="2000"/>
                        <a:t>Association Rules (7.0/10)</a:t>
                      </a:r>
                      <a:endParaRPr sz="2000"/>
                    </a:p>
                  </a:txBody>
                  <a:tcPr marT="91425" marB="91425" marR="91425" marL="91425"/>
                </a:tc>
              </a:tr>
              <a:tr h="697200">
                <a:tc>
                  <a:txBody>
                    <a:bodyPr/>
                    <a:lstStyle/>
                    <a:p>
                      <a:pPr indent="0" lvl="0" marL="0" rtl="0" algn="just">
                        <a:spcBef>
                          <a:spcPts val="0"/>
                        </a:spcBef>
                        <a:spcAft>
                          <a:spcPts val="0"/>
                        </a:spcAft>
                        <a:buNone/>
                      </a:pPr>
                      <a:r>
                        <a:rPr lang="en-US" sz="2000"/>
                        <a:t>Most Diverse Output</a:t>
                      </a:r>
                      <a:endParaRPr sz="2000"/>
                    </a:p>
                  </a:txBody>
                  <a:tcPr marT="91425" marB="91425" marR="91425" marL="91425"/>
                </a:tc>
                <a:tc>
                  <a:txBody>
                    <a:bodyPr/>
                    <a:lstStyle/>
                    <a:p>
                      <a:pPr indent="0" lvl="0" marL="0" rtl="0" algn="just">
                        <a:spcBef>
                          <a:spcPts val="0"/>
                        </a:spcBef>
                        <a:spcAft>
                          <a:spcPts val="0"/>
                        </a:spcAft>
                        <a:buNone/>
                      </a:pPr>
                      <a:r>
                        <a:rPr lang="en-US" sz="2000"/>
                        <a:t>K-Means Clustering (6.5/10)</a:t>
                      </a:r>
                      <a:endParaRPr sz="2000"/>
                    </a:p>
                  </a:txBody>
                  <a:tcPr marT="91425" marB="91425" marR="91425" marL="91425"/>
                </a:tc>
              </a:tr>
              <a:tr h="697200">
                <a:tc>
                  <a:txBody>
                    <a:bodyPr/>
                    <a:lstStyle/>
                    <a:p>
                      <a:pPr indent="0" lvl="0" marL="0" rtl="0" algn="just">
                        <a:spcBef>
                          <a:spcPts val="0"/>
                        </a:spcBef>
                        <a:spcAft>
                          <a:spcPts val="0"/>
                        </a:spcAft>
                        <a:buNone/>
                      </a:pPr>
                      <a:r>
                        <a:rPr lang="en-US" sz="2000"/>
                        <a:t>Fastest / Cold-Start</a:t>
                      </a:r>
                      <a:endParaRPr sz="2000"/>
                    </a:p>
                  </a:txBody>
                  <a:tcPr marT="91425" marB="91425" marR="91425" marL="91425"/>
                </a:tc>
                <a:tc>
                  <a:txBody>
                    <a:bodyPr/>
                    <a:lstStyle/>
                    <a:p>
                      <a:pPr indent="0" lvl="0" marL="0" rtl="0" algn="just">
                        <a:spcBef>
                          <a:spcPts val="0"/>
                        </a:spcBef>
                        <a:spcAft>
                          <a:spcPts val="0"/>
                        </a:spcAft>
                        <a:buNone/>
                      </a:pPr>
                      <a:r>
                        <a:rPr lang="en-US" sz="2000"/>
                        <a:t>Popularity-Based (6.0/10)</a:t>
                      </a:r>
                      <a:endParaRPr sz="2000"/>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144" name="Google Shape;144;p18"/>
          <p:cNvPicPr preferRelativeResize="0"/>
          <p:nvPr/>
        </p:nvPicPr>
        <p:blipFill>
          <a:blip r:embed="rId3">
            <a:alphaModFix/>
          </a:blip>
          <a:stretch>
            <a:fillRect/>
          </a:stretch>
        </p:blipFill>
        <p:spPr>
          <a:xfrm>
            <a:off x="640575" y="1169225"/>
            <a:ext cx="7715251" cy="3719925"/>
          </a:xfrm>
          <a:prstGeom prst="rect">
            <a:avLst/>
          </a:prstGeom>
          <a:noFill/>
          <a:ln>
            <a:noFill/>
          </a:ln>
        </p:spPr>
      </p:pic>
      <p:sp>
        <p:nvSpPr>
          <p:cNvPr id="145" name="Google Shape;145;p18"/>
          <p:cNvSpPr txBox="1"/>
          <p:nvPr>
            <p:ph idx="1" type="body"/>
          </p:nvPr>
        </p:nvSpPr>
        <p:spPr>
          <a:xfrm>
            <a:off x="507175" y="4952500"/>
            <a:ext cx="7792200" cy="1328400"/>
          </a:xfrm>
          <a:prstGeom prst="rect">
            <a:avLst/>
          </a:prstGeom>
        </p:spPr>
        <p:txBody>
          <a:bodyPr anchorCtr="0" anchor="t" bIns="45700" lIns="91425" spcFirstLastPara="1" rIns="91425" wrap="square" tIns="45700">
            <a:noAutofit/>
          </a:bodyPr>
          <a:lstStyle/>
          <a:p>
            <a:pPr indent="0" lvl="0" marL="0" rtl="0" algn="just">
              <a:spcBef>
                <a:spcPts val="480"/>
              </a:spcBef>
              <a:spcAft>
                <a:spcPts val="0"/>
              </a:spcAft>
              <a:buNone/>
            </a:pPr>
            <a:r>
              <a:rPr lang="en-US" sz="2000"/>
              <a:t>The Hybrid Recommender is the strongest model for real-world deployment because it combines the personalisation power of TF-IDF content based filtering with the reliability of popularity-based ranking.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Task 2 </a:t>
            </a:r>
            <a:endParaRPr/>
          </a:p>
        </p:txBody>
      </p:sp>
      <p:sp>
        <p:nvSpPr>
          <p:cNvPr id="152" name="Google Shape;152;p19"/>
          <p:cNvSpPr txBox="1"/>
          <p:nvPr>
            <p:ph idx="1" type="body"/>
          </p:nvPr>
        </p:nvSpPr>
        <p:spPr>
          <a:xfrm>
            <a:off x="180650" y="1039125"/>
            <a:ext cx="8537100" cy="263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700"/>
              <a:t>Content-Based Filtering, Implicit Collaborative Filtering, &amp;     k-Means Clustering with Viewer Persona</a:t>
            </a:r>
            <a:endParaRPr b="1" sz="1400"/>
          </a:p>
          <a:p>
            <a:pPr indent="0" lvl="0" marL="0" rtl="0" algn="l">
              <a:spcBef>
                <a:spcPts val="480"/>
              </a:spcBef>
              <a:spcAft>
                <a:spcPts val="0"/>
              </a:spcAft>
              <a:buClr>
                <a:schemeClr val="dk1"/>
              </a:buClr>
              <a:buSzPts val="1100"/>
              <a:buFont typeface="Arial"/>
              <a:buNone/>
            </a:pPr>
            <a:r>
              <a:rPr b="1" lang="en-US" sz="1400"/>
              <a:t>Files Used:</a:t>
            </a:r>
            <a:r>
              <a:rPr lang="en-US" sz="1400"/>
              <a:t> title.basics.tsv, title.ratings.tsv, title.principals.tsv</a:t>
            </a:r>
            <a:endParaRPr sz="1400"/>
          </a:p>
          <a:p>
            <a:pPr indent="0" lvl="0" marL="0" rtl="0" algn="l">
              <a:spcBef>
                <a:spcPts val="480"/>
              </a:spcBef>
              <a:spcAft>
                <a:spcPts val="0"/>
              </a:spcAft>
              <a:buNone/>
            </a:pPr>
            <a:r>
              <a:rPr b="1" lang="en-US" sz="1400"/>
              <a:t>Attributes used :</a:t>
            </a:r>
            <a:r>
              <a:rPr lang="en-US" sz="1050">
                <a:solidFill>
                  <a:srgbClr val="9AA0A6"/>
                </a:solidFill>
                <a:latin typeface="Roboto Mono"/>
                <a:ea typeface="Roboto Mono"/>
                <a:cs typeface="Roboto Mono"/>
                <a:sym typeface="Roboto Mono"/>
              </a:rPr>
              <a:t> </a:t>
            </a:r>
            <a:endParaRPr sz="1050">
              <a:solidFill>
                <a:srgbClr val="9AA0A6"/>
              </a:solidFill>
              <a:latin typeface="Roboto Mono"/>
              <a:ea typeface="Roboto Mono"/>
              <a:cs typeface="Roboto Mono"/>
              <a:sym typeface="Roboto Mono"/>
            </a:endParaRPr>
          </a:p>
          <a:p>
            <a:pPr indent="0" lvl="0" marL="0" rtl="0" algn="l">
              <a:spcBef>
                <a:spcPts val="480"/>
              </a:spcBef>
              <a:spcAft>
                <a:spcPts val="0"/>
              </a:spcAft>
              <a:buClr>
                <a:schemeClr val="dk1"/>
              </a:buClr>
              <a:buSzPts val="1100"/>
              <a:buFont typeface="Arial"/>
              <a:buNone/>
            </a:pPr>
            <a:r>
              <a:rPr b="1" lang="en-US" sz="1450"/>
              <a:t>basics : </a:t>
            </a:r>
            <a:r>
              <a:rPr lang="en-US" sz="1450"/>
              <a:t>['tconst', 'titleType', 'primaryTitle', 'originalTitle', 'isAdult', 'startYear', 'endYear', 'runtimeMinutes', 'genres']</a:t>
            </a:r>
            <a:endParaRPr sz="1450"/>
          </a:p>
          <a:p>
            <a:pPr indent="0" lvl="0" marL="0" rtl="0" algn="l">
              <a:spcBef>
                <a:spcPts val="480"/>
              </a:spcBef>
              <a:spcAft>
                <a:spcPts val="0"/>
              </a:spcAft>
              <a:buClr>
                <a:schemeClr val="dk1"/>
              </a:buClr>
              <a:buSzPts val="1100"/>
              <a:buFont typeface="Arial"/>
              <a:buNone/>
            </a:pPr>
            <a:r>
              <a:rPr b="1" lang="en-US" sz="1450"/>
              <a:t>principals :</a:t>
            </a:r>
            <a:r>
              <a:rPr lang="en-US" sz="1450"/>
              <a:t> ['tconst', 'ordering', 'nconst', 'category', 'job', 'characters']</a:t>
            </a:r>
            <a:endParaRPr sz="1450"/>
          </a:p>
          <a:p>
            <a:pPr indent="0" lvl="0" marL="0" rtl="0" algn="l">
              <a:spcBef>
                <a:spcPts val="480"/>
              </a:spcBef>
              <a:spcAft>
                <a:spcPts val="0"/>
              </a:spcAft>
              <a:buClr>
                <a:schemeClr val="dk1"/>
              </a:buClr>
              <a:buSzPts val="1100"/>
              <a:buFont typeface="Arial"/>
              <a:buNone/>
            </a:pPr>
            <a:r>
              <a:rPr b="1" lang="en-US" sz="1450"/>
              <a:t>ratings    :</a:t>
            </a:r>
            <a:r>
              <a:rPr lang="en-US" sz="1450"/>
              <a:t> ['tconst', 'averageRating', 'numVotes']</a:t>
            </a:r>
            <a:endParaRPr sz="2200"/>
          </a:p>
          <a:p>
            <a:pPr indent="0" lvl="0" marL="0" rtl="0" algn="l">
              <a:spcBef>
                <a:spcPts val="480"/>
              </a:spcBef>
              <a:spcAft>
                <a:spcPts val="0"/>
              </a:spcAft>
              <a:buNone/>
            </a:pPr>
            <a:r>
              <a:rPr b="1" lang="en-US" sz="2000"/>
              <a:t>Flowchart of the task:- </a:t>
            </a:r>
            <a:endParaRPr b="1" sz="2000"/>
          </a:p>
        </p:txBody>
      </p:sp>
      <p:pic>
        <p:nvPicPr>
          <p:cNvPr id="153" name="Google Shape;153;p19"/>
          <p:cNvPicPr preferRelativeResize="0"/>
          <p:nvPr/>
        </p:nvPicPr>
        <p:blipFill>
          <a:blip r:embed="rId3">
            <a:alphaModFix/>
          </a:blip>
          <a:stretch>
            <a:fillRect/>
          </a:stretch>
        </p:blipFill>
        <p:spPr>
          <a:xfrm>
            <a:off x="0" y="4064400"/>
            <a:ext cx="9144000" cy="2249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Task 2</a:t>
            </a:r>
            <a:endParaRPr/>
          </a:p>
        </p:txBody>
      </p:sp>
      <p:sp>
        <p:nvSpPr>
          <p:cNvPr id="160" name="Google Shape;160;p20"/>
          <p:cNvSpPr txBox="1"/>
          <p:nvPr>
            <p:ph idx="1" type="body"/>
          </p:nvPr>
        </p:nvSpPr>
        <p:spPr>
          <a:xfrm>
            <a:off x="180650" y="1005475"/>
            <a:ext cx="8537400" cy="5391900"/>
          </a:xfrm>
          <a:prstGeom prst="rect">
            <a:avLst/>
          </a:prstGeom>
        </p:spPr>
        <p:txBody>
          <a:bodyPr anchorCtr="0" anchor="t" bIns="45700" lIns="91425" spcFirstLastPara="1" rIns="91425" wrap="square" tIns="45700">
            <a:noAutofit/>
          </a:bodyPr>
          <a:lstStyle/>
          <a:p>
            <a:pPr indent="-336550" lvl="0" marL="457200" rtl="0" algn="l">
              <a:spcBef>
                <a:spcPts val="480"/>
              </a:spcBef>
              <a:spcAft>
                <a:spcPts val="0"/>
              </a:spcAft>
              <a:buSzPts val="1700"/>
              <a:buAutoNum type="arabicPeriod"/>
            </a:pPr>
            <a:r>
              <a:rPr b="1" lang="en-US" sz="1700"/>
              <a:t>Exploratory Data Analysis &amp;  Preprocessing :</a:t>
            </a:r>
            <a:endParaRPr b="1" sz="1700"/>
          </a:p>
          <a:p>
            <a:pPr indent="0" lvl="0" marL="0" rtl="0" algn="l">
              <a:spcBef>
                <a:spcPts val="480"/>
              </a:spcBef>
              <a:spcAft>
                <a:spcPts val="0"/>
              </a:spcAft>
              <a:buNone/>
            </a:pPr>
            <a:r>
              <a:t/>
            </a:r>
            <a:endParaRPr/>
          </a:p>
        </p:txBody>
      </p:sp>
      <p:pic>
        <p:nvPicPr>
          <p:cNvPr id="161" name="Google Shape;161;p20"/>
          <p:cNvPicPr preferRelativeResize="0"/>
          <p:nvPr/>
        </p:nvPicPr>
        <p:blipFill rotWithShape="1">
          <a:blip r:embed="rId3">
            <a:alphaModFix/>
          </a:blip>
          <a:srcRect b="6117" l="0" r="50062" t="12970"/>
          <a:stretch/>
        </p:blipFill>
        <p:spPr>
          <a:xfrm>
            <a:off x="319476" y="1418700"/>
            <a:ext cx="4785526" cy="2412800"/>
          </a:xfrm>
          <a:prstGeom prst="rect">
            <a:avLst/>
          </a:prstGeom>
          <a:noFill/>
          <a:ln>
            <a:noFill/>
          </a:ln>
        </p:spPr>
      </p:pic>
      <p:pic>
        <p:nvPicPr>
          <p:cNvPr id="162" name="Google Shape;162;p20"/>
          <p:cNvPicPr preferRelativeResize="0"/>
          <p:nvPr/>
        </p:nvPicPr>
        <p:blipFill rotWithShape="1">
          <a:blip r:embed="rId4">
            <a:alphaModFix/>
          </a:blip>
          <a:srcRect b="51100" l="0" r="66608" t="4627"/>
          <a:stretch/>
        </p:blipFill>
        <p:spPr>
          <a:xfrm>
            <a:off x="5793615" y="3374675"/>
            <a:ext cx="2997010" cy="2412800"/>
          </a:xfrm>
          <a:prstGeom prst="rect">
            <a:avLst/>
          </a:prstGeom>
          <a:noFill/>
          <a:ln>
            <a:noFill/>
          </a:ln>
        </p:spPr>
      </p:pic>
      <p:pic>
        <p:nvPicPr>
          <p:cNvPr id="163" name="Google Shape;163;p20"/>
          <p:cNvPicPr preferRelativeResize="0"/>
          <p:nvPr/>
        </p:nvPicPr>
        <p:blipFill rotWithShape="1">
          <a:blip r:embed="rId4">
            <a:alphaModFix/>
          </a:blip>
          <a:srcRect b="2796" l="0" r="66725" t="52391"/>
          <a:stretch/>
        </p:blipFill>
        <p:spPr>
          <a:xfrm>
            <a:off x="5675438" y="1086850"/>
            <a:ext cx="3042624" cy="2287825"/>
          </a:xfrm>
          <a:prstGeom prst="rect">
            <a:avLst/>
          </a:prstGeom>
          <a:noFill/>
          <a:ln>
            <a:noFill/>
          </a:ln>
        </p:spPr>
      </p:pic>
      <p:pic>
        <p:nvPicPr>
          <p:cNvPr id="164" name="Google Shape;164;p20"/>
          <p:cNvPicPr preferRelativeResize="0"/>
          <p:nvPr/>
        </p:nvPicPr>
        <p:blipFill rotWithShape="1">
          <a:blip r:embed="rId3">
            <a:alphaModFix/>
          </a:blip>
          <a:srcRect b="6117" l="50062" r="0" t="12970"/>
          <a:stretch/>
        </p:blipFill>
        <p:spPr>
          <a:xfrm>
            <a:off x="319476" y="3831500"/>
            <a:ext cx="4785526" cy="2412800"/>
          </a:xfrm>
          <a:prstGeom prst="rect">
            <a:avLst/>
          </a:prstGeom>
          <a:noFill/>
          <a:ln>
            <a:noFill/>
          </a:ln>
        </p:spPr>
      </p:pic>
      <p:sp>
        <p:nvSpPr>
          <p:cNvPr id="165" name="Google Shape;165;p20"/>
          <p:cNvSpPr txBox="1"/>
          <p:nvPr/>
        </p:nvSpPr>
        <p:spPr>
          <a:xfrm>
            <a:off x="5623525" y="5787475"/>
            <a:ext cx="3520500" cy="8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50">
                <a:solidFill>
                  <a:srgbClr val="3C4043"/>
                </a:solidFill>
              </a:rPr>
              <a:t>1. </a:t>
            </a:r>
            <a:r>
              <a:rPr lang="en-US" sz="1250">
                <a:solidFill>
                  <a:srgbClr val="3C4043"/>
                </a:solidFill>
              </a:rPr>
              <a:t>averageRating is slightly left-skewed (most movies score  6-8). Mean vote = 1040</a:t>
            </a:r>
            <a:endParaRPr sz="1250">
              <a:solidFill>
                <a:srgbClr val="3C4043"/>
              </a:solidFill>
            </a:endParaRPr>
          </a:p>
          <a:p>
            <a:pPr indent="0" lvl="0" marL="0" rtl="0" algn="l">
              <a:lnSpc>
                <a:spcPct val="170000"/>
              </a:lnSpc>
              <a:spcBef>
                <a:spcPts val="0"/>
              </a:spcBef>
              <a:spcAft>
                <a:spcPts val="0"/>
              </a:spcAft>
              <a:buClr>
                <a:schemeClr val="dk1"/>
              </a:buClr>
              <a:buSzPts val="1100"/>
              <a:buFont typeface="Arial"/>
              <a:buNone/>
            </a:pPr>
            <a:r>
              <a:rPr lang="en-US" sz="1250">
                <a:solidFill>
                  <a:srgbClr val="3C4043"/>
                </a:solidFill>
              </a:rPr>
              <a:t>2.numVotes is extremely right-skewed : log-transform normalizes it well.</a:t>
            </a:r>
            <a:endParaRPr sz="1250">
              <a:solidFill>
                <a:srgbClr val="3C4043"/>
              </a:solidFill>
            </a:endParaRPr>
          </a:p>
          <a:p>
            <a:pPr indent="0" lvl="0" marL="0" rtl="0" algn="l">
              <a:spcBef>
                <a:spcPts val="0"/>
              </a:spcBef>
              <a:spcAft>
                <a:spcPts val="0"/>
              </a:spcAft>
              <a:buNone/>
            </a:pPr>
            <a:r>
              <a:t/>
            </a:r>
            <a:endParaRPr sz="3200">
              <a:solidFill>
                <a:schemeClr val="dk1"/>
              </a:solidFill>
            </a:endParaRPr>
          </a:p>
        </p:txBody>
      </p:sp>
      <p:sp>
        <p:nvSpPr>
          <p:cNvPr id="166" name="Google Shape;166;p20"/>
          <p:cNvSpPr txBox="1"/>
          <p:nvPr/>
        </p:nvSpPr>
        <p:spPr>
          <a:xfrm>
            <a:off x="0" y="6244300"/>
            <a:ext cx="5793600" cy="470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US" sz="1300">
                <a:solidFill>
                  <a:schemeClr val="dk1"/>
                </a:solidFill>
              </a:rPr>
              <a:t>Fig. Missing attribute percentages from files title.basics and title.principals.</a:t>
            </a:r>
            <a:endParaRPr sz="3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Task 2</a:t>
            </a:r>
            <a:endParaRPr/>
          </a:p>
        </p:txBody>
      </p:sp>
      <p:sp>
        <p:nvSpPr>
          <p:cNvPr id="173" name="Google Shape;173;p21"/>
          <p:cNvSpPr txBox="1"/>
          <p:nvPr>
            <p:ph idx="1" type="body"/>
          </p:nvPr>
        </p:nvSpPr>
        <p:spPr>
          <a:xfrm>
            <a:off x="180650" y="997600"/>
            <a:ext cx="8963400" cy="9951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2. Content-Based Filtering : </a:t>
            </a:r>
            <a:r>
              <a:rPr lang="en-US" sz="1600"/>
              <a:t>Finds movies similar in genre, cast, and era to the query movie.</a:t>
            </a:r>
            <a:endParaRPr sz="1600"/>
          </a:p>
          <a:p>
            <a:pPr indent="0" lvl="0" marL="0" rtl="0" algn="l">
              <a:spcBef>
                <a:spcPts val="480"/>
              </a:spcBef>
              <a:spcAft>
                <a:spcPts val="0"/>
              </a:spcAft>
              <a:buNone/>
            </a:pPr>
            <a:r>
              <a:rPr lang="en-US" sz="1450"/>
              <a:t>Total titles in basics(12,339,113); Movies only(739,633);  Movies with ratings(340,178); </a:t>
            </a:r>
            <a:endParaRPr sz="1450"/>
          </a:p>
          <a:p>
            <a:pPr indent="0" lvl="0" marL="0" rtl="0" algn="l">
              <a:spcBef>
                <a:spcPts val="480"/>
              </a:spcBef>
              <a:spcAft>
                <a:spcPts val="0"/>
              </a:spcAft>
              <a:buNone/>
            </a:pPr>
            <a:r>
              <a:rPr lang="en-US" sz="1450"/>
              <a:t>After dropping missing : 328,983  (removed 11,195), after thresholding 0f &gt;= 500 votes, </a:t>
            </a:r>
            <a:endParaRPr sz="1450"/>
          </a:p>
          <a:p>
            <a:pPr indent="0" lvl="0" marL="0" rtl="0" algn="l">
              <a:spcBef>
                <a:spcPts val="480"/>
              </a:spcBef>
              <a:spcAft>
                <a:spcPts val="0"/>
              </a:spcAft>
              <a:buNone/>
            </a:pPr>
            <a:r>
              <a:t/>
            </a:r>
            <a:endParaRPr sz="1700"/>
          </a:p>
        </p:txBody>
      </p:sp>
      <p:graphicFrame>
        <p:nvGraphicFramePr>
          <p:cNvPr id="174" name="Google Shape;174;p21"/>
          <p:cNvGraphicFramePr/>
          <p:nvPr/>
        </p:nvGraphicFramePr>
        <p:xfrm>
          <a:off x="180650" y="1934775"/>
          <a:ext cx="3000000" cy="3000000"/>
        </p:xfrm>
        <a:graphic>
          <a:graphicData uri="http://schemas.openxmlformats.org/drawingml/2006/table">
            <a:tbl>
              <a:tblPr>
                <a:noFill/>
                <a:tableStyleId>{34108515-2D9B-4480-8E0F-6BD9CE425BC0}</a:tableStyleId>
              </a:tblPr>
              <a:tblGrid>
                <a:gridCol w="901075"/>
                <a:gridCol w="5023875"/>
              </a:tblGrid>
              <a:tr h="241000">
                <a:tc>
                  <a:txBody>
                    <a:bodyPr/>
                    <a:lstStyle/>
                    <a:p>
                      <a:pPr indent="0" lvl="0" marL="0" rtl="0" algn="l">
                        <a:spcBef>
                          <a:spcPts val="0"/>
                        </a:spcBef>
                        <a:spcAft>
                          <a:spcPts val="0"/>
                        </a:spcAft>
                        <a:buNone/>
                      </a:pPr>
                      <a:r>
                        <a:rPr b="1" lang="en-US" sz="1300"/>
                        <a:t>Step</a:t>
                      </a:r>
                      <a:endParaRPr b="1" sz="1300"/>
                    </a:p>
                  </a:txBody>
                  <a:tcPr marT="91425" marB="91425" marR="91425" marL="91425"/>
                </a:tc>
                <a:tc>
                  <a:txBody>
                    <a:bodyPr/>
                    <a:lstStyle/>
                    <a:p>
                      <a:pPr indent="0" lvl="0" marL="0" rtl="0" algn="l">
                        <a:spcBef>
                          <a:spcPts val="0"/>
                        </a:spcBef>
                        <a:spcAft>
                          <a:spcPts val="0"/>
                        </a:spcAft>
                        <a:buNone/>
                      </a:pPr>
                      <a:r>
                        <a:rPr b="1" lang="en-US" sz="1300"/>
                        <a:t>Detail</a:t>
                      </a:r>
                      <a:endParaRPr b="1" sz="1300"/>
                    </a:p>
                  </a:txBody>
                  <a:tcPr marT="91425" marB="91425" marR="91425" marL="91425"/>
                </a:tc>
              </a:tr>
              <a:tr h="352950">
                <a:tc>
                  <a:txBody>
                    <a:bodyPr/>
                    <a:lstStyle/>
                    <a:p>
                      <a:pPr indent="0" lvl="0" marL="0" rtl="0" algn="l">
                        <a:spcBef>
                          <a:spcPts val="0"/>
                        </a:spcBef>
                        <a:spcAft>
                          <a:spcPts val="0"/>
                        </a:spcAft>
                        <a:buNone/>
                      </a:pPr>
                      <a:r>
                        <a:rPr lang="en-US" sz="1300"/>
                        <a:t>Input</a:t>
                      </a:r>
                      <a:endParaRPr sz="1300"/>
                    </a:p>
                  </a:txBody>
                  <a:tcPr marT="91425" marB="91425" marR="91425" marL="91425"/>
                </a:tc>
                <a:tc>
                  <a:txBody>
                    <a:bodyPr/>
                    <a:lstStyle/>
                    <a:p>
                      <a:pPr indent="0" lvl="0" marL="0" rtl="0" algn="l">
                        <a:spcBef>
                          <a:spcPts val="0"/>
                        </a:spcBef>
                        <a:spcAft>
                          <a:spcPts val="0"/>
                        </a:spcAft>
                        <a:buNone/>
                      </a:pPr>
                      <a:r>
                        <a:rPr lang="en-US" sz="1300"/>
                        <a:t>genres (×3), cast IDs, decade token joined into one text string per movie</a:t>
                      </a:r>
                      <a:endParaRPr sz="1300"/>
                    </a:p>
                  </a:txBody>
                  <a:tcPr marT="91425" marB="91425" marR="91425" marL="91425"/>
                </a:tc>
              </a:tr>
              <a:tr h="352950">
                <a:tc>
                  <a:txBody>
                    <a:bodyPr/>
                    <a:lstStyle/>
                    <a:p>
                      <a:pPr indent="0" lvl="0" marL="0" rtl="0" algn="l">
                        <a:spcBef>
                          <a:spcPts val="0"/>
                        </a:spcBef>
                        <a:spcAft>
                          <a:spcPts val="0"/>
                        </a:spcAft>
                        <a:buNone/>
                      </a:pPr>
                      <a:r>
                        <a:rPr lang="en-US" sz="1300"/>
                        <a:t>Model</a:t>
                      </a:r>
                      <a:endParaRPr sz="1300"/>
                    </a:p>
                  </a:txBody>
                  <a:tcPr marT="91425" marB="91425" marR="91425" marL="91425"/>
                </a:tc>
                <a:tc>
                  <a:txBody>
                    <a:bodyPr/>
                    <a:lstStyle/>
                    <a:p>
                      <a:pPr indent="0" lvl="0" marL="0" rtl="0" algn="l">
                        <a:spcBef>
                          <a:spcPts val="0"/>
                        </a:spcBef>
                        <a:spcAft>
                          <a:spcPts val="0"/>
                        </a:spcAft>
                        <a:buNone/>
                      </a:pPr>
                      <a:r>
                        <a:rPr lang="en-US" sz="1300"/>
                        <a:t>TF-IDF Vectoriser  max 5,000 features </a:t>
                      </a:r>
                      <a:r>
                        <a:rPr lang="en-US" sz="1300">
                          <a:solidFill>
                            <a:schemeClr val="dk1"/>
                          </a:solidFill>
                        </a:rPr>
                        <a:t>(</a:t>
                      </a:r>
                      <a:r>
                        <a:rPr lang="en-US" sz="1050">
                          <a:solidFill>
                            <a:schemeClr val="dk1"/>
                          </a:solidFill>
                          <a:latin typeface="Roboto Mono"/>
                          <a:ea typeface="Roboto Mono"/>
                          <a:cs typeface="Roboto Mono"/>
                          <a:sym typeface="Roboto Mono"/>
                        </a:rPr>
                        <a:t>68,862 unique movie titles.)</a:t>
                      </a:r>
                      <a:endParaRPr sz="1300">
                        <a:solidFill>
                          <a:schemeClr val="dk1"/>
                        </a:solidFill>
                      </a:endParaRPr>
                    </a:p>
                  </a:txBody>
                  <a:tcPr marT="91425" marB="91425" marR="91425" marL="91425"/>
                </a:tc>
              </a:tr>
              <a:tr h="352950">
                <a:tc>
                  <a:txBody>
                    <a:bodyPr/>
                    <a:lstStyle/>
                    <a:p>
                      <a:pPr indent="0" lvl="0" marL="0" rtl="0" algn="l">
                        <a:spcBef>
                          <a:spcPts val="0"/>
                        </a:spcBef>
                        <a:spcAft>
                          <a:spcPts val="0"/>
                        </a:spcAft>
                        <a:buNone/>
                      </a:pPr>
                      <a:r>
                        <a:rPr lang="en-US" sz="1300"/>
                        <a:t>Similarity</a:t>
                      </a:r>
                      <a:endParaRPr sz="1300"/>
                    </a:p>
                  </a:txBody>
                  <a:tcPr marT="91425" marB="91425" marR="91425" marL="91425"/>
                </a:tc>
                <a:tc>
                  <a:txBody>
                    <a:bodyPr/>
                    <a:lstStyle/>
                    <a:p>
                      <a:pPr indent="0" lvl="0" marL="0" rtl="0" algn="l">
                        <a:spcBef>
                          <a:spcPts val="0"/>
                        </a:spcBef>
                        <a:spcAft>
                          <a:spcPts val="0"/>
                        </a:spcAft>
                        <a:buNone/>
                      </a:pPr>
                      <a:r>
                        <a:rPr lang="en-US" sz="1300"/>
                        <a:t>Cosine similarity between query movie and all others</a:t>
                      </a:r>
                      <a:endParaRPr sz="1300"/>
                    </a:p>
                  </a:txBody>
                  <a:tcPr marT="91425" marB="91425" marR="91425" marL="91425"/>
                </a:tc>
              </a:tr>
              <a:tr h="352950">
                <a:tc>
                  <a:txBody>
                    <a:bodyPr/>
                    <a:lstStyle/>
                    <a:p>
                      <a:pPr indent="0" lvl="0" marL="0" rtl="0" algn="l">
                        <a:spcBef>
                          <a:spcPts val="0"/>
                        </a:spcBef>
                        <a:spcAft>
                          <a:spcPts val="0"/>
                        </a:spcAft>
                        <a:buNone/>
                      </a:pPr>
                      <a:r>
                        <a:rPr lang="en-US" sz="1300"/>
                        <a:t>Output</a:t>
                      </a:r>
                      <a:endParaRPr sz="1300"/>
                    </a:p>
                  </a:txBody>
                  <a:tcPr marT="91425" marB="91425" marR="91425" marL="91425"/>
                </a:tc>
                <a:tc>
                  <a:txBody>
                    <a:bodyPr/>
                    <a:lstStyle/>
                    <a:p>
                      <a:pPr indent="0" lvl="0" marL="0" rtl="0" algn="l">
                        <a:spcBef>
                          <a:spcPts val="0"/>
                        </a:spcBef>
                        <a:spcAft>
                          <a:spcPts val="0"/>
                        </a:spcAft>
                        <a:buNone/>
                      </a:pPr>
                      <a:r>
                        <a:rPr lang="en-US" sz="1300"/>
                        <a:t>Top-N most similar movies with a content score</a:t>
                      </a:r>
                      <a:endParaRPr sz="1300"/>
                    </a:p>
                  </a:txBody>
                  <a:tcPr marT="91425" marB="91425" marR="91425" marL="91425"/>
                </a:tc>
              </a:tr>
            </a:tbl>
          </a:graphicData>
        </a:graphic>
      </p:graphicFrame>
      <p:sp>
        <p:nvSpPr>
          <p:cNvPr id="175" name="Google Shape;175;p21"/>
          <p:cNvSpPr txBox="1"/>
          <p:nvPr>
            <p:ph idx="1" type="body"/>
          </p:nvPr>
        </p:nvSpPr>
        <p:spPr>
          <a:xfrm>
            <a:off x="213900" y="4095450"/>
            <a:ext cx="8544600" cy="5547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3. </a:t>
            </a:r>
            <a:r>
              <a:rPr b="1" lang="en-US" sz="1600"/>
              <a:t>Implicit Collaborative Filtering : </a:t>
            </a:r>
            <a:r>
              <a:rPr lang="en-US" sz="1500"/>
              <a:t>Finds movies that appeal to the same type of viewer  without any user data.</a:t>
            </a:r>
            <a:endParaRPr sz="1500"/>
          </a:p>
          <a:p>
            <a:pPr indent="0" lvl="0" marL="0" rtl="0" algn="l">
              <a:spcBef>
                <a:spcPts val="480"/>
              </a:spcBef>
              <a:spcAft>
                <a:spcPts val="0"/>
              </a:spcAft>
              <a:buNone/>
            </a:pPr>
            <a:r>
              <a:t/>
            </a:r>
            <a:endParaRPr sz="1700"/>
          </a:p>
        </p:txBody>
      </p:sp>
      <p:sp>
        <p:nvSpPr>
          <p:cNvPr id="176" name="Google Shape;176;p21"/>
          <p:cNvSpPr txBox="1"/>
          <p:nvPr/>
        </p:nvSpPr>
        <p:spPr>
          <a:xfrm>
            <a:off x="423800" y="4650150"/>
            <a:ext cx="8360700" cy="21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No user ratings → use </a:t>
            </a:r>
            <a:r>
              <a:rPr b="1" lang="en-US">
                <a:solidFill>
                  <a:schemeClr val="dk1"/>
                </a:solidFill>
              </a:rPr>
              <a:t>implicit signals</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Features:</a:t>
            </a:r>
            <a:endParaRPr b="1">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Genre-wise rating deviation: Per Genre Average rating and, Each movie rating - Per Genre Avg. rating.</a:t>
            </a:r>
            <a:endParaRPr>
              <a:solidFill>
                <a:schemeClr val="dk1"/>
              </a:solidFill>
            </a:endParaRPr>
          </a:p>
          <a:p>
            <a:pPr indent="-317500" lvl="0" marL="457200" rtl="0" algn="l">
              <a:spcBef>
                <a:spcPts val="0"/>
              </a:spcBef>
              <a:spcAft>
                <a:spcPts val="0"/>
              </a:spcAft>
              <a:buClr>
                <a:schemeClr val="dk1"/>
              </a:buClr>
              <a:buSzPts val="1400"/>
              <a:buAutoNum type="arabicPeriod"/>
            </a:pPr>
            <a:r>
              <a:rPr lang="en-US">
                <a:solidFill>
                  <a:schemeClr val="dk1"/>
                </a:solidFill>
              </a:rPr>
              <a:t>Popularity tiers (vote-based): num_votes (obscure,niche,known, popular, blockbuster)</a:t>
            </a:r>
            <a:endParaRPr>
              <a:solidFill>
                <a:schemeClr val="dk1"/>
              </a:solidFill>
            </a:endParaRPr>
          </a:p>
          <a:p>
            <a:pPr indent="0" lvl="0" marL="0" rtl="0" algn="l">
              <a:spcBef>
                <a:spcPts val="1200"/>
              </a:spcBef>
              <a:spcAft>
                <a:spcPts val="0"/>
              </a:spcAft>
              <a:buNone/>
            </a:pPr>
            <a:r>
              <a:rPr b="1" lang="en-US">
                <a:solidFill>
                  <a:schemeClr val="dk1"/>
                </a:solidFill>
              </a:rPr>
              <a:t>Idea: </a:t>
            </a:r>
            <a:r>
              <a:rPr lang="en-US">
                <a:solidFill>
                  <a:schemeClr val="dk1"/>
                </a:solidFill>
              </a:rPr>
              <a:t>Movies having similar deviations from similar genres attract same type of viewers.</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Hybrid Model:  </a:t>
            </a:r>
            <a:r>
              <a:rPr lang="en-US">
                <a:solidFill>
                  <a:schemeClr val="dk1"/>
                </a:solidFill>
              </a:rPr>
              <a:t>Score=0.60×Content+0.40×CFScore </a:t>
            </a:r>
            <a:endParaRPr sz="20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Task 2</a:t>
            </a:r>
            <a:endParaRPr/>
          </a:p>
        </p:txBody>
      </p:sp>
      <p:sp>
        <p:nvSpPr>
          <p:cNvPr id="183" name="Google Shape;183;p22"/>
          <p:cNvSpPr txBox="1"/>
          <p:nvPr/>
        </p:nvSpPr>
        <p:spPr>
          <a:xfrm>
            <a:off x="180650" y="1083350"/>
            <a:ext cx="8963400" cy="30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1"/>
                </a:solidFill>
              </a:rPr>
              <a:t>4. k-Means Clustering + Viewer Persona: </a:t>
            </a:r>
            <a:r>
              <a:rPr lang="en-US" sz="1700">
                <a:solidFill>
                  <a:schemeClr val="dk1"/>
                </a:solidFill>
              </a:rPr>
              <a:t>Groups movies into clusters, then uses those clusters to recommend to new viewers.</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graphicFrame>
        <p:nvGraphicFramePr>
          <p:cNvPr id="184" name="Google Shape;184;p22"/>
          <p:cNvGraphicFramePr/>
          <p:nvPr/>
        </p:nvGraphicFramePr>
        <p:xfrm>
          <a:off x="263075" y="1722700"/>
          <a:ext cx="3000000" cy="3000000"/>
        </p:xfrm>
        <a:graphic>
          <a:graphicData uri="http://schemas.openxmlformats.org/drawingml/2006/table">
            <a:tbl>
              <a:tblPr>
                <a:noFill/>
                <a:tableStyleId>{34108515-2D9B-4480-8E0F-6BD9CE425BC0}</a:tableStyleId>
              </a:tblPr>
              <a:tblGrid>
                <a:gridCol w="2074350"/>
                <a:gridCol w="6543500"/>
              </a:tblGrid>
              <a:tr h="484425">
                <a:tc>
                  <a:txBody>
                    <a:bodyPr/>
                    <a:lstStyle/>
                    <a:p>
                      <a:pPr indent="0" lvl="0" marL="0" rtl="0" algn="l">
                        <a:spcBef>
                          <a:spcPts val="0"/>
                        </a:spcBef>
                        <a:spcAft>
                          <a:spcPts val="0"/>
                        </a:spcAft>
                        <a:buNone/>
                      </a:pPr>
                      <a:r>
                        <a:rPr b="1" lang="en-US"/>
                        <a:t>Step</a:t>
                      </a:r>
                      <a:endParaRPr b="1"/>
                    </a:p>
                  </a:txBody>
                  <a:tcPr marT="91425" marB="91425" marR="91425" marL="91425"/>
                </a:tc>
                <a:tc>
                  <a:txBody>
                    <a:bodyPr/>
                    <a:lstStyle/>
                    <a:p>
                      <a:pPr indent="0" lvl="0" marL="0" rtl="0" algn="l">
                        <a:spcBef>
                          <a:spcPts val="0"/>
                        </a:spcBef>
                        <a:spcAft>
                          <a:spcPts val="0"/>
                        </a:spcAft>
                        <a:buNone/>
                      </a:pPr>
                      <a:r>
                        <a:rPr b="1" lang="en-US"/>
                        <a:t>Detail</a:t>
                      </a:r>
                      <a:endParaRPr b="1"/>
                    </a:p>
                  </a:txBody>
                  <a:tcPr marT="91425" marB="91425" marR="91425" marL="91425"/>
                </a:tc>
              </a:tr>
              <a:tr h="465825">
                <a:tc>
                  <a:txBody>
                    <a:bodyPr/>
                    <a:lstStyle/>
                    <a:p>
                      <a:pPr indent="0" lvl="0" marL="0" rtl="0" algn="l">
                        <a:spcBef>
                          <a:spcPts val="0"/>
                        </a:spcBef>
                        <a:spcAft>
                          <a:spcPts val="0"/>
                        </a:spcAft>
                        <a:buNone/>
                      </a:pPr>
                      <a:r>
                        <a:rPr lang="en-US"/>
                        <a:t>Featuers</a:t>
                      </a:r>
                      <a:endParaRPr/>
                    </a:p>
                  </a:txBody>
                  <a:tcPr marT="91425" marB="91425" marR="91425" marL="91425"/>
                </a:tc>
                <a:tc>
                  <a:txBody>
                    <a:bodyPr/>
                    <a:lstStyle/>
                    <a:p>
                      <a:pPr indent="0" lvl="0" marL="0" rtl="0" algn="l">
                        <a:spcBef>
                          <a:spcPts val="0"/>
                        </a:spcBef>
                        <a:spcAft>
                          <a:spcPts val="0"/>
                        </a:spcAft>
                        <a:buNone/>
                      </a:pPr>
                      <a:r>
                        <a:rPr lang="en-US"/>
                        <a:t>Genre binary columns + averageRating + votes</a:t>
                      </a:r>
                      <a:endParaRPr/>
                    </a:p>
                  </a:txBody>
                  <a:tcPr marT="91425" marB="91425" marR="91425" marL="91425"/>
                </a:tc>
              </a:tr>
              <a:tr h="465825">
                <a:tc>
                  <a:txBody>
                    <a:bodyPr/>
                    <a:lstStyle/>
                    <a:p>
                      <a:pPr indent="0" lvl="0" marL="0" rtl="0" algn="l">
                        <a:spcBef>
                          <a:spcPts val="0"/>
                        </a:spcBef>
                        <a:spcAft>
                          <a:spcPts val="0"/>
                        </a:spcAft>
                        <a:buNone/>
                      </a:pPr>
                      <a:r>
                        <a:rPr lang="en-US"/>
                        <a:t>k selection</a:t>
                      </a:r>
                      <a:endParaRPr/>
                    </a:p>
                  </a:txBody>
                  <a:tcPr marT="91425" marB="91425" marR="91425" marL="91425"/>
                </a:tc>
                <a:tc>
                  <a:txBody>
                    <a:bodyPr/>
                    <a:lstStyle/>
                    <a:p>
                      <a:pPr indent="0" lvl="0" marL="0" rtl="0" algn="l">
                        <a:spcBef>
                          <a:spcPts val="0"/>
                        </a:spcBef>
                        <a:spcAft>
                          <a:spcPts val="0"/>
                        </a:spcAft>
                        <a:buNone/>
                      </a:pPr>
                      <a:r>
                        <a:rPr lang="en-US"/>
                        <a:t>Silhouette score tested for k = 3 to 28, best k chosen automatically</a:t>
                      </a:r>
                      <a:endParaRPr/>
                    </a:p>
                  </a:txBody>
                  <a:tcPr marT="91425" marB="91425" marR="91425" marL="91425"/>
                </a:tc>
              </a:tr>
              <a:tr h="465825">
                <a:tc>
                  <a:txBody>
                    <a:bodyPr/>
                    <a:lstStyle/>
                    <a:p>
                      <a:pPr indent="0" lvl="0" marL="0" rtl="0" algn="l">
                        <a:spcBef>
                          <a:spcPts val="0"/>
                        </a:spcBef>
                        <a:spcAft>
                          <a:spcPts val="0"/>
                        </a:spcAft>
                        <a:buNone/>
                      </a:pPr>
                      <a:r>
                        <a:rPr lang="en-US"/>
                        <a:t>Output</a:t>
                      </a:r>
                      <a:endParaRPr/>
                    </a:p>
                  </a:txBody>
                  <a:tcPr marT="91425" marB="91425" marR="91425" marL="91425"/>
                </a:tc>
                <a:tc>
                  <a:txBody>
                    <a:bodyPr/>
                    <a:lstStyle/>
                    <a:p>
                      <a:pPr indent="0" lvl="0" marL="0" rtl="0" algn="l">
                        <a:spcBef>
                          <a:spcPts val="0"/>
                        </a:spcBef>
                        <a:spcAft>
                          <a:spcPts val="0"/>
                        </a:spcAft>
                        <a:buNone/>
                      </a:pPr>
                      <a:r>
                        <a:rPr lang="en-US"/>
                        <a:t>Each movie gets a cluster label</a:t>
                      </a:r>
                      <a:endParaRPr/>
                    </a:p>
                  </a:txBody>
                  <a:tcPr marT="91425" marB="91425" marR="91425" marL="91425"/>
                </a:tc>
              </a:tr>
            </a:tbl>
          </a:graphicData>
        </a:graphic>
      </p:graphicFrame>
      <p:sp>
        <p:nvSpPr>
          <p:cNvPr id="185" name="Google Shape;185;p22"/>
          <p:cNvSpPr txBox="1"/>
          <p:nvPr/>
        </p:nvSpPr>
        <p:spPr>
          <a:xfrm>
            <a:off x="263075" y="4123550"/>
            <a:ext cx="300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Liked Movies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Feature Representation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Centroid Computation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Nearest Cluster Detection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Top Movies Recommendation</a:t>
            </a:r>
            <a:endParaRPr/>
          </a:p>
        </p:txBody>
      </p:sp>
      <p:sp>
        <p:nvSpPr>
          <p:cNvPr id="186" name="Google Shape;186;p22"/>
          <p:cNvSpPr txBox="1"/>
          <p:nvPr/>
        </p:nvSpPr>
        <p:spPr>
          <a:xfrm>
            <a:off x="263075" y="3723350"/>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Viewer Persona: </a:t>
            </a:r>
            <a:endParaRPr b="1" sz="1700"/>
          </a:p>
        </p:txBody>
      </p:sp>
      <p:sp>
        <p:nvSpPr>
          <p:cNvPr id="187" name="Google Shape;187;p22"/>
          <p:cNvSpPr/>
          <p:nvPr/>
        </p:nvSpPr>
        <p:spPr>
          <a:xfrm>
            <a:off x="4574050" y="3711000"/>
            <a:ext cx="797700" cy="22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88" name="Google Shape;188;p22"/>
          <p:cNvPicPr preferRelativeResize="0"/>
          <p:nvPr/>
        </p:nvPicPr>
        <p:blipFill rotWithShape="1">
          <a:blip r:embed="rId3">
            <a:alphaModFix/>
          </a:blip>
          <a:srcRect b="2858" l="0" r="51281" t="11562"/>
          <a:stretch/>
        </p:blipFill>
        <p:spPr>
          <a:xfrm>
            <a:off x="2642350" y="3985950"/>
            <a:ext cx="3250825" cy="1906021"/>
          </a:xfrm>
          <a:prstGeom prst="rect">
            <a:avLst/>
          </a:prstGeom>
          <a:noFill/>
          <a:ln>
            <a:noFill/>
          </a:ln>
        </p:spPr>
      </p:pic>
      <p:pic>
        <p:nvPicPr>
          <p:cNvPr id="189" name="Google Shape;189;p22"/>
          <p:cNvPicPr preferRelativeResize="0"/>
          <p:nvPr/>
        </p:nvPicPr>
        <p:blipFill rotWithShape="1">
          <a:blip r:embed="rId3">
            <a:alphaModFix/>
          </a:blip>
          <a:srcRect b="2858" l="51123" r="2082" t="11562"/>
          <a:stretch/>
        </p:blipFill>
        <p:spPr>
          <a:xfrm>
            <a:off x="5893181" y="3951513"/>
            <a:ext cx="3250819" cy="1974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Task 2</a:t>
            </a:r>
            <a:endParaRPr/>
          </a:p>
        </p:txBody>
      </p:sp>
      <p:sp>
        <p:nvSpPr>
          <p:cNvPr id="196" name="Google Shape;196;p23"/>
          <p:cNvSpPr txBox="1"/>
          <p:nvPr>
            <p:ph idx="1" type="body"/>
          </p:nvPr>
        </p:nvSpPr>
        <p:spPr>
          <a:xfrm>
            <a:off x="187950" y="1019203"/>
            <a:ext cx="8768100" cy="32217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a:t>Sample Output:</a:t>
            </a:r>
            <a:endParaRPr/>
          </a:p>
        </p:txBody>
      </p:sp>
      <p:pic>
        <p:nvPicPr>
          <p:cNvPr id="197" name="Google Shape;197;p23"/>
          <p:cNvPicPr preferRelativeResize="0"/>
          <p:nvPr/>
        </p:nvPicPr>
        <p:blipFill>
          <a:blip r:embed="rId3">
            <a:alphaModFix/>
          </a:blip>
          <a:stretch>
            <a:fillRect/>
          </a:stretch>
        </p:blipFill>
        <p:spPr>
          <a:xfrm>
            <a:off x="1044767" y="1467625"/>
            <a:ext cx="6694158" cy="2431275"/>
          </a:xfrm>
          <a:prstGeom prst="rect">
            <a:avLst/>
          </a:prstGeom>
          <a:noFill/>
          <a:ln>
            <a:noFill/>
          </a:ln>
        </p:spPr>
      </p:pic>
      <p:pic>
        <p:nvPicPr>
          <p:cNvPr id="198" name="Google Shape;198;p23"/>
          <p:cNvPicPr preferRelativeResize="0"/>
          <p:nvPr/>
        </p:nvPicPr>
        <p:blipFill>
          <a:blip r:embed="rId4">
            <a:alphaModFix/>
          </a:blip>
          <a:stretch>
            <a:fillRect/>
          </a:stretch>
        </p:blipFill>
        <p:spPr>
          <a:xfrm>
            <a:off x="163350" y="3982250"/>
            <a:ext cx="8817302" cy="2554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0" y="98050"/>
            <a:ext cx="7042200" cy="902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800"/>
              <a:t> Task 4</a:t>
            </a:r>
            <a:endParaRPr sz="2800"/>
          </a:p>
        </p:txBody>
      </p:sp>
      <p:sp>
        <p:nvSpPr>
          <p:cNvPr id="205" name="Google Shape;205;p24"/>
          <p:cNvSpPr txBox="1"/>
          <p:nvPr>
            <p:ph idx="1" type="body"/>
          </p:nvPr>
        </p:nvSpPr>
        <p:spPr>
          <a:xfrm>
            <a:off x="68450" y="1173975"/>
            <a:ext cx="8887500" cy="522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2800">
                <a:latin typeface="Calibri"/>
                <a:ea typeface="Calibri"/>
                <a:cs typeface="Calibri"/>
                <a:sym typeface="Calibri"/>
              </a:rPr>
              <a:t>IMDb Movie Rating Analysis and Evaluation</a:t>
            </a:r>
            <a:endParaRPr b="1" sz="1400"/>
          </a:p>
          <a:p>
            <a:pPr indent="0" lvl="0" marL="0" rtl="0" algn="l">
              <a:spcBef>
                <a:spcPts val="480"/>
              </a:spcBef>
              <a:spcAft>
                <a:spcPts val="0"/>
              </a:spcAft>
              <a:buClr>
                <a:schemeClr val="dk1"/>
              </a:buClr>
              <a:buSzPts val="1100"/>
              <a:buFont typeface="Arial"/>
              <a:buNone/>
            </a:pPr>
            <a:r>
              <a:t/>
            </a:r>
            <a:endParaRPr b="1" sz="1400"/>
          </a:p>
          <a:p>
            <a:pPr indent="0" lvl="0" marL="0" rtl="0" algn="l">
              <a:spcBef>
                <a:spcPts val="480"/>
              </a:spcBef>
              <a:spcAft>
                <a:spcPts val="0"/>
              </a:spcAft>
              <a:buClr>
                <a:schemeClr val="dk1"/>
              </a:buClr>
              <a:buSzPts val="1100"/>
              <a:buFont typeface="Arial"/>
              <a:buNone/>
            </a:pPr>
            <a:r>
              <a:rPr b="1" lang="en-US" sz="1400"/>
              <a:t>Files Used:</a:t>
            </a:r>
            <a:r>
              <a:rPr lang="en-US" sz="1400"/>
              <a:t>  ratings.tsv</a:t>
            </a:r>
            <a:endParaRPr sz="1400"/>
          </a:p>
          <a:p>
            <a:pPr indent="0" lvl="0" marL="0" rtl="0" algn="l">
              <a:spcBef>
                <a:spcPts val="480"/>
              </a:spcBef>
              <a:spcAft>
                <a:spcPts val="0"/>
              </a:spcAft>
              <a:buNone/>
            </a:pPr>
            <a:r>
              <a:rPr b="1" lang="en-US" sz="1400"/>
              <a:t>Attributes used :</a:t>
            </a:r>
            <a:r>
              <a:rPr lang="en-US" sz="1050">
                <a:solidFill>
                  <a:srgbClr val="9AA0A6"/>
                </a:solidFill>
                <a:latin typeface="Roboto Mono"/>
                <a:ea typeface="Roboto Mono"/>
                <a:cs typeface="Roboto Mono"/>
                <a:sym typeface="Roboto Mono"/>
              </a:rPr>
              <a:t> </a:t>
            </a:r>
            <a:r>
              <a:rPr lang="en-US" sz="1250">
                <a:solidFill>
                  <a:srgbClr val="1F1F1F"/>
                </a:solidFill>
                <a:highlight>
                  <a:srgbClr val="FFFFFF"/>
                </a:highlight>
                <a:latin typeface="Courier New"/>
                <a:ea typeface="Courier New"/>
                <a:cs typeface="Courier New"/>
                <a:sym typeface="Courier New"/>
              </a:rPr>
              <a:t>'tconst', 'averageRating', 'numVotes'</a:t>
            </a:r>
            <a:endParaRPr sz="2600"/>
          </a:p>
          <a:p>
            <a:pPr indent="0" lvl="0" marL="0" rtl="0" algn="l">
              <a:spcBef>
                <a:spcPts val="480"/>
              </a:spcBef>
              <a:spcAft>
                <a:spcPts val="0"/>
              </a:spcAft>
              <a:buClr>
                <a:schemeClr val="dk1"/>
              </a:buClr>
              <a:buSzPts val="1100"/>
              <a:buFont typeface="Arial"/>
              <a:buNone/>
            </a:pPr>
            <a:r>
              <a:t/>
            </a:r>
            <a:endParaRPr b="1" sz="1100"/>
          </a:p>
          <a:p>
            <a:pPr indent="0" lvl="0" marL="0" rtl="0" algn="l">
              <a:lnSpc>
                <a:spcPct val="115000"/>
              </a:lnSpc>
              <a:spcBef>
                <a:spcPts val="0"/>
              </a:spcBef>
              <a:spcAft>
                <a:spcPts val="0"/>
              </a:spcAft>
              <a:buClr>
                <a:schemeClr val="dk1"/>
              </a:buClr>
              <a:buSzPts val="1100"/>
              <a:buFont typeface="Arial"/>
              <a:buNone/>
            </a:pPr>
            <a:r>
              <a:rPr b="1" lang="en-US" sz="1800">
                <a:latin typeface="Calibri"/>
                <a:ea typeface="Calibri"/>
                <a:cs typeface="Calibri"/>
                <a:sym typeface="Calibri"/>
              </a:rPr>
              <a:t>1. Exploratory Data Analysis</a:t>
            </a:r>
            <a:endParaRPr b="1" sz="18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US" sz="1800">
                <a:latin typeface="Calibri"/>
                <a:ea typeface="Calibri"/>
                <a:cs typeface="Calibri"/>
                <a:sym typeface="Calibri"/>
              </a:rPr>
              <a:t>Techniques Used:</a:t>
            </a:r>
            <a:endParaRPr b="1" sz="1800">
              <a:latin typeface="Calibri"/>
              <a:ea typeface="Calibri"/>
              <a:cs typeface="Calibri"/>
              <a:sym typeface="Calibri"/>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Mean → Average rating</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Median → Handles skewed data</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Mode → Most common rating</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Char char="●"/>
            </a:pPr>
            <a:r>
              <a:rPr lang="en-US" sz="1900">
                <a:latin typeface="Times New Roman"/>
                <a:ea typeface="Times New Roman"/>
                <a:cs typeface="Times New Roman"/>
                <a:sym typeface="Times New Roman"/>
              </a:rPr>
              <a:t>IQR -&gt; Finds</a:t>
            </a:r>
            <a:r>
              <a:rPr lang="en-US" sz="1900">
                <a:latin typeface="Times New Roman"/>
                <a:ea typeface="Times New Roman"/>
                <a:cs typeface="Times New Roman"/>
                <a:sym typeface="Times New Roman"/>
              </a:rPr>
              <a:t> unusually high or low ratings</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Char char="●"/>
            </a:pPr>
            <a:r>
              <a:rPr lang="en-US" sz="1900">
                <a:latin typeface="Times New Roman"/>
                <a:ea typeface="Times New Roman"/>
                <a:cs typeface="Times New Roman"/>
                <a:sym typeface="Times New Roman"/>
              </a:rPr>
              <a:t>Skewness-&gt; Measures data distribution shape</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Histograms -&gt; Shows how ratings and votes are spread</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Scatter </a:t>
            </a:r>
            <a:r>
              <a:rPr lang="en-US" sz="1900">
                <a:latin typeface="Times New Roman"/>
                <a:ea typeface="Times New Roman"/>
                <a:cs typeface="Times New Roman"/>
                <a:sym typeface="Times New Roman"/>
              </a:rPr>
              <a:t>plots-&gt;Show</a:t>
            </a:r>
            <a:r>
              <a:rPr lang="en-US" sz="1900">
                <a:latin typeface="Times New Roman"/>
                <a:ea typeface="Times New Roman"/>
                <a:cs typeface="Times New Roman"/>
                <a:sym typeface="Times New Roman"/>
              </a:rPr>
              <a:t> how ratings and votes are spread</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Correlation analysis-&gt;Measures relationship strength between variables</a:t>
            </a:r>
            <a:endParaRPr sz="1900">
              <a:latin typeface="Times New Roman"/>
              <a:ea typeface="Times New Roman"/>
              <a:cs typeface="Times New Roman"/>
              <a:sym typeface="Times New Roman"/>
            </a:endParaRPr>
          </a:p>
          <a:p>
            <a:pPr indent="0" lvl="0" marL="457200" rtl="0" algn="l">
              <a:spcBef>
                <a:spcPts val="48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Task 4</a:t>
            </a:r>
            <a:endParaRPr/>
          </a:p>
        </p:txBody>
      </p:sp>
      <p:sp>
        <p:nvSpPr>
          <p:cNvPr id="212" name="Google Shape;212;p25"/>
          <p:cNvSpPr txBox="1"/>
          <p:nvPr>
            <p:ph idx="1" type="body"/>
          </p:nvPr>
        </p:nvSpPr>
        <p:spPr>
          <a:xfrm>
            <a:off x="254278" y="1161709"/>
            <a:ext cx="8768100" cy="52233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a:t>Basic Statistics Table</a:t>
            </a:r>
            <a:endParaRPr b="1"/>
          </a:p>
        </p:txBody>
      </p:sp>
      <p:graphicFrame>
        <p:nvGraphicFramePr>
          <p:cNvPr id="213" name="Google Shape;213;p25"/>
          <p:cNvGraphicFramePr/>
          <p:nvPr/>
        </p:nvGraphicFramePr>
        <p:xfrm>
          <a:off x="952500" y="1905000"/>
          <a:ext cx="3000000" cy="3000000"/>
        </p:xfrm>
        <a:graphic>
          <a:graphicData uri="http://schemas.openxmlformats.org/drawingml/2006/table">
            <a:tbl>
              <a:tblPr>
                <a:noFill/>
                <a:tableStyleId>{34108515-2D9B-4480-8E0F-6BD9CE425BC0}</a:tableStyleId>
              </a:tblPr>
              <a:tblGrid>
                <a:gridCol w="1436825"/>
                <a:gridCol w="1950675"/>
                <a:gridCol w="2964225"/>
              </a:tblGrid>
              <a:tr h="319675">
                <a:tc>
                  <a:txBody>
                    <a:bodyPr/>
                    <a:lstStyle/>
                    <a:p>
                      <a:pPr indent="0" lvl="0" marL="0" rtl="0" algn="ctr">
                        <a:lnSpc>
                          <a:spcPct val="115000"/>
                        </a:lnSpc>
                        <a:spcBef>
                          <a:spcPts val="0"/>
                        </a:spcBef>
                        <a:spcAft>
                          <a:spcPts val="0"/>
                        </a:spcAft>
                        <a:buNone/>
                      </a:pPr>
                      <a:r>
                        <a:rPr b="1" lang="en-US" sz="1500"/>
                        <a:t>Metric</a:t>
                      </a:r>
                      <a:endParaRPr b="1" sz="1500"/>
                    </a:p>
                  </a:txBody>
                  <a:tcPr marT="91425" marB="91425" marR="91425" marL="91425"/>
                </a:tc>
                <a:tc>
                  <a:txBody>
                    <a:bodyPr/>
                    <a:lstStyle/>
                    <a:p>
                      <a:pPr indent="0" lvl="0" marL="0" rtl="0" algn="ctr">
                        <a:spcBef>
                          <a:spcPts val="0"/>
                        </a:spcBef>
                        <a:spcAft>
                          <a:spcPts val="0"/>
                        </a:spcAft>
                        <a:buNone/>
                      </a:pPr>
                      <a:r>
                        <a:rPr b="1" lang="en-US"/>
                        <a:t>A</a:t>
                      </a:r>
                      <a:r>
                        <a:rPr b="1" lang="en-US"/>
                        <a:t>verage Rating</a:t>
                      </a:r>
                      <a:endParaRPr b="1"/>
                    </a:p>
                  </a:txBody>
                  <a:tcPr marT="91425" marB="91425" marR="91425" marL="91425"/>
                </a:tc>
                <a:tc>
                  <a:txBody>
                    <a:bodyPr/>
                    <a:lstStyle/>
                    <a:p>
                      <a:pPr indent="0" lvl="0" marL="0" rtl="0" algn="ctr">
                        <a:spcBef>
                          <a:spcPts val="0"/>
                        </a:spcBef>
                        <a:spcAft>
                          <a:spcPts val="0"/>
                        </a:spcAft>
                        <a:buNone/>
                      </a:pPr>
                      <a:r>
                        <a:rPr b="1" lang="en-US"/>
                        <a:t>N</a:t>
                      </a:r>
                      <a:r>
                        <a:rPr b="1" lang="en-US"/>
                        <a:t>umVotes</a:t>
                      </a:r>
                      <a:endParaRPr b="1"/>
                    </a:p>
                  </a:txBody>
                  <a:tcPr marT="91425" marB="91425" marR="91425" marL="91425"/>
                </a:tc>
              </a:tr>
              <a:tr h="319675">
                <a:tc>
                  <a:txBody>
                    <a:bodyPr/>
                    <a:lstStyle/>
                    <a:p>
                      <a:pPr indent="0" lvl="0" marL="0" rtl="0" algn="ctr">
                        <a:spcBef>
                          <a:spcPts val="0"/>
                        </a:spcBef>
                        <a:spcAft>
                          <a:spcPts val="0"/>
                        </a:spcAft>
                        <a:buNone/>
                      </a:pPr>
                      <a:r>
                        <a:rPr b="1" lang="en-US"/>
                        <a:t>Count</a:t>
                      </a:r>
                      <a:endParaRPr b="1"/>
                    </a:p>
                  </a:txBody>
                  <a:tcPr marT="91425" marB="91425" marR="91425" marL="91425"/>
                </a:tc>
                <a:tc>
                  <a:txBody>
                    <a:bodyPr/>
                    <a:lstStyle/>
                    <a:p>
                      <a:pPr indent="0" lvl="0" marL="0" rtl="0" algn="ctr">
                        <a:spcBef>
                          <a:spcPts val="0"/>
                        </a:spcBef>
                        <a:spcAft>
                          <a:spcPts val="0"/>
                        </a:spcAft>
                        <a:buNone/>
                      </a:pPr>
                      <a:r>
                        <a:rPr lang="en-US"/>
                        <a:t>1,644,346</a:t>
                      </a:r>
                      <a:endParaRPr/>
                    </a:p>
                  </a:txBody>
                  <a:tcPr marT="91425" marB="91425" marR="91425" marL="91425"/>
                </a:tc>
                <a:tc>
                  <a:txBody>
                    <a:bodyPr/>
                    <a:lstStyle/>
                    <a:p>
                      <a:pPr indent="0" lvl="0" marL="0" rtl="0" algn="ctr">
                        <a:spcBef>
                          <a:spcPts val="0"/>
                        </a:spcBef>
                        <a:spcAft>
                          <a:spcPts val="0"/>
                        </a:spcAft>
                        <a:buNone/>
                      </a:pPr>
                      <a:r>
                        <a:rPr lang="en-US"/>
                        <a:t>1,644,346</a:t>
                      </a:r>
                      <a:endParaRPr/>
                    </a:p>
                  </a:txBody>
                  <a:tcPr marT="91425" marB="91425" marR="91425" marL="91425"/>
                </a:tc>
              </a:tr>
              <a:tr h="319675">
                <a:tc>
                  <a:txBody>
                    <a:bodyPr/>
                    <a:lstStyle/>
                    <a:p>
                      <a:pPr indent="0" lvl="0" marL="0" rtl="0" algn="ctr">
                        <a:spcBef>
                          <a:spcPts val="0"/>
                        </a:spcBef>
                        <a:spcAft>
                          <a:spcPts val="0"/>
                        </a:spcAft>
                        <a:buNone/>
                      </a:pPr>
                      <a:r>
                        <a:rPr b="1" lang="en-US"/>
                        <a:t>Mean</a:t>
                      </a:r>
                      <a:endParaRPr b="1"/>
                    </a:p>
                  </a:txBody>
                  <a:tcPr marT="91425" marB="91425" marR="91425" marL="91425"/>
                </a:tc>
                <a:tc>
                  <a:txBody>
                    <a:bodyPr/>
                    <a:lstStyle/>
                    <a:p>
                      <a:pPr indent="0" lvl="0" marL="0" rtl="0" algn="ctr">
                        <a:spcBef>
                          <a:spcPts val="0"/>
                        </a:spcBef>
                        <a:spcAft>
                          <a:spcPts val="0"/>
                        </a:spcAft>
                        <a:buNone/>
                      </a:pPr>
                      <a:r>
                        <a:rPr lang="en-US"/>
                        <a:t>6.965</a:t>
                      </a:r>
                      <a:endParaRPr/>
                    </a:p>
                  </a:txBody>
                  <a:tcPr marT="91425" marB="91425" marR="91425" marL="91425"/>
                </a:tc>
                <a:tc>
                  <a:txBody>
                    <a:bodyPr/>
                    <a:lstStyle/>
                    <a:p>
                      <a:pPr indent="0" lvl="0" marL="0" rtl="0" algn="ctr">
                        <a:spcBef>
                          <a:spcPts val="0"/>
                        </a:spcBef>
                        <a:spcAft>
                          <a:spcPts val="0"/>
                        </a:spcAft>
                        <a:buNone/>
                      </a:pPr>
                      <a:r>
                        <a:rPr lang="en-US"/>
                        <a:t>1,040</a:t>
                      </a:r>
                      <a:r>
                        <a:rPr lang="en-US"/>
                        <a:t>.17</a:t>
                      </a:r>
                      <a:endParaRPr/>
                    </a:p>
                  </a:txBody>
                  <a:tcPr marT="91425" marB="91425" marR="91425" marL="91425"/>
                </a:tc>
              </a:tr>
              <a:tr h="319675">
                <a:tc>
                  <a:txBody>
                    <a:bodyPr/>
                    <a:lstStyle/>
                    <a:p>
                      <a:pPr indent="0" lvl="0" marL="0" rtl="0" algn="ctr">
                        <a:spcBef>
                          <a:spcPts val="0"/>
                        </a:spcBef>
                        <a:spcAft>
                          <a:spcPts val="0"/>
                        </a:spcAft>
                        <a:buNone/>
                      </a:pPr>
                      <a:r>
                        <a:rPr b="1" lang="en-US"/>
                        <a:t>Std Dev</a:t>
                      </a:r>
                      <a:endParaRPr b="1"/>
                    </a:p>
                  </a:txBody>
                  <a:tcPr marT="91425" marB="91425" marR="91425" marL="91425"/>
                </a:tc>
                <a:tc>
                  <a:txBody>
                    <a:bodyPr/>
                    <a:lstStyle/>
                    <a:p>
                      <a:pPr indent="0" lvl="0" marL="0" rtl="0" algn="ctr">
                        <a:spcBef>
                          <a:spcPts val="0"/>
                        </a:spcBef>
                        <a:spcAft>
                          <a:spcPts val="0"/>
                        </a:spcAft>
                        <a:buNone/>
                      </a:pPr>
                      <a:r>
                        <a:rPr lang="en-US"/>
                        <a:t>1.414</a:t>
                      </a:r>
                      <a:endParaRPr/>
                    </a:p>
                  </a:txBody>
                  <a:tcPr marT="91425" marB="91425" marR="91425" marL="91425"/>
                </a:tc>
                <a:tc>
                  <a:txBody>
                    <a:bodyPr/>
                    <a:lstStyle/>
                    <a:p>
                      <a:pPr indent="0" lvl="0" marL="0" rtl="0" algn="ctr">
                        <a:spcBef>
                          <a:spcPts val="0"/>
                        </a:spcBef>
                        <a:spcAft>
                          <a:spcPts val="0"/>
                        </a:spcAft>
                        <a:buNone/>
                      </a:pPr>
                      <a:r>
                        <a:rPr lang="en-US"/>
                        <a:t>18,181</a:t>
                      </a:r>
                      <a:endParaRPr/>
                    </a:p>
                  </a:txBody>
                  <a:tcPr marT="91425" marB="91425" marR="91425" marL="91425"/>
                </a:tc>
              </a:tr>
              <a:tr h="319675">
                <a:tc>
                  <a:txBody>
                    <a:bodyPr/>
                    <a:lstStyle/>
                    <a:p>
                      <a:pPr indent="0" lvl="0" marL="0" rtl="0" algn="ctr">
                        <a:spcBef>
                          <a:spcPts val="0"/>
                        </a:spcBef>
                        <a:spcAft>
                          <a:spcPts val="0"/>
                        </a:spcAft>
                        <a:buNone/>
                      </a:pPr>
                      <a:r>
                        <a:rPr b="1" lang="en-US"/>
                        <a:t>Min</a:t>
                      </a:r>
                      <a:endParaRPr b="1"/>
                    </a:p>
                  </a:txBody>
                  <a:tcPr marT="91425" marB="91425" marR="91425" marL="91425"/>
                </a:tc>
                <a:tc>
                  <a:txBody>
                    <a:bodyPr/>
                    <a:lstStyle/>
                    <a:p>
                      <a:pPr indent="0" lvl="0" marL="0" rtl="0" algn="ctr">
                        <a:spcBef>
                          <a:spcPts val="0"/>
                        </a:spcBef>
                        <a:spcAft>
                          <a:spcPts val="0"/>
                        </a:spcAft>
                        <a:buNone/>
                      </a:pPr>
                      <a:r>
                        <a:rPr lang="en-US"/>
                        <a:t>1.0</a:t>
                      </a:r>
                      <a:endParaRPr/>
                    </a:p>
                  </a:txBody>
                  <a:tcPr marT="91425" marB="91425" marR="91425" marL="91425"/>
                </a:tc>
                <a:tc>
                  <a:txBody>
                    <a:bodyPr/>
                    <a:lstStyle/>
                    <a:p>
                      <a:pPr indent="0" lvl="0" marL="0" rtl="0" algn="ctr">
                        <a:spcBef>
                          <a:spcPts val="0"/>
                        </a:spcBef>
                        <a:spcAft>
                          <a:spcPts val="0"/>
                        </a:spcAft>
                        <a:buNone/>
                      </a:pPr>
                      <a:r>
                        <a:rPr lang="en-US"/>
                        <a:t>5</a:t>
                      </a:r>
                      <a:endParaRPr/>
                    </a:p>
                  </a:txBody>
                  <a:tcPr marT="91425" marB="91425" marR="91425" marL="91425"/>
                </a:tc>
              </a:tr>
              <a:tr h="491800">
                <a:tc>
                  <a:txBody>
                    <a:bodyPr/>
                    <a:lstStyle/>
                    <a:p>
                      <a:pPr indent="0" lvl="0" marL="0" rtl="0" algn="ctr">
                        <a:spcBef>
                          <a:spcPts val="0"/>
                        </a:spcBef>
                        <a:spcAft>
                          <a:spcPts val="0"/>
                        </a:spcAft>
                        <a:buNone/>
                      </a:pPr>
                      <a:r>
                        <a:rPr b="1" lang="en-US"/>
                        <a:t>25% </a:t>
                      </a:r>
                      <a:endParaRPr b="1"/>
                    </a:p>
                  </a:txBody>
                  <a:tcPr marT="91425" marB="91425" marR="91425" marL="91425"/>
                </a:tc>
                <a:tc>
                  <a:txBody>
                    <a:bodyPr/>
                    <a:lstStyle/>
                    <a:p>
                      <a:pPr indent="0" lvl="0" marL="0" rtl="0" algn="ctr">
                        <a:spcBef>
                          <a:spcPts val="0"/>
                        </a:spcBef>
                        <a:spcAft>
                          <a:spcPts val="0"/>
                        </a:spcAft>
                        <a:buNone/>
                      </a:pPr>
                      <a:r>
                        <a:rPr lang="en-US"/>
                        <a:t>6.2</a:t>
                      </a:r>
                      <a:endParaRPr/>
                    </a:p>
                  </a:txBody>
                  <a:tcPr marT="91425" marB="91425" marR="91425" marL="91425"/>
                </a:tc>
                <a:tc>
                  <a:txBody>
                    <a:bodyPr/>
                    <a:lstStyle/>
                    <a:p>
                      <a:pPr indent="0" lvl="0" marL="0" rtl="0" algn="ctr">
                        <a:spcBef>
                          <a:spcPts val="0"/>
                        </a:spcBef>
                        <a:spcAft>
                          <a:spcPts val="0"/>
                        </a:spcAft>
                        <a:buNone/>
                      </a:pPr>
                      <a:r>
                        <a:rPr lang="en-US"/>
                        <a:t>12</a:t>
                      </a:r>
                      <a:endParaRPr/>
                    </a:p>
                  </a:txBody>
                  <a:tcPr marT="91425" marB="91425" marR="91425" marL="91425"/>
                </a:tc>
              </a:tr>
              <a:tr h="491800">
                <a:tc>
                  <a:txBody>
                    <a:bodyPr/>
                    <a:lstStyle/>
                    <a:p>
                      <a:pPr indent="0" lvl="0" marL="0" rtl="0" algn="ctr">
                        <a:spcBef>
                          <a:spcPts val="0"/>
                        </a:spcBef>
                        <a:spcAft>
                          <a:spcPts val="0"/>
                        </a:spcAft>
                        <a:buNone/>
                      </a:pPr>
                      <a:r>
                        <a:rPr b="1" lang="en-US"/>
                        <a:t>50% </a:t>
                      </a:r>
                      <a:endParaRPr b="1"/>
                    </a:p>
                  </a:txBody>
                  <a:tcPr marT="91425" marB="91425" marR="91425" marL="91425"/>
                </a:tc>
                <a:tc>
                  <a:txBody>
                    <a:bodyPr/>
                    <a:lstStyle/>
                    <a:p>
                      <a:pPr indent="0" lvl="0" marL="0" rtl="0" algn="ctr">
                        <a:spcBef>
                          <a:spcPts val="0"/>
                        </a:spcBef>
                        <a:spcAft>
                          <a:spcPts val="0"/>
                        </a:spcAft>
                        <a:buNone/>
                      </a:pPr>
                      <a:r>
                        <a:rPr lang="en-US"/>
                        <a:t>7.2</a:t>
                      </a:r>
                      <a:endParaRPr/>
                    </a:p>
                  </a:txBody>
                  <a:tcPr marT="91425" marB="91425" marR="91425" marL="91425"/>
                </a:tc>
                <a:tc>
                  <a:txBody>
                    <a:bodyPr/>
                    <a:lstStyle/>
                    <a:p>
                      <a:pPr indent="0" lvl="0" marL="0" rtl="0" algn="ctr">
                        <a:spcBef>
                          <a:spcPts val="0"/>
                        </a:spcBef>
                        <a:spcAft>
                          <a:spcPts val="0"/>
                        </a:spcAft>
                        <a:buNone/>
                      </a:pPr>
                      <a:r>
                        <a:rPr lang="en-US"/>
                        <a:t>27</a:t>
                      </a:r>
                      <a:endParaRPr/>
                    </a:p>
                  </a:txBody>
                  <a:tcPr marT="91425" marB="91425" marR="91425" marL="91425"/>
                </a:tc>
              </a:tr>
              <a:tr h="491800">
                <a:tc>
                  <a:txBody>
                    <a:bodyPr/>
                    <a:lstStyle/>
                    <a:p>
                      <a:pPr indent="0" lvl="0" marL="0" rtl="0" algn="ctr">
                        <a:spcBef>
                          <a:spcPts val="0"/>
                        </a:spcBef>
                        <a:spcAft>
                          <a:spcPts val="0"/>
                        </a:spcAft>
                        <a:buNone/>
                      </a:pPr>
                      <a:r>
                        <a:rPr b="1" lang="en-US"/>
                        <a:t>75% </a:t>
                      </a:r>
                      <a:endParaRPr b="1"/>
                    </a:p>
                  </a:txBody>
                  <a:tcPr marT="91425" marB="91425" marR="91425" marL="91425"/>
                </a:tc>
                <a:tc>
                  <a:txBody>
                    <a:bodyPr/>
                    <a:lstStyle/>
                    <a:p>
                      <a:pPr indent="0" lvl="0" marL="0" rtl="0" algn="ctr">
                        <a:spcBef>
                          <a:spcPts val="0"/>
                        </a:spcBef>
                        <a:spcAft>
                          <a:spcPts val="0"/>
                        </a:spcAft>
                        <a:buNone/>
                      </a:pPr>
                      <a:r>
                        <a:rPr lang="en-US"/>
                        <a:t>7.9</a:t>
                      </a:r>
                      <a:endParaRPr/>
                    </a:p>
                  </a:txBody>
                  <a:tcPr marT="91425" marB="91425" marR="91425" marL="91425"/>
                </a:tc>
                <a:tc>
                  <a:txBody>
                    <a:bodyPr/>
                    <a:lstStyle/>
                    <a:p>
                      <a:pPr indent="0" lvl="0" marL="0" rtl="0" algn="ctr">
                        <a:spcBef>
                          <a:spcPts val="0"/>
                        </a:spcBef>
                        <a:spcAft>
                          <a:spcPts val="0"/>
                        </a:spcAft>
                        <a:buNone/>
                      </a:pPr>
                      <a:r>
                        <a:rPr lang="en-US"/>
                        <a:t>103</a:t>
                      </a:r>
                      <a:endParaRPr/>
                    </a:p>
                  </a:txBody>
                  <a:tcPr marT="91425" marB="91425" marR="91425" marL="91425"/>
                </a:tc>
              </a:tr>
              <a:tr h="319675">
                <a:tc>
                  <a:txBody>
                    <a:bodyPr/>
                    <a:lstStyle/>
                    <a:p>
                      <a:pPr indent="0" lvl="0" marL="0" rtl="0" algn="ctr">
                        <a:spcBef>
                          <a:spcPts val="0"/>
                        </a:spcBef>
                        <a:spcAft>
                          <a:spcPts val="0"/>
                        </a:spcAft>
                        <a:buNone/>
                      </a:pPr>
                      <a:r>
                        <a:rPr b="1" lang="en-US"/>
                        <a:t>Max</a:t>
                      </a:r>
                      <a:endParaRPr b="1"/>
                    </a:p>
                  </a:txBody>
                  <a:tcPr marT="91425" marB="91425" marR="91425" marL="91425"/>
                </a:tc>
                <a:tc>
                  <a:txBody>
                    <a:bodyPr/>
                    <a:lstStyle/>
                    <a:p>
                      <a:pPr indent="0" lvl="0" marL="0" rtl="0" algn="ctr">
                        <a:spcBef>
                          <a:spcPts val="0"/>
                        </a:spcBef>
                        <a:spcAft>
                          <a:spcPts val="0"/>
                        </a:spcAft>
                        <a:buNone/>
                      </a:pPr>
                      <a:r>
                        <a:rPr lang="en-US"/>
                        <a:t>10.0</a:t>
                      </a:r>
                      <a:endParaRPr/>
                    </a:p>
                  </a:txBody>
                  <a:tcPr marT="91425" marB="91425" marR="91425" marL="91425"/>
                </a:tc>
                <a:tc>
                  <a:txBody>
                    <a:bodyPr/>
                    <a:lstStyle/>
                    <a:p>
                      <a:pPr indent="0" lvl="0" marL="0" rtl="0" algn="ctr">
                        <a:spcBef>
                          <a:spcPts val="0"/>
                        </a:spcBef>
                        <a:spcAft>
                          <a:spcPts val="0"/>
                        </a:spcAft>
                        <a:buNone/>
                      </a:pPr>
                      <a:r>
                        <a:rPr lang="en-US"/>
                        <a:t>3,164,347</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Task 4</a:t>
            </a:r>
            <a:endParaRPr/>
          </a:p>
        </p:txBody>
      </p:sp>
      <p:sp>
        <p:nvSpPr>
          <p:cNvPr id="220" name="Google Shape;220;p26"/>
          <p:cNvSpPr txBox="1"/>
          <p:nvPr>
            <p:ph idx="1" type="body"/>
          </p:nvPr>
        </p:nvSpPr>
        <p:spPr>
          <a:xfrm>
            <a:off x="99103" y="1124434"/>
            <a:ext cx="8768100" cy="52233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a:t>Central Tendency</a:t>
            </a:r>
            <a:endParaRPr b="1"/>
          </a:p>
        </p:txBody>
      </p:sp>
      <p:graphicFrame>
        <p:nvGraphicFramePr>
          <p:cNvPr id="221" name="Google Shape;221;p26"/>
          <p:cNvGraphicFramePr/>
          <p:nvPr/>
        </p:nvGraphicFramePr>
        <p:xfrm>
          <a:off x="180650" y="1717300"/>
          <a:ext cx="3000000" cy="3000000"/>
        </p:xfrm>
        <a:graphic>
          <a:graphicData uri="http://schemas.openxmlformats.org/drawingml/2006/table">
            <a:tbl>
              <a:tblPr>
                <a:noFill/>
                <a:tableStyleId>{34108515-2D9B-4480-8E0F-6BD9CE425BC0}</a:tableStyleId>
              </a:tblPr>
              <a:tblGrid>
                <a:gridCol w="1809750"/>
                <a:gridCol w="1809750"/>
                <a:gridCol w="1809750"/>
                <a:gridCol w="1809750"/>
              </a:tblGrid>
              <a:tr h="381000">
                <a:tc>
                  <a:txBody>
                    <a:bodyPr/>
                    <a:lstStyle/>
                    <a:p>
                      <a:pPr indent="0" lvl="0" marL="0" rtl="0" algn="ctr">
                        <a:lnSpc>
                          <a:spcPct val="115000"/>
                        </a:lnSpc>
                        <a:spcBef>
                          <a:spcPts val="0"/>
                        </a:spcBef>
                        <a:spcAft>
                          <a:spcPts val="0"/>
                        </a:spcAft>
                        <a:buNone/>
                      </a:pPr>
                      <a:r>
                        <a:rPr b="1" lang="en-US" sz="1500"/>
                        <a:t>Feature</a:t>
                      </a:r>
                      <a:endParaRPr b="1" sz="1500"/>
                    </a:p>
                  </a:txBody>
                  <a:tcPr marT="91425" marB="91425" marR="91425" marL="91425"/>
                </a:tc>
                <a:tc>
                  <a:txBody>
                    <a:bodyPr/>
                    <a:lstStyle/>
                    <a:p>
                      <a:pPr indent="0" lvl="0" marL="0" rtl="0" algn="l">
                        <a:spcBef>
                          <a:spcPts val="0"/>
                        </a:spcBef>
                        <a:spcAft>
                          <a:spcPts val="0"/>
                        </a:spcAft>
                        <a:buNone/>
                      </a:pPr>
                      <a:r>
                        <a:rPr lang="en-US"/>
                        <a:t>Mean</a:t>
                      </a:r>
                      <a:endParaRPr/>
                    </a:p>
                  </a:txBody>
                  <a:tcPr marT="91425" marB="91425" marR="91425" marL="91425"/>
                </a:tc>
                <a:tc>
                  <a:txBody>
                    <a:bodyPr/>
                    <a:lstStyle/>
                    <a:p>
                      <a:pPr indent="0" lvl="0" marL="0" rtl="0" algn="l">
                        <a:spcBef>
                          <a:spcPts val="0"/>
                        </a:spcBef>
                        <a:spcAft>
                          <a:spcPts val="0"/>
                        </a:spcAft>
                        <a:buNone/>
                      </a:pPr>
                      <a:r>
                        <a:rPr lang="en-US"/>
                        <a:t>Median</a:t>
                      </a:r>
                      <a:endParaRPr/>
                    </a:p>
                  </a:txBody>
                  <a:tcPr marT="91425" marB="91425" marR="91425" marL="91425"/>
                </a:tc>
                <a:tc>
                  <a:txBody>
                    <a:bodyPr/>
                    <a:lstStyle/>
                    <a:p>
                      <a:pPr indent="0" lvl="0" marL="0" rtl="0" algn="l">
                        <a:spcBef>
                          <a:spcPts val="0"/>
                        </a:spcBef>
                        <a:spcAft>
                          <a:spcPts val="0"/>
                        </a:spcAft>
                        <a:buNone/>
                      </a:pPr>
                      <a:r>
                        <a:rPr lang="en-US"/>
                        <a:t>Mode</a:t>
                      </a:r>
                      <a:endParaRPr/>
                    </a:p>
                  </a:txBody>
                  <a:tcPr marT="91425" marB="91425" marR="91425" marL="91425"/>
                </a:tc>
              </a:tr>
              <a:tr h="381000">
                <a:tc>
                  <a:txBody>
                    <a:bodyPr/>
                    <a:lstStyle/>
                    <a:p>
                      <a:pPr indent="0" lvl="0" marL="0" rtl="0" algn="l">
                        <a:spcBef>
                          <a:spcPts val="0"/>
                        </a:spcBef>
                        <a:spcAft>
                          <a:spcPts val="0"/>
                        </a:spcAft>
                        <a:buNone/>
                      </a:pPr>
                      <a:r>
                        <a:rPr lang="en-US"/>
                        <a:t>AverageRating</a:t>
                      </a:r>
                      <a:endParaRPr/>
                    </a:p>
                  </a:txBody>
                  <a:tcPr marT="91425" marB="91425" marR="91425" marL="91425"/>
                </a:tc>
                <a:tc>
                  <a:txBody>
                    <a:bodyPr/>
                    <a:lstStyle/>
                    <a:p>
                      <a:pPr indent="0" lvl="0" marL="0" rtl="0" algn="l">
                        <a:spcBef>
                          <a:spcPts val="0"/>
                        </a:spcBef>
                        <a:spcAft>
                          <a:spcPts val="0"/>
                        </a:spcAft>
                        <a:buNone/>
                      </a:pPr>
                      <a:r>
                        <a:rPr lang="en-US"/>
                        <a:t>6.965</a:t>
                      </a:r>
                      <a:endParaRPr/>
                    </a:p>
                  </a:txBody>
                  <a:tcPr marT="91425" marB="91425" marR="91425" marL="91425"/>
                </a:tc>
                <a:tc>
                  <a:txBody>
                    <a:bodyPr/>
                    <a:lstStyle/>
                    <a:p>
                      <a:pPr indent="0" lvl="0" marL="0" rtl="0" algn="l">
                        <a:spcBef>
                          <a:spcPts val="0"/>
                        </a:spcBef>
                        <a:spcAft>
                          <a:spcPts val="0"/>
                        </a:spcAft>
                        <a:buNone/>
                      </a:pPr>
                      <a:r>
                        <a:rPr lang="en-US"/>
                        <a:t>7.2</a:t>
                      </a:r>
                      <a:endParaRPr/>
                    </a:p>
                  </a:txBody>
                  <a:tcPr marT="91425" marB="91425" marR="91425" marL="91425"/>
                </a:tc>
                <a:tc>
                  <a:txBody>
                    <a:bodyPr/>
                    <a:lstStyle/>
                    <a:p>
                      <a:pPr indent="0" lvl="0" marL="0" rtl="0" algn="l">
                        <a:spcBef>
                          <a:spcPts val="0"/>
                        </a:spcBef>
                        <a:spcAft>
                          <a:spcPts val="0"/>
                        </a:spcAft>
                        <a:buNone/>
                      </a:pPr>
                      <a:r>
                        <a:rPr lang="en-US"/>
                        <a:t>7.2</a:t>
                      </a:r>
                      <a:endParaRPr/>
                    </a:p>
                  </a:txBody>
                  <a:tcPr marT="91425" marB="91425" marR="91425" marL="91425"/>
                </a:tc>
              </a:tr>
              <a:tr h="381000">
                <a:tc>
                  <a:txBody>
                    <a:bodyPr/>
                    <a:lstStyle/>
                    <a:p>
                      <a:pPr indent="0" lvl="0" marL="0" rtl="0" algn="l">
                        <a:spcBef>
                          <a:spcPts val="0"/>
                        </a:spcBef>
                        <a:spcAft>
                          <a:spcPts val="0"/>
                        </a:spcAft>
                        <a:buNone/>
                      </a:pPr>
                      <a:r>
                        <a:rPr lang="en-US"/>
                        <a:t>NumVotes</a:t>
                      </a:r>
                      <a:endParaRPr/>
                    </a:p>
                  </a:txBody>
                  <a:tcPr marT="91425" marB="91425" marR="91425" marL="91425"/>
                </a:tc>
                <a:tc>
                  <a:txBody>
                    <a:bodyPr/>
                    <a:lstStyle/>
                    <a:p>
                      <a:pPr indent="0" lvl="0" marL="0" rtl="0" algn="l">
                        <a:spcBef>
                          <a:spcPts val="0"/>
                        </a:spcBef>
                        <a:spcAft>
                          <a:spcPts val="0"/>
                        </a:spcAft>
                        <a:buNone/>
                      </a:pPr>
                      <a:r>
                        <a:rPr lang="en-US"/>
                        <a:t>1040.17</a:t>
                      </a:r>
                      <a:endParaRPr/>
                    </a:p>
                  </a:txBody>
                  <a:tcPr marT="91425" marB="91425" marR="91425" marL="91425"/>
                </a:tc>
                <a:tc>
                  <a:txBody>
                    <a:bodyPr/>
                    <a:lstStyle/>
                    <a:p>
                      <a:pPr indent="0" lvl="0" marL="0" rtl="0" algn="l">
                        <a:spcBef>
                          <a:spcPts val="0"/>
                        </a:spcBef>
                        <a:spcAft>
                          <a:spcPts val="0"/>
                        </a:spcAft>
                        <a:buNone/>
                      </a:pPr>
                      <a:r>
                        <a:rPr lang="en-US"/>
                        <a:t>27</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r>
            </a:tbl>
          </a:graphicData>
        </a:graphic>
      </p:graphicFrame>
      <p:graphicFrame>
        <p:nvGraphicFramePr>
          <p:cNvPr id="222" name="Google Shape;222;p26"/>
          <p:cNvGraphicFramePr/>
          <p:nvPr/>
        </p:nvGraphicFramePr>
        <p:xfrm>
          <a:off x="308150" y="3959675"/>
          <a:ext cx="3000000" cy="3000000"/>
        </p:xfrm>
        <a:graphic>
          <a:graphicData uri="http://schemas.openxmlformats.org/drawingml/2006/table">
            <a:tbl>
              <a:tblPr>
                <a:noFill/>
                <a:tableStyleId>{34108515-2D9B-4480-8E0F-6BD9CE425BC0}</a:tableStyleId>
              </a:tblPr>
              <a:tblGrid>
                <a:gridCol w="1809750"/>
                <a:gridCol w="1809750"/>
              </a:tblGrid>
              <a:tr h="381000">
                <a:tc>
                  <a:txBody>
                    <a:bodyPr/>
                    <a:lstStyle/>
                    <a:p>
                      <a:pPr indent="0" lvl="0" marL="0" rtl="0" algn="l">
                        <a:lnSpc>
                          <a:spcPct val="115000"/>
                        </a:lnSpc>
                        <a:spcBef>
                          <a:spcPts val="0"/>
                        </a:spcBef>
                        <a:spcAft>
                          <a:spcPts val="0"/>
                        </a:spcAft>
                        <a:buNone/>
                      </a:pPr>
                      <a:r>
                        <a:rPr b="1" lang="en-US" sz="1100"/>
                        <a:t>Feature</a:t>
                      </a:r>
                      <a:endParaRPr b="1" sz="1100"/>
                    </a:p>
                  </a:txBody>
                  <a:tcPr marT="91425" marB="91425" marR="91425" marL="91425"/>
                </a:tc>
                <a:tc>
                  <a:txBody>
                    <a:bodyPr/>
                    <a:lstStyle/>
                    <a:p>
                      <a:pPr indent="0" lvl="0" marL="0" rtl="0" algn="l">
                        <a:spcBef>
                          <a:spcPts val="0"/>
                        </a:spcBef>
                        <a:spcAft>
                          <a:spcPts val="0"/>
                        </a:spcAft>
                        <a:buNone/>
                      </a:pPr>
                      <a:r>
                        <a:rPr lang="en-US"/>
                        <a:t>IQR</a:t>
                      </a:r>
                      <a:endParaRPr/>
                    </a:p>
                  </a:txBody>
                  <a:tcPr marT="91425" marB="91425" marR="91425" marL="91425"/>
                </a:tc>
              </a:tr>
              <a:tr h="381000">
                <a:tc>
                  <a:txBody>
                    <a:bodyPr/>
                    <a:lstStyle/>
                    <a:p>
                      <a:pPr indent="0" lvl="0" marL="0" rtl="0" algn="l">
                        <a:spcBef>
                          <a:spcPts val="0"/>
                        </a:spcBef>
                        <a:spcAft>
                          <a:spcPts val="0"/>
                        </a:spcAft>
                        <a:buNone/>
                      </a:pPr>
                      <a:r>
                        <a:rPr lang="en-US"/>
                        <a:t>Rating</a:t>
                      </a:r>
                      <a:endParaRPr/>
                    </a:p>
                  </a:txBody>
                  <a:tcPr marT="91425" marB="91425" marR="91425" marL="91425"/>
                </a:tc>
                <a:tc>
                  <a:txBody>
                    <a:bodyPr/>
                    <a:lstStyle/>
                    <a:p>
                      <a:pPr indent="0" lvl="0" marL="0" rtl="0" algn="l">
                        <a:spcBef>
                          <a:spcPts val="0"/>
                        </a:spcBef>
                        <a:spcAft>
                          <a:spcPts val="0"/>
                        </a:spcAft>
                        <a:buNone/>
                      </a:pPr>
                      <a:r>
                        <a:rPr lang="en-US"/>
                        <a:t>1.7</a:t>
                      </a:r>
                      <a:endParaRPr/>
                    </a:p>
                  </a:txBody>
                  <a:tcPr marT="91425" marB="91425" marR="91425" marL="91425"/>
                </a:tc>
              </a:tr>
              <a:tr h="381000">
                <a:tc>
                  <a:txBody>
                    <a:bodyPr/>
                    <a:lstStyle/>
                    <a:p>
                      <a:pPr indent="0" lvl="0" marL="0" rtl="0" algn="l">
                        <a:spcBef>
                          <a:spcPts val="0"/>
                        </a:spcBef>
                        <a:spcAft>
                          <a:spcPts val="0"/>
                        </a:spcAft>
                        <a:buNone/>
                      </a:pPr>
                      <a:r>
                        <a:rPr lang="en-US"/>
                        <a:t>Votes</a:t>
                      </a:r>
                      <a:endParaRPr/>
                    </a:p>
                  </a:txBody>
                  <a:tcPr marT="91425" marB="91425" marR="91425" marL="91425"/>
                </a:tc>
                <a:tc>
                  <a:txBody>
                    <a:bodyPr/>
                    <a:lstStyle/>
                    <a:p>
                      <a:pPr indent="0" lvl="0" marL="0" rtl="0" algn="l">
                        <a:spcBef>
                          <a:spcPts val="0"/>
                        </a:spcBef>
                        <a:spcAft>
                          <a:spcPts val="0"/>
                        </a:spcAft>
                        <a:buNone/>
                      </a:pPr>
                      <a:r>
                        <a:rPr lang="en-US"/>
                        <a:t>91</a:t>
                      </a:r>
                      <a:endParaRPr/>
                    </a:p>
                  </a:txBody>
                  <a:tcPr marT="91425" marB="91425" marR="91425" marL="91425"/>
                </a:tc>
              </a:tr>
            </a:tbl>
          </a:graphicData>
        </a:graphic>
      </p:graphicFrame>
      <p:graphicFrame>
        <p:nvGraphicFramePr>
          <p:cNvPr id="223" name="Google Shape;223;p26"/>
          <p:cNvGraphicFramePr/>
          <p:nvPr/>
        </p:nvGraphicFramePr>
        <p:xfrm>
          <a:off x="4384275" y="3936850"/>
          <a:ext cx="3000000" cy="3000000"/>
        </p:xfrm>
        <a:graphic>
          <a:graphicData uri="http://schemas.openxmlformats.org/drawingml/2006/table">
            <a:tbl>
              <a:tblPr>
                <a:noFill/>
                <a:tableStyleId>{34108515-2D9B-4480-8E0F-6BD9CE425BC0}</a:tableStyleId>
              </a:tblPr>
              <a:tblGrid>
                <a:gridCol w="1889600"/>
                <a:gridCol w="1889600"/>
              </a:tblGrid>
              <a:tr h="381000">
                <a:tc>
                  <a:txBody>
                    <a:bodyPr/>
                    <a:lstStyle/>
                    <a:p>
                      <a:pPr indent="0" lvl="0" marL="0" rtl="0" algn="l">
                        <a:spcBef>
                          <a:spcPts val="0"/>
                        </a:spcBef>
                        <a:spcAft>
                          <a:spcPts val="0"/>
                        </a:spcAft>
                        <a:buNone/>
                      </a:pPr>
                      <a:r>
                        <a:rPr lang="en-US"/>
                        <a:t>Feature</a:t>
                      </a:r>
                      <a:endParaRPr/>
                    </a:p>
                  </a:txBody>
                  <a:tcPr marT="91425" marB="91425" marR="91425" marL="91425"/>
                </a:tc>
                <a:tc>
                  <a:txBody>
                    <a:bodyPr/>
                    <a:lstStyle/>
                    <a:p>
                      <a:pPr indent="0" lvl="0" marL="0" rtl="0" algn="l">
                        <a:spcBef>
                          <a:spcPts val="0"/>
                        </a:spcBef>
                        <a:spcAft>
                          <a:spcPts val="0"/>
                        </a:spcAft>
                        <a:buNone/>
                      </a:pPr>
                      <a:r>
                        <a:rPr lang="en-US"/>
                        <a:t>Skewness</a:t>
                      </a:r>
                      <a:endParaRPr/>
                    </a:p>
                  </a:txBody>
                  <a:tcPr marT="91425" marB="91425" marR="91425" marL="91425"/>
                </a:tc>
              </a:tr>
              <a:tr h="381000">
                <a:tc>
                  <a:txBody>
                    <a:bodyPr/>
                    <a:lstStyle/>
                    <a:p>
                      <a:pPr indent="0" lvl="0" marL="0" rtl="0" algn="l">
                        <a:spcBef>
                          <a:spcPts val="0"/>
                        </a:spcBef>
                        <a:spcAft>
                          <a:spcPts val="0"/>
                        </a:spcAft>
                        <a:buNone/>
                      </a:pPr>
                      <a:r>
                        <a:rPr lang="en-US"/>
                        <a:t>Rating</a:t>
                      </a:r>
                      <a:endParaRPr/>
                    </a:p>
                  </a:txBody>
                  <a:tcPr marT="91425" marB="91425" marR="91425" marL="91425"/>
                </a:tc>
                <a:tc>
                  <a:txBody>
                    <a:bodyPr/>
                    <a:lstStyle/>
                    <a:p>
                      <a:pPr indent="0" lvl="0" marL="0" rtl="0" algn="l">
                        <a:spcBef>
                          <a:spcPts val="0"/>
                        </a:spcBef>
                        <a:spcAft>
                          <a:spcPts val="0"/>
                        </a:spcAft>
                        <a:buNone/>
                      </a:pPr>
                      <a:r>
                        <a:rPr lang="en-US"/>
                        <a:t>-0.857</a:t>
                      </a:r>
                      <a:endParaRPr/>
                    </a:p>
                  </a:txBody>
                  <a:tcPr marT="91425" marB="91425" marR="91425" marL="91425"/>
                </a:tc>
              </a:tr>
              <a:tr h="381000">
                <a:tc>
                  <a:txBody>
                    <a:bodyPr/>
                    <a:lstStyle/>
                    <a:p>
                      <a:pPr indent="0" lvl="0" marL="0" rtl="0" algn="l">
                        <a:spcBef>
                          <a:spcPts val="0"/>
                        </a:spcBef>
                        <a:spcAft>
                          <a:spcPts val="0"/>
                        </a:spcAft>
                        <a:buNone/>
                      </a:pPr>
                      <a:r>
                        <a:rPr lang="en-US"/>
                        <a:t>Votes</a:t>
                      </a:r>
                      <a:endParaRPr/>
                    </a:p>
                  </a:txBody>
                  <a:tcPr marT="91425" marB="91425" marR="91425" marL="91425"/>
                </a:tc>
                <a:tc>
                  <a:txBody>
                    <a:bodyPr/>
                    <a:lstStyle/>
                    <a:p>
                      <a:pPr indent="0" lvl="0" marL="0" rtl="0" algn="l">
                        <a:spcBef>
                          <a:spcPts val="0"/>
                        </a:spcBef>
                        <a:spcAft>
                          <a:spcPts val="0"/>
                        </a:spcAft>
                        <a:buNone/>
                      </a:pPr>
                      <a:r>
                        <a:rPr lang="en-US"/>
                        <a:t>59.46</a:t>
                      </a:r>
                      <a:endParaRPr/>
                    </a:p>
                  </a:txBody>
                  <a:tcPr marT="91425" marB="91425" marR="91425" marL="91425"/>
                </a:tc>
              </a:tr>
            </a:tbl>
          </a:graphicData>
        </a:graphic>
      </p:graphicFrame>
      <p:sp>
        <p:nvSpPr>
          <p:cNvPr id="224" name="Google Shape;224;p26"/>
          <p:cNvSpPr txBox="1"/>
          <p:nvPr/>
        </p:nvSpPr>
        <p:spPr>
          <a:xfrm>
            <a:off x="4282900" y="3209100"/>
            <a:ext cx="3269700" cy="5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rPr>
              <a:t>Skewness</a:t>
            </a:r>
            <a:endParaRPr sz="3200">
              <a:solidFill>
                <a:schemeClr val="dk1"/>
              </a:solidFill>
              <a:latin typeface="Calibri"/>
              <a:ea typeface="Calibri"/>
              <a:cs typeface="Calibri"/>
              <a:sym typeface="Calibri"/>
            </a:endParaRPr>
          </a:p>
        </p:txBody>
      </p:sp>
      <p:sp>
        <p:nvSpPr>
          <p:cNvPr id="225" name="Google Shape;225;p26"/>
          <p:cNvSpPr txBox="1"/>
          <p:nvPr/>
        </p:nvSpPr>
        <p:spPr>
          <a:xfrm>
            <a:off x="99100" y="3209100"/>
            <a:ext cx="4636500" cy="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rPr>
              <a:t>Interquartile Range (IQR)</a:t>
            </a:r>
            <a:endParaRPr b="1" sz="2400">
              <a:solidFill>
                <a:schemeClr val="dk1"/>
              </a:solidFill>
            </a:endParaRPr>
          </a:p>
        </p:txBody>
      </p:sp>
      <p:graphicFrame>
        <p:nvGraphicFramePr>
          <p:cNvPr id="226" name="Google Shape;226;p26"/>
          <p:cNvGraphicFramePr/>
          <p:nvPr/>
        </p:nvGraphicFramePr>
        <p:xfrm>
          <a:off x="308150" y="5555325"/>
          <a:ext cx="3000000" cy="3000000"/>
        </p:xfrm>
        <a:graphic>
          <a:graphicData uri="http://schemas.openxmlformats.org/drawingml/2006/table">
            <a:tbl>
              <a:tblPr>
                <a:noFill/>
                <a:tableStyleId>{34108515-2D9B-4480-8E0F-6BD9CE425BC0}</a:tableStyleId>
              </a:tblPr>
              <a:tblGrid>
                <a:gridCol w="3619500"/>
                <a:gridCol w="3619500"/>
              </a:tblGrid>
              <a:tr h="381000">
                <a:tc>
                  <a:txBody>
                    <a:bodyPr/>
                    <a:lstStyle/>
                    <a:p>
                      <a:pPr indent="0" lvl="0" marL="0" rtl="0" algn="l">
                        <a:spcBef>
                          <a:spcPts val="0"/>
                        </a:spcBef>
                        <a:spcAft>
                          <a:spcPts val="0"/>
                        </a:spcAft>
                        <a:buNone/>
                      </a:pPr>
                      <a:r>
                        <a:rPr lang="en-US"/>
                        <a:t>Relationship</a:t>
                      </a:r>
                      <a:endParaRPr/>
                    </a:p>
                  </a:txBody>
                  <a:tcPr marT="91425" marB="91425" marR="91425" marL="91425"/>
                </a:tc>
                <a:tc>
                  <a:txBody>
                    <a:bodyPr/>
                    <a:lstStyle/>
                    <a:p>
                      <a:pPr indent="0" lvl="0" marL="0" rtl="0" algn="l">
                        <a:spcBef>
                          <a:spcPts val="0"/>
                        </a:spcBef>
                        <a:spcAft>
                          <a:spcPts val="0"/>
                        </a:spcAft>
                        <a:buNone/>
                      </a:pPr>
                      <a:r>
                        <a:rPr lang="en-US"/>
                        <a:t>Correlation</a:t>
                      </a:r>
                      <a:endParaRPr/>
                    </a:p>
                  </a:txBody>
                  <a:tcPr marT="91425" marB="91425" marR="91425" marL="91425"/>
                </a:tc>
              </a:tr>
              <a:tr h="381000">
                <a:tc>
                  <a:txBody>
                    <a:bodyPr/>
                    <a:lstStyle/>
                    <a:p>
                      <a:pPr indent="0" lvl="0" marL="0" rtl="0" algn="l">
                        <a:spcBef>
                          <a:spcPts val="0"/>
                        </a:spcBef>
                        <a:spcAft>
                          <a:spcPts val="0"/>
                        </a:spcAft>
                        <a:buNone/>
                      </a:pPr>
                      <a:r>
                        <a:rPr lang="en-US"/>
                        <a:t>A</a:t>
                      </a:r>
                      <a:r>
                        <a:rPr lang="en-US"/>
                        <a:t>verageRating vs numVotes</a:t>
                      </a:r>
                      <a:endParaRPr/>
                    </a:p>
                  </a:txBody>
                  <a:tcPr marT="91425" marB="91425" marR="91425" marL="91425"/>
                </a:tc>
                <a:tc>
                  <a:txBody>
                    <a:bodyPr/>
                    <a:lstStyle/>
                    <a:p>
                      <a:pPr indent="0" lvl="0" marL="0" rtl="0" algn="l">
                        <a:spcBef>
                          <a:spcPts val="0"/>
                        </a:spcBef>
                        <a:spcAft>
                          <a:spcPts val="0"/>
                        </a:spcAft>
                        <a:buNone/>
                      </a:pPr>
                      <a:r>
                        <a:rPr lang="en-US"/>
                        <a:t>0.0101</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Task 4</a:t>
            </a:r>
            <a:endParaRPr/>
          </a:p>
        </p:txBody>
      </p:sp>
      <p:sp>
        <p:nvSpPr>
          <p:cNvPr id="233" name="Google Shape;233;p27"/>
          <p:cNvSpPr txBox="1"/>
          <p:nvPr>
            <p:ph idx="1" type="body"/>
          </p:nvPr>
        </p:nvSpPr>
        <p:spPr>
          <a:xfrm>
            <a:off x="180650" y="2269874"/>
            <a:ext cx="8768100" cy="42687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p:txBody>
      </p:sp>
      <p:pic>
        <p:nvPicPr>
          <p:cNvPr id="234" name="Google Shape;234;p27"/>
          <p:cNvPicPr preferRelativeResize="0"/>
          <p:nvPr/>
        </p:nvPicPr>
        <p:blipFill>
          <a:blip r:embed="rId3">
            <a:alphaModFix/>
          </a:blip>
          <a:stretch>
            <a:fillRect/>
          </a:stretch>
        </p:blipFill>
        <p:spPr>
          <a:xfrm>
            <a:off x="107100" y="2592975"/>
            <a:ext cx="7988626" cy="3757825"/>
          </a:xfrm>
          <a:prstGeom prst="rect">
            <a:avLst/>
          </a:prstGeom>
          <a:noFill/>
          <a:ln>
            <a:noFill/>
          </a:ln>
        </p:spPr>
      </p:pic>
      <p:sp>
        <p:nvSpPr>
          <p:cNvPr id="235" name="Google Shape;235;p27"/>
          <p:cNvSpPr txBox="1"/>
          <p:nvPr/>
        </p:nvSpPr>
        <p:spPr>
          <a:xfrm>
            <a:off x="180650" y="1908525"/>
            <a:ext cx="846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t>Normalisation</a:t>
            </a:r>
            <a:r>
              <a:rPr lang="en-US"/>
              <a:t> is used to scale data into a common range to improve model performance and ensure fair contribution of all features.</a:t>
            </a:r>
            <a:endParaRPr/>
          </a:p>
        </p:txBody>
      </p:sp>
      <p:sp>
        <p:nvSpPr>
          <p:cNvPr id="236" name="Google Shape;236;p27"/>
          <p:cNvSpPr txBox="1"/>
          <p:nvPr>
            <p:ph type="title"/>
          </p:nvPr>
        </p:nvSpPr>
        <p:spPr>
          <a:xfrm>
            <a:off x="0" y="1070925"/>
            <a:ext cx="7375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Normalization Techniques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0" y="203000"/>
            <a:ext cx="7930800" cy="5547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sz="2900"/>
              <a:t> Task 4</a:t>
            </a:r>
            <a:endParaRPr sz="2900"/>
          </a:p>
        </p:txBody>
      </p:sp>
      <p:sp>
        <p:nvSpPr>
          <p:cNvPr id="243" name="Google Shape;243;p28"/>
          <p:cNvSpPr txBox="1"/>
          <p:nvPr>
            <p:ph idx="1" type="body"/>
          </p:nvPr>
        </p:nvSpPr>
        <p:spPr>
          <a:xfrm>
            <a:off x="180650" y="1626699"/>
            <a:ext cx="8768100" cy="47847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1. Equal-Width Binning (Left)        3. Custom Domain Binning (Right)</a:t>
            </a:r>
            <a:endParaRPr b="1" sz="1700"/>
          </a:p>
          <a:p>
            <a:pPr indent="-298450" lvl="0" marL="457200" rtl="0" algn="l">
              <a:lnSpc>
                <a:spcPct val="115000"/>
              </a:lnSpc>
              <a:spcBef>
                <a:spcPts val="1200"/>
              </a:spcBef>
              <a:spcAft>
                <a:spcPts val="0"/>
              </a:spcAft>
              <a:buSzPts val="1100"/>
              <a:buChar char="●"/>
            </a:pPr>
            <a:r>
              <a:rPr lang="en-US" sz="1100"/>
              <a:t>Divides data into equal ranges                              User-defined categories</a:t>
            </a:r>
            <a:br>
              <a:rPr lang="en-US" sz="1100"/>
            </a:br>
            <a:endParaRPr sz="1100"/>
          </a:p>
          <a:p>
            <a:pPr indent="-298450" lvl="0" marL="457200" rtl="0" algn="l">
              <a:lnSpc>
                <a:spcPct val="115000"/>
              </a:lnSpc>
              <a:spcBef>
                <a:spcPts val="0"/>
              </a:spcBef>
              <a:spcAft>
                <a:spcPts val="0"/>
              </a:spcAft>
              <a:buSzPts val="1100"/>
              <a:buChar char="●"/>
            </a:pPr>
            <a:r>
              <a:rPr lang="en-US" sz="1100"/>
              <a:t>Example:                                                                Example:</a:t>
            </a:r>
            <a:br>
              <a:rPr lang="en-US" sz="1100"/>
            </a:br>
            <a:endParaRPr sz="1100"/>
          </a:p>
          <a:p>
            <a:pPr indent="-298450" lvl="1" marL="914400" rtl="0" algn="l">
              <a:lnSpc>
                <a:spcPct val="115000"/>
              </a:lnSpc>
              <a:spcBef>
                <a:spcPts val="0"/>
              </a:spcBef>
              <a:spcAft>
                <a:spcPts val="0"/>
              </a:spcAft>
              <a:buSzPts val="1100"/>
              <a:buChar char="○"/>
            </a:pPr>
            <a:r>
              <a:rPr lang="en-US" sz="1100"/>
              <a:t>1–3 → Very Low                                          Poor (≤4)</a:t>
            </a:r>
            <a:br>
              <a:rPr lang="en-US" sz="1100"/>
            </a:br>
            <a:endParaRPr sz="1100"/>
          </a:p>
          <a:p>
            <a:pPr indent="-298450" lvl="1" marL="914400" rtl="0" algn="l">
              <a:lnSpc>
                <a:spcPct val="115000"/>
              </a:lnSpc>
              <a:spcBef>
                <a:spcPts val="0"/>
              </a:spcBef>
              <a:spcAft>
                <a:spcPts val="0"/>
              </a:spcAft>
              <a:buSzPts val="1100"/>
              <a:buChar char="○"/>
            </a:pPr>
            <a:r>
              <a:rPr lang="en-US" sz="1100"/>
              <a:t>3–5 → Low                                                   Average (4–6)</a:t>
            </a:r>
            <a:br>
              <a:rPr lang="en-US" sz="1100"/>
            </a:br>
            <a:endParaRPr sz="1100"/>
          </a:p>
          <a:p>
            <a:pPr indent="-298450" lvl="1" marL="914400" rtl="0" algn="l">
              <a:lnSpc>
                <a:spcPct val="115000"/>
              </a:lnSpc>
              <a:spcBef>
                <a:spcPts val="0"/>
              </a:spcBef>
              <a:spcAft>
                <a:spcPts val="0"/>
              </a:spcAft>
              <a:buSzPts val="1100"/>
              <a:buChar char="○"/>
            </a:pPr>
            <a:r>
              <a:rPr lang="en-US" sz="1100"/>
              <a:t>5–7 → Medium                                             Good (6–7.5)</a:t>
            </a:r>
            <a:br>
              <a:rPr lang="en-US" sz="1100"/>
            </a:br>
            <a:endParaRPr sz="1100"/>
          </a:p>
          <a:p>
            <a:pPr indent="-298450" lvl="1" marL="914400" rtl="0" algn="l">
              <a:lnSpc>
                <a:spcPct val="115000"/>
              </a:lnSpc>
              <a:spcBef>
                <a:spcPts val="0"/>
              </a:spcBef>
              <a:spcAft>
                <a:spcPts val="0"/>
              </a:spcAft>
              <a:buSzPts val="1100"/>
              <a:buChar char="○"/>
            </a:pPr>
            <a:r>
              <a:rPr lang="en-US" sz="1100"/>
              <a:t>7–9 → High                                                  Excellent (&gt;7.5)</a:t>
            </a:r>
            <a:endParaRPr sz="1100"/>
          </a:p>
          <a:p>
            <a:pPr indent="0" lvl="0" marL="0" rtl="0" algn="l">
              <a:lnSpc>
                <a:spcPct val="115000"/>
              </a:lnSpc>
              <a:spcBef>
                <a:spcPts val="1800"/>
              </a:spcBef>
              <a:spcAft>
                <a:spcPts val="0"/>
              </a:spcAft>
              <a:buNone/>
            </a:pPr>
            <a:r>
              <a:rPr b="1" lang="en-US" sz="1700"/>
              <a:t>2. Equal-Frequency Binning (Middle)</a:t>
            </a:r>
            <a:endParaRPr b="1" sz="1700"/>
          </a:p>
          <a:p>
            <a:pPr indent="-298450" lvl="0" marL="457200" rtl="0" algn="l">
              <a:lnSpc>
                <a:spcPct val="115000"/>
              </a:lnSpc>
              <a:spcBef>
                <a:spcPts val="1200"/>
              </a:spcBef>
              <a:spcAft>
                <a:spcPts val="0"/>
              </a:spcAft>
              <a:buSzPts val="1100"/>
              <a:buChar char="●"/>
            </a:pPr>
            <a:r>
              <a:rPr lang="en-US" sz="1100"/>
              <a:t>Each bin has </a:t>
            </a:r>
            <a:r>
              <a:rPr b="1" lang="en-US" sz="1100"/>
              <a:t>equal number of data points</a:t>
            </a:r>
            <a:br>
              <a:rPr b="1" lang="en-US" sz="1100"/>
            </a:br>
            <a:endParaRPr b="1" sz="1100"/>
          </a:p>
          <a:p>
            <a:pPr indent="-298450" lvl="0" marL="457200" rtl="0" algn="l">
              <a:lnSpc>
                <a:spcPct val="115000"/>
              </a:lnSpc>
              <a:spcBef>
                <a:spcPts val="0"/>
              </a:spcBef>
              <a:spcAft>
                <a:spcPts val="0"/>
              </a:spcAft>
              <a:buSzPts val="1100"/>
              <a:buChar char="●"/>
            </a:pPr>
            <a:r>
              <a:rPr lang="en-US" sz="1100"/>
              <a:t>Example:</a:t>
            </a:r>
            <a:br>
              <a:rPr lang="en-US" sz="1100"/>
            </a:br>
            <a:endParaRPr sz="1100"/>
          </a:p>
          <a:p>
            <a:pPr indent="-298450" lvl="1" marL="914400" rtl="0" algn="l">
              <a:lnSpc>
                <a:spcPct val="115000"/>
              </a:lnSpc>
              <a:spcBef>
                <a:spcPts val="0"/>
              </a:spcBef>
              <a:spcAft>
                <a:spcPts val="0"/>
              </a:spcAft>
              <a:buSzPts val="1100"/>
              <a:buChar char="○"/>
            </a:pPr>
            <a:r>
              <a:rPr lang="en-US" sz="1100"/>
              <a:t>Bottom 20%, Next 20%, etc.</a:t>
            </a:r>
            <a:endParaRPr sz="1100"/>
          </a:p>
          <a:p>
            <a:pPr indent="0" lvl="0" marL="0" rtl="0" algn="l">
              <a:spcBef>
                <a:spcPts val="1200"/>
              </a:spcBef>
              <a:spcAft>
                <a:spcPts val="0"/>
              </a:spcAft>
              <a:buNone/>
            </a:pPr>
            <a:r>
              <a:t/>
            </a:r>
            <a:endParaRPr/>
          </a:p>
        </p:txBody>
      </p:sp>
      <p:sp>
        <p:nvSpPr>
          <p:cNvPr id="244" name="Google Shape;244;p28"/>
          <p:cNvSpPr txBox="1"/>
          <p:nvPr>
            <p:ph type="title"/>
          </p:nvPr>
        </p:nvSpPr>
        <p:spPr>
          <a:xfrm>
            <a:off x="0" y="1072100"/>
            <a:ext cx="8083200" cy="5547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sz="2900"/>
              <a:t>Rating Categorization using the binning technique</a:t>
            </a:r>
            <a:endParaRPr sz="2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9"/>
          <p:cNvSpPr txBox="1"/>
          <p:nvPr>
            <p:ph type="title"/>
          </p:nvPr>
        </p:nvSpPr>
        <p:spPr>
          <a:xfrm>
            <a:off x="0" y="203000"/>
            <a:ext cx="72558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lang="en-US"/>
              <a:t> Task 4</a:t>
            </a:r>
            <a:endParaRPr/>
          </a:p>
        </p:txBody>
      </p:sp>
      <p:sp>
        <p:nvSpPr>
          <p:cNvPr id="251" name="Google Shape;251;p29"/>
          <p:cNvSpPr txBox="1"/>
          <p:nvPr>
            <p:ph idx="1" type="body"/>
          </p:nvPr>
        </p:nvSpPr>
        <p:spPr>
          <a:xfrm>
            <a:off x="0" y="1147025"/>
            <a:ext cx="9144000" cy="63903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a:p>
        </p:txBody>
      </p:sp>
      <p:pic>
        <p:nvPicPr>
          <p:cNvPr id="252" name="Google Shape;252;p29"/>
          <p:cNvPicPr preferRelativeResize="0"/>
          <p:nvPr/>
        </p:nvPicPr>
        <p:blipFill>
          <a:blip r:embed="rId3">
            <a:alphaModFix/>
          </a:blip>
          <a:stretch>
            <a:fillRect/>
          </a:stretch>
        </p:blipFill>
        <p:spPr>
          <a:xfrm>
            <a:off x="0" y="1718175"/>
            <a:ext cx="9143999" cy="3891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a:t> Task 4</a:t>
            </a:r>
            <a:endParaRPr/>
          </a:p>
        </p:txBody>
      </p:sp>
      <p:sp>
        <p:nvSpPr>
          <p:cNvPr id="259" name="Google Shape;259;p30"/>
          <p:cNvSpPr txBox="1"/>
          <p:nvPr>
            <p:ph idx="1" type="body"/>
          </p:nvPr>
        </p:nvSpPr>
        <p:spPr>
          <a:xfrm>
            <a:off x="104550" y="1774325"/>
            <a:ext cx="8934900" cy="751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sz="1200"/>
              <a:t>A movie with </a:t>
            </a:r>
            <a:r>
              <a:rPr b="1" lang="en-US" sz="1200"/>
              <a:t>few votes (like 5 votes)</a:t>
            </a:r>
            <a:r>
              <a:rPr lang="en-US" sz="1200"/>
              <a:t> can get </a:t>
            </a:r>
            <a:r>
              <a:rPr b="1" lang="en-US" sz="1200"/>
              <a:t>10/10 rating</a:t>
            </a:r>
            <a:br>
              <a:rPr b="1" lang="en-US" sz="1200"/>
            </a:br>
            <a:endParaRPr b="1" sz="1200"/>
          </a:p>
          <a:p>
            <a:pPr indent="0" lvl="0" marL="0" rtl="0" algn="l">
              <a:spcBef>
                <a:spcPts val="480"/>
              </a:spcBef>
              <a:spcAft>
                <a:spcPts val="0"/>
              </a:spcAft>
              <a:buClr>
                <a:schemeClr val="dk1"/>
              </a:buClr>
              <a:buSzPts val="1100"/>
              <a:buFont typeface="Arial"/>
              <a:buNone/>
            </a:pPr>
            <a:r>
              <a:rPr lang="en-US" sz="1200"/>
              <a:t>That doesn’t mean it is truly the best movie</a:t>
            </a:r>
            <a:endParaRPr sz="1200"/>
          </a:p>
          <a:p>
            <a:pPr indent="0" lvl="0" marL="0" rtl="0" algn="l">
              <a:spcBef>
                <a:spcPts val="480"/>
              </a:spcBef>
              <a:spcAft>
                <a:spcPts val="0"/>
              </a:spcAft>
              <a:buNone/>
            </a:pPr>
            <a:r>
              <a:t/>
            </a:r>
            <a:endParaRPr/>
          </a:p>
        </p:txBody>
      </p:sp>
      <p:pic>
        <p:nvPicPr>
          <p:cNvPr id="260" name="Google Shape;260;p30"/>
          <p:cNvPicPr preferRelativeResize="0"/>
          <p:nvPr/>
        </p:nvPicPr>
        <p:blipFill>
          <a:blip r:embed="rId3">
            <a:alphaModFix/>
          </a:blip>
          <a:stretch>
            <a:fillRect/>
          </a:stretch>
        </p:blipFill>
        <p:spPr>
          <a:xfrm>
            <a:off x="0" y="2648675"/>
            <a:ext cx="4669727" cy="3715551"/>
          </a:xfrm>
          <a:prstGeom prst="rect">
            <a:avLst/>
          </a:prstGeom>
          <a:noFill/>
          <a:ln>
            <a:noFill/>
          </a:ln>
        </p:spPr>
      </p:pic>
      <p:pic>
        <p:nvPicPr>
          <p:cNvPr id="261" name="Google Shape;261;p30"/>
          <p:cNvPicPr preferRelativeResize="0"/>
          <p:nvPr/>
        </p:nvPicPr>
        <p:blipFill>
          <a:blip r:embed="rId4">
            <a:alphaModFix/>
          </a:blip>
          <a:stretch>
            <a:fillRect/>
          </a:stretch>
        </p:blipFill>
        <p:spPr>
          <a:xfrm>
            <a:off x="5296275" y="2559386"/>
            <a:ext cx="3553327" cy="3771250"/>
          </a:xfrm>
          <a:prstGeom prst="rect">
            <a:avLst/>
          </a:prstGeom>
          <a:noFill/>
          <a:ln>
            <a:noFill/>
          </a:ln>
        </p:spPr>
      </p:pic>
      <p:sp>
        <p:nvSpPr>
          <p:cNvPr id="262" name="Google Shape;262;p30"/>
          <p:cNvSpPr txBox="1"/>
          <p:nvPr>
            <p:ph type="title"/>
          </p:nvPr>
        </p:nvSpPr>
        <p:spPr>
          <a:xfrm>
            <a:off x="0" y="1076450"/>
            <a:ext cx="7375200" cy="6309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a:t>Bayesian Weighted Rating Analysis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1"/>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lang="en-US" sz="2600"/>
              <a:t> Task 4</a:t>
            </a:r>
            <a:endParaRPr sz="2600"/>
          </a:p>
        </p:txBody>
      </p:sp>
      <p:sp>
        <p:nvSpPr>
          <p:cNvPr id="269" name="Google Shape;269;p31"/>
          <p:cNvSpPr txBox="1"/>
          <p:nvPr>
            <p:ph idx="1" type="body"/>
          </p:nvPr>
        </p:nvSpPr>
        <p:spPr>
          <a:xfrm>
            <a:off x="180650" y="1854851"/>
            <a:ext cx="8768100" cy="4558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0"/>
              </a:spcAft>
              <a:buClr>
                <a:schemeClr val="dk1"/>
              </a:buClr>
              <a:buSzPts val="1100"/>
              <a:buFont typeface="Arial"/>
              <a:buNone/>
            </a:pPr>
            <a:r>
              <a:rPr lang="en-US" sz="1300"/>
              <a:t>  It sho</a:t>
            </a:r>
            <a:r>
              <a:rPr b="1" lang="en-US" sz="1300"/>
              <a:t> </a:t>
            </a:r>
            <a:r>
              <a:rPr lang="en-US" sz="1300"/>
              <a:t>ws </a:t>
            </a:r>
            <a:r>
              <a:rPr b="1" lang="en-US" sz="1300"/>
              <a:t>relationshipsbetween movie categories</a:t>
            </a:r>
            <a:r>
              <a:rPr lang="en-US" sz="1300"/>
              <a:t> (like rating vs popularity).</a:t>
            </a:r>
            <a:endParaRPr sz="1300"/>
          </a:p>
          <a:p>
            <a:pPr indent="0" lvl="0" marL="0" rtl="0" algn="l">
              <a:spcBef>
                <a:spcPts val="120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spcBef>
                <a:spcPts val="480"/>
              </a:spcBef>
              <a:spcAft>
                <a:spcPts val="0"/>
              </a:spcAft>
              <a:buNone/>
            </a:pPr>
            <a:r>
              <a:t/>
            </a:r>
            <a:endParaRPr/>
          </a:p>
          <a:p>
            <a:pPr indent="0" lvl="0" marL="0" rtl="0" algn="l">
              <a:lnSpc>
                <a:spcPct val="115000"/>
              </a:lnSpc>
              <a:spcBef>
                <a:spcPts val="1800"/>
              </a:spcBef>
              <a:spcAft>
                <a:spcPts val="0"/>
              </a:spcAft>
              <a:buNone/>
            </a:pPr>
            <a:r>
              <a:t/>
            </a:r>
            <a:endParaRPr sz="1100"/>
          </a:p>
          <a:p>
            <a:pPr indent="0" lvl="0" marL="0" rtl="0" algn="l">
              <a:spcBef>
                <a:spcPts val="480"/>
              </a:spcBef>
              <a:spcAft>
                <a:spcPts val="0"/>
              </a:spcAft>
              <a:buNone/>
            </a:pPr>
            <a:r>
              <a:t/>
            </a:r>
            <a:endParaRPr/>
          </a:p>
        </p:txBody>
      </p:sp>
      <p:pic>
        <p:nvPicPr>
          <p:cNvPr id="270" name="Google Shape;270;p31"/>
          <p:cNvPicPr preferRelativeResize="0"/>
          <p:nvPr/>
        </p:nvPicPr>
        <p:blipFill>
          <a:blip r:embed="rId3">
            <a:alphaModFix/>
          </a:blip>
          <a:stretch>
            <a:fillRect/>
          </a:stretch>
        </p:blipFill>
        <p:spPr>
          <a:xfrm>
            <a:off x="180650" y="2891568"/>
            <a:ext cx="8119550" cy="3033100"/>
          </a:xfrm>
          <a:prstGeom prst="rect">
            <a:avLst/>
          </a:prstGeom>
          <a:noFill/>
          <a:ln>
            <a:noFill/>
          </a:ln>
        </p:spPr>
      </p:pic>
      <p:sp>
        <p:nvSpPr>
          <p:cNvPr id="271" name="Google Shape;271;p31"/>
          <p:cNvSpPr txBox="1"/>
          <p:nvPr>
            <p:ph type="title"/>
          </p:nvPr>
        </p:nvSpPr>
        <p:spPr>
          <a:xfrm>
            <a:off x="0" y="1130125"/>
            <a:ext cx="7375200" cy="724800"/>
          </a:xfrm>
          <a:prstGeom prst="rect">
            <a:avLst/>
          </a:prstGeom>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lang="en-US" sz="2600"/>
              <a:t>Association Rule Mining (Apriori Algorithm Result)</a:t>
            </a:r>
            <a:endParaRPr sz="2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0" y="203000"/>
            <a:ext cx="72228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lang="en-US" sz="2600"/>
              <a:t> Task 4</a:t>
            </a:r>
            <a:endParaRPr/>
          </a:p>
        </p:txBody>
      </p:sp>
      <p:sp>
        <p:nvSpPr>
          <p:cNvPr id="278" name="Google Shape;278;p32"/>
          <p:cNvSpPr txBox="1"/>
          <p:nvPr>
            <p:ph idx="1" type="body"/>
          </p:nvPr>
        </p:nvSpPr>
        <p:spPr>
          <a:xfrm>
            <a:off x="180650" y="1734051"/>
            <a:ext cx="8768100" cy="4663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t>It shows how different models perform in predicting movie categories (e.g., High vs Low quality)</a:t>
            </a:r>
            <a:endParaRPr/>
          </a:p>
        </p:txBody>
      </p:sp>
      <p:pic>
        <p:nvPicPr>
          <p:cNvPr id="279" name="Google Shape;279;p32"/>
          <p:cNvPicPr preferRelativeResize="0"/>
          <p:nvPr/>
        </p:nvPicPr>
        <p:blipFill>
          <a:blip r:embed="rId3">
            <a:alphaModFix/>
          </a:blip>
          <a:stretch>
            <a:fillRect/>
          </a:stretch>
        </p:blipFill>
        <p:spPr>
          <a:xfrm>
            <a:off x="295325" y="2083000"/>
            <a:ext cx="7905750" cy="1346000"/>
          </a:xfrm>
          <a:prstGeom prst="rect">
            <a:avLst/>
          </a:prstGeom>
          <a:noFill/>
          <a:ln>
            <a:noFill/>
          </a:ln>
        </p:spPr>
      </p:pic>
      <p:pic>
        <p:nvPicPr>
          <p:cNvPr id="280" name="Google Shape;280;p32"/>
          <p:cNvPicPr preferRelativeResize="0"/>
          <p:nvPr/>
        </p:nvPicPr>
        <p:blipFill>
          <a:blip r:embed="rId4">
            <a:alphaModFix/>
          </a:blip>
          <a:stretch>
            <a:fillRect/>
          </a:stretch>
        </p:blipFill>
        <p:spPr>
          <a:xfrm>
            <a:off x="0" y="3501575"/>
            <a:ext cx="9009525" cy="3152850"/>
          </a:xfrm>
          <a:prstGeom prst="rect">
            <a:avLst/>
          </a:prstGeom>
          <a:noFill/>
          <a:ln>
            <a:noFill/>
          </a:ln>
        </p:spPr>
      </p:pic>
      <p:sp>
        <p:nvSpPr>
          <p:cNvPr id="281" name="Google Shape;281;p32"/>
          <p:cNvSpPr txBox="1"/>
          <p:nvPr>
            <p:ph type="title"/>
          </p:nvPr>
        </p:nvSpPr>
        <p:spPr>
          <a:xfrm>
            <a:off x="0" y="1072100"/>
            <a:ext cx="7375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1800"/>
              </a:spcBef>
              <a:spcAft>
                <a:spcPts val="400"/>
              </a:spcAft>
              <a:buClr>
                <a:schemeClr val="dk1"/>
              </a:buClr>
              <a:buSzPts val="1100"/>
              <a:buFont typeface="Arial"/>
              <a:buNone/>
            </a:pPr>
            <a:r>
              <a:rPr lang="en-US" sz="2600"/>
              <a:t> Classification Model Performance Results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3"/>
          <p:cNvSpPr txBox="1"/>
          <p:nvPr>
            <p:ph type="title"/>
          </p:nvPr>
        </p:nvSpPr>
        <p:spPr>
          <a:xfrm>
            <a:off x="0" y="284725"/>
            <a:ext cx="8259300" cy="5154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sz="2900"/>
              <a:t> Task 4</a:t>
            </a:r>
            <a:endParaRPr sz="2900"/>
          </a:p>
        </p:txBody>
      </p:sp>
      <p:pic>
        <p:nvPicPr>
          <p:cNvPr id="288" name="Google Shape;288;p33"/>
          <p:cNvPicPr preferRelativeResize="0"/>
          <p:nvPr/>
        </p:nvPicPr>
        <p:blipFill>
          <a:blip r:embed="rId3">
            <a:alphaModFix/>
          </a:blip>
          <a:stretch>
            <a:fillRect/>
          </a:stretch>
        </p:blipFill>
        <p:spPr>
          <a:xfrm>
            <a:off x="0" y="1732375"/>
            <a:ext cx="9144000" cy="4776750"/>
          </a:xfrm>
          <a:prstGeom prst="rect">
            <a:avLst/>
          </a:prstGeom>
          <a:noFill/>
          <a:ln>
            <a:noFill/>
          </a:ln>
        </p:spPr>
      </p:pic>
      <p:sp>
        <p:nvSpPr>
          <p:cNvPr id="289" name="Google Shape;289;p33"/>
          <p:cNvSpPr txBox="1"/>
          <p:nvPr>
            <p:ph type="title"/>
          </p:nvPr>
        </p:nvSpPr>
        <p:spPr>
          <a:xfrm>
            <a:off x="0" y="1111225"/>
            <a:ext cx="8411700" cy="515400"/>
          </a:xfrm>
          <a:prstGeom prst="rect">
            <a:avLst/>
          </a:prstGeom>
        </p:spPr>
        <p:txBody>
          <a:bodyPr anchorCtr="0" anchor="ctr"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lang="en-US" sz="2900"/>
              <a:t> Top 25 Movies Based on Bayesian Weighted Rating</a:t>
            </a:r>
            <a:endParaRPr sz="2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75025" y="203000"/>
            <a:ext cx="7885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200">
                <a:latin typeface="Arial"/>
                <a:ea typeface="Arial"/>
                <a:cs typeface="Arial"/>
                <a:sym typeface="Arial"/>
              </a:rPr>
              <a:t>Task 3 : Cast</a:t>
            </a:r>
            <a:r>
              <a:rPr lang="en-US" sz="2200">
                <a:latin typeface="Arial"/>
                <a:ea typeface="Arial"/>
                <a:cs typeface="Arial"/>
                <a:sym typeface="Arial"/>
              </a:rPr>
              <a:t> Graph &amp; Community Detection</a:t>
            </a:r>
            <a:endParaRPr sz="2200">
              <a:latin typeface="Arial"/>
              <a:ea typeface="Arial"/>
              <a:cs typeface="Arial"/>
              <a:sym typeface="Arial"/>
            </a:endParaRPr>
          </a:p>
        </p:txBody>
      </p:sp>
      <p:sp>
        <p:nvSpPr>
          <p:cNvPr id="296" name="Google Shape;296;p34"/>
          <p:cNvSpPr txBox="1"/>
          <p:nvPr>
            <p:ph idx="1" type="body"/>
          </p:nvPr>
        </p:nvSpPr>
        <p:spPr>
          <a:xfrm>
            <a:off x="180650" y="1173975"/>
            <a:ext cx="8852700" cy="50862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480"/>
              </a:spcBef>
              <a:spcAft>
                <a:spcPts val="0"/>
              </a:spcAft>
              <a:buSzPts val="1600"/>
              <a:buChar char="●"/>
            </a:pPr>
            <a:r>
              <a:rPr lang="en-US" sz="1600"/>
              <a:t>Counting shared actors is fast but treats every actor as equal. This module builds a global view of actor collaboration to detect creative circles.</a:t>
            </a:r>
            <a:br>
              <a:rPr i="1" lang="en-US" sz="1600"/>
            </a:br>
            <a:br>
              <a:rPr i="1" lang="en-US" sz="1600"/>
            </a:br>
            <a:r>
              <a:rPr b="1" lang="en-US" sz="1600"/>
              <a:t>Goal : </a:t>
            </a:r>
            <a:r>
              <a:rPr lang="en-US" sz="1600"/>
              <a:t>Construct a graph where every </a:t>
            </a:r>
            <a:r>
              <a:rPr b="1" lang="en-US" sz="1600"/>
              <a:t>node is an actor</a:t>
            </a:r>
            <a:r>
              <a:rPr lang="en-US" sz="1600"/>
              <a:t> and every </a:t>
            </a:r>
            <a:r>
              <a:rPr b="1" lang="en-US" sz="1600"/>
              <a:t>edge means they appeared in a film together.</a:t>
            </a:r>
            <a:endParaRPr b="1" sz="1600"/>
          </a:p>
          <a:p>
            <a:pPr indent="0" lvl="0" marL="457200" rtl="0" algn="l">
              <a:lnSpc>
                <a:spcPct val="115000"/>
              </a:lnSpc>
              <a:spcBef>
                <a:spcPts val="480"/>
              </a:spcBef>
              <a:spcAft>
                <a:spcPts val="0"/>
              </a:spcAft>
              <a:buNone/>
            </a:pPr>
            <a:r>
              <a:t/>
            </a:r>
            <a:endParaRPr b="1" sz="1600"/>
          </a:p>
          <a:p>
            <a:pPr indent="-330200" lvl="0" marL="457200" rtl="0" algn="l">
              <a:lnSpc>
                <a:spcPct val="115000"/>
              </a:lnSpc>
              <a:spcBef>
                <a:spcPts val="480"/>
              </a:spcBef>
              <a:spcAft>
                <a:spcPts val="0"/>
              </a:spcAft>
              <a:buSzPts val="1600"/>
              <a:buChar char="●"/>
            </a:pPr>
            <a:r>
              <a:rPr lang="en-US" sz="1600"/>
              <a:t>Edge weight is the number of films they have shared. Frequent collaborators have thicker connections.</a:t>
            </a:r>
            <a:endParaRPr sz="1600"/>
          </a:p>
          <a:p>
            <a:pPr indent="-330200" lvl="0" marL="457200" rtl="0" algn="l">
              <a:lnSpc>
                <a:spcPct val="115000"/>
              </a:lnSpc>
              <a:spcBef>
                <a:spcPts val="0"/>
              </a:spcBef>
              <a:spcAft>
                <a:spcPts val="0"/>
              </a:spcAft>
              <a:buSzPts val="1600"/>
              <a:buChar char="●"/>
            </a:pPr>
            <a:r>
              <a:rPr lang="en-US" sz="1600"/>
              <a:t>Ran </a:t>
            </a:r>
            <a:r>
              <a:rPr b="1" lang="en-US" sz="1600"/>
              <a:t>Louvain community detection</a:t>
            </a:r>
            <a:r>
              <a:rPr lang="en-US" sz="1600"/>
              <a:t> on this graph , this automatically groups actors into cinematic communities ( the Nolan circle, the Marvel ensemble, Bollywood clusters)</a:t>
            </a:r>
            <a:endParaRPr sz="1600"/>
          </a:p>
          <a:p>
            <a:pPr indent="-330200" lvl="0" marL="457200" rtl="0" algn="l">
              <a:lnSpc>
                <a:spcPct val="115000"/>
              </a:lnSpc>
              <a:spcBef>
                <a:spcPts val="0"/>
              </a:spcBef>
              <a:spcAft>
                <a:spcPts val="0"/>
              </a:spcAft>
              <a:buSzPts val="1600"/>
              <a:buChar char="●"/>
            </a:pPr>
            <a:r>
              <a:rPr lang="en-US" sz="1600"/>
              <a:t>Built a scoring function with two parts :</a:t>
            </a:r>
            <a:br>
              <a:rPr lang="en-US" sz="1600"/>
            </a:br>
            <a:r>
              <a:rPr lang="en-US" sz="1600"/>
              <a:t> -  </a:t>
            </a:r>
            <a:r>
              <a:rPr b="1" lang="en-US" sz="1600"/>
              <a:t>Part 1 - Direct overlap:</a:t>
            </a:r>
            <a:r>
              <a:rPr lang="en-US" sz="1600"/>
              <a:t> how many actors appear in both films.</a:t>
            </a:r>
            <a:br>
              <a:rPr lang="en-US" sz="1600"/>
            </a:br>
            <a:r>
              <a:rPr lang="en-US" sz="1600"/>
              <a:t> -  </a:t>
            </a:r>
            <a:r>
              <a:rPr b="1" lang="en-US" sz="1600"/>
              <a:t>Part 2 - Community bonus:</a:t>
            </a:r>
            <a:r>
              <a:rPr lang="en-US" sz="1600"/>
              <a:t> how many actors in the candidate film belong to the                                                                        same community as the query film's cast, even if they never directly co-starred</a:t>
            </a:r>
            <a:endParaRPr sz="1600"/>
          </a:p>
          <a:p>
            <a:pPr indent="-330200" lvl="0" marL="457200" rtl="0" algn="l">
              <a:lnSpc>
                <a:spcPct val="115000"/>
              </a:lnSpc>
              <a:spcBef>
                <a:spcPts val="0"/>
              </a:spcBef>
              <a:spcAft>
                <a:spcPts val="0"/>
              </a:spcAft>
              <a:buSzPts val="1600"/>
              <a:buChar char="●"/>
            </a:pPr>
            <a:r>
              <a:rPr lang="en-US" sz="1600"/>
              <a:t>This score is passed into the team's hybrid recommender.</a:t>
            </a:r>
            <a:endParaRPr i="1" sz="1600"/>
          </a:p>
          <a:p>
            <a:pPr indent="0" lvl="0" marL="457200" rtl="0" algn="l">
              <a:spcBef>
                <a:spcPts val="480"/>
              </a:spcBef>
              <a:spcAft>
                <a:spcPts val="0"/>
              </a:spcAft>
              <a:buNone/>
            </a:pPr>
            <a:r>
              <a:t/>
            </a:r>
            <a:endParaRPr sz="1500">
              <a:latin typeface="Calibri"/>
              <a:ea typeface="Calibri"/>
              <a:cs typeface="Calibri"/>
              <a:sym typeface="Calibri"/>
            </a:endParaRPr>
          </a:p>
          <a:p>
            <a:pPr indent="0" lvl="0" marL="0" rtl="0" algn="l">
              <a:spcBef>
                <a:spcPts val="480"/>
              </a:spcBef>
              <a:spcAft>
                <a:spcPts val="0"/>
              </a:spcAft>
              <a:buNone/>
            </a:pPr>
            <a:r>
              <a:t/>
            </a:r>
            <a:endParaRPr b="1" sz="13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type="title"/>
          </p:nvPr>
        </p:nvSpPr>
        <p:spPr>
          <a:xfrm>
            <a:off x="180650" y="203000"/>
            <a:ext cx="74421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400">
                <a:latin typeface="Arial"/>
                <a:ea typeface="Arial"/>
                <a:cs typeface="Arial"/>
                <a:sym typeface="Arial"/>
              </a:rPr>
              <a:t>Degree Centrality &amp; Community Detection</a:t>
            </a:r>
            <a:endParaRPr sz="2400">
              <a:latin typeface="Arial"/>
              <a:ea typeface="Arial"/>
              <a:cs typeface="Arial"/>
              <a:sym typeface="Arial"/>
            </a:endParaRPr>
          </a:p>
        </p:txBody>
      </p:sp>
      <p:sp>
        <p:nvSpPr>
          <p:cNvPr id="303" name="Google Shape;303;p35"/>
          <p:cNvSpPr txBox="1"/>
          <p:nvPr>
            <p:ph idx="1" type="body"/>
          </p:nvPr>
        </p:nvSpPr>
        <p:spPr>
          <a:xfrm>
            <a:off x="180650" y="1173975"/>
            <a:ext cx="3767700" cy="5387700"/>
          </a:xfrm>
          <a:prstGeom prst="rect">
            <a:avLst/>
          </a:prstGeom>
        </p:spPr>
        <p:txBody>
          <a:bodyPr anchorCtr="0" anchor="t" bIns="45700" lIns="91425" spcFirstLastPara="1" rIns="91425" wrap="square" tIns="45700">
            <a:noAutofit/>
          </a:bodyPr>
          <a:lstStyle/>
          <a:p>
            <a:pPr indent="0" lvl="0" marL="0" rtl="0" algn="l">
              <a:lnSpc>
                <a:spcPct val="150000"/>
              </a:lnSpc>
              <a:spcBef>
                <a:spcPts val="1200"/>
              </a:spcBef>
              <a:spcAft>
                <a:spcPts val="0"/>
              </a:spcAft>
              <a:buClr>
                <a:schemeClr val="dk1"/>
              </a:buClr>
              <a:buSzPts val="1100"/>
              <a:buFont typeface="Arial"/>
              <a:buNone/>
            </a:pPr>
            <a:r>
              <a:rPr b="1" lang="en-US" sz="1100"/>
              <a:t> Degree Centralit</a:t>
            </a:r>
            <a:r>
              <a:rPr b="1" lang="en-US" sz="1100"/>
              <a:t>y : </a:t>
            </a:r>
            <a:endParaRPr b="1" sz="1100"/>
          </a:p>
          <a:p>
            <a:pPr indent="-298450" lvl="0" marL="457200" rtl="0" algn="l">
              <a:lnSpc>
                <a:spcPct val="150000"/>
              </a:lnSpc>
              <a:spcBef>
                <a:spcPts val="1200"/>
              </a:spcBef>
              <a:spcAft>
                <a:spcPts val="0"/>
              </a:spcAft>
              <a:buSzPts val="1100"/>
              <a:buChar char="●"/>
            </a:pPr>
            <a:r>
              <a:rPr lang="en-US" sz="1100"/>
              <a:t>In a graph, the </a:t>
            </a:r>
            <a:r>
              <a:rPr b="1" lang="en-US" sz="1100"/>
              <a:t>degree</a:t>
            </a:r>
            <a:r>
              <a:rPr lang="en-US" sz="1100"/>
              <a:t> of an actor node = number of unique co-actors they have worked with</a:t>
            </a:r>
            <a:endParaRPr sz="1100"/>
          </a:p>
          <a:p>
            <a:pPr indent="-298450" lvl="0" marL="457200" rtl="0" algn="l">
              <a:lnSpc>
                <a:spcPct val="150000"/>
              </a:lnSpc>
              <a:spcBef>
                <a:spcPts val="0"/>
              </a:spcBef>
              <a:spcAft>
                <a:spcPts val="0"/>
              </a:spcAft>
              <a:buSzPts val="1100"/>
              <a:buChar char="●"/>
            </a:pPr>
            <a:r>
              <a:rPr lang="en-US" sz="1100"/>
              <a:t>An actor with degree 439 (e.g. Nassar) has appeared alongside 439 different actors across their career</a:t>
            </a:r>
            <a:endParaRPr sz="1100"/>
          </a:p>
          <a:p>
            <a:pPr indent="-298450" lvl="0" marL="457200" rtl="0" algn="l">
              <a:lnSpc>
                <a:spcPct val="150000"/>
              </a:lnSpc>
              <a:spcBef>
                <a:spcPts val="0"/>
              </a:spcBef>
              <a:spcAft>
                <a:spcPts val="0"/>
              </a:spcAft>
              <a:buSzPts val="1100"/>
              <a:buChar char="●"/>
            </a:pPr>
            <a:r>
              <a:rPr lang="en-US" sz="1100"/>
              <a:t>High-degree actors are </a:t>
            </a:r>
            <a:r>
              <a:rPr b="1" lang="en-US" sz="1100"/>
              <a:t>hubs</a:t>
            </a:r>
            <a:r>
              <a:rPr lang="en-US" sz="1100"/>
              <a:t> , they bridge genre clusters and connect otherwise isolated parts of the network</a:t>
            </a:r>
            <a:endParaRPr sz="1100"/>
          </a:p>
          <a:p>
            <a:pPr indent="0" lvl="0" marL="0" rtl="0" algn="l">
              <a:lnSpc>
                <a:spcPct val="150000"/>
              </a:lnSpc>
              <a:spcBef>
                <a:spcPts val="1200"/>
              </a:spcBef>
              <a:spcAft>
                <a:spcPts val="0"/>
              </a:spcAft>
              <a:buNone/>
            </a:pPr>
            <a:r>
              <a:rPr b="1" lang="en-US" sz="1100"/>
              <a:t>Louvain Community Detection : </a:t>
            </a:r>
            <a:endParaRPr b="1" sz="1100"/>
          </a:p>
          <a:p>
            <a:pPr indent="-298450" lvl="0" marL="457200" rtl="0" algn="l">
              <a:lnSpc>
                <a:spcPct val="150000"/>
              </a:lnSpc>
              <a:spcBef>
                <a:spcPts val="1200"/>
              </a:spcBef>
              <a:spcAft>
                <a:spcPts val="0"/>
              </a:spcAft>
              <a:buSzPts val="1100"/>
              <a:buChar char="●"/>
            </a:pPr>
            <a:r>
              <a:rPr lang="en-US" sz="1100"/>
              <a:t>Louvain is an unsupervised graph partitioning algorithm that maximises </a:t>
            </a:r>
            <a:r>
              <a:rPr b="1" lang="en-US" sz="1100"/>
              <a:t>modularity Q</a:t>
            </a:r>
            <a:endParaRPr b="1" sz="1100"/>
          </a:p>
          <a:p>
            <a:pPr indent="-298450" lvl="0" marL="457200" rtl="0" algn="l">
              <a:lnSpc>
                <a:spcPct val="150000"/>
              </a:lnSpc>
              <a:spcBef>
                <a:spcPts val="0"/>
              </a:spcBef>
              <a:spcAft>
                <a:spcPts val="0"/>
              </a:spcAft>
              <a:buSzPts val="1100"/>
              <a:buChar char="●"/>
            </a:pPr>
            <a:r>
              <a:rPr lang="en-US" sz="1100"/>
              <a:t>Modularity Q measures how much more densely actors are connected </a:t>
            </a:r>
            <a:r>
              <a:rPr i="1" lang="en-US" sz="1100"/>
              <a:t>within</a:t>
            </a:r>
            <a:r>
              <a:rPr lang="en-US" sz="1100"/>
              <a:t> a community vs. </a:t>
            </a:r>
            <a:r>
              <a:rPr i="1" lang="en-US" sz="1100"/>
              <a:t>across</a:t>
            </a:r>
            <a:r>
              <a:rPr lang="en-US" sz="1100"/>
              <a:t> communities . Q = 0.67 here (strong partition, Q &gt; 0.3 is considered good)</a:t>
            </a:r>
            <a:endParaRPr sz="1100"/>
          </a:p>
          <a:p>
            <a:pPr indent="0" lvl="0" marL="45720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a:p>
        </p:txBody>
      </p:sp>
      <p:pic>
        <p:nvPicPr>
          <p:cNvPr id="304" name="Google Shape;304;p35" title="mod3_viz4_hub_actors.png"/>
          <p:cNvPicPr preferRelativeResize="0"/>
          <p:nvPr/>
        </p:nvPicPr>
        <p:blipFill>
          <a:blip r:embed="rId3">
            <a:alphaModFix/>
          </a:blip>
          <a:stretch>
            <a:fillRect/>
          </a:stretch>
        </p:blipFill>
        <p:spPr>
          <a:xfrm>
            <a:off x="3948350" y="1645275"/>
            <a:ext cx="5195650" cy="41346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2200"/>
              <a:t>Scoring Function &amp; Results</a:t>
            </a:r>
            <a:endParaRPr sz="2200"/>
          </a:p>
        </p:txBody>
      </p:sp>
      <p:sp>
        <p:nvSpPr>
          <p:cNvPr id="311" name="Google Shape;311;p36"/>
          <p:cNvSpPr txBox="1"/>
          <p:nvPr>
            <p:ph idx="1" type="body"/>
          </p:nvPr>
        </p:nvSpPr>
        <p:spPr>
          <a:xfrm>
            <a:off x="199975" y="1089575"/>
            <a:ext cx="8573100" cy="554700"/>
          </a:xfrm>
          <a:prstGeom prst="rect">
            <a:avLst/>
          </a:prstGeom>
        </p:spPr>
        <p:txBody>
          <a:bodyPr anchorCtr="0" anchor="t" bIns="45700" lIns="91425" spcFirstLastPara="1" rIns="91425" wrap="square" tIns="45700">
            <a:noAutofit/>
          </a:bodyPr>
          <a:lstStyle/>
          <a:p>
            <a:pPr indent="-285750" lvl="0" marL="457200" rtl="0" algn="l">
              <a:lnSpc>
                <a:spcPct val="100000"/>
              </a:lnSpc>
              <a:spcBef>
                <a:spcPts val="480"/>
              </a:spcBef>
              <a:spcAft>
                <a:spcPts val="0"/>
              </a:spcAft>
              <a:buSzPts val="900"/>
              <a:buChar char="•"/>
            </a:pPr>
            <a:r>
              <a:rPr lang="en-US" sz="900"/>
              <a:t>The direct overlap part rewards films that literally share cast members with the query film.</a:t>
            </a:r>
            <a:endParaRPr sz="900"/>
          </a:p>
          <a:p>
            <a:pPr indent="-285750" lvl="0" marL="457200" rtl="0" algn="l">
              <a:lnSpc>
                <a:spcPct val="100000"/>
              </a:lnSpc>
              <a:spcBef>
                <a:spcPts val="0"/>
              </a:spcBef>
              <a:spcAft>
                <a:spcPts val="0"/>
              </a:spcAft>
              <a:buSzPts val="900"/>
              <a:buChar char="•"/>
            </a:pPr>
            <a:r>
              <a:rPr lang="en-US" sz="900"/>
              <a:t>The community part rewards films whose actors work in the same creative circle as the query cast  even if they never directly co-starred.</a:t>
            </a:r>
            <a:endParaRPr sz="900"/>
          </a:p>
          <a:p>
            <a:pPr indent="-285750" lvl="0" marL="457200" rtl="0" algn="l">
              <a:lnSpc>
                <a:spcPct val="100000"/>
              </a:lnSpc>
              <a:spcBef>
                <a:spcPts val="0"/>
              </a:spcBef>
              <a:spcAft>
                <a:spcPts val="0"/>
              </a:spcAft>
              <a:buSzPts val="900"/>
              <a:buChar char="•"/>
            </a:pPr>
            <a:r>
              <a:rPr lang="en-US" sz="900"/>
              <a:t>Both parts are added together, normalised, and passed into the team's hybrid integration layer.</a:t>
            </a:r>
            <a:endParaRPr sz="900"/>
          </a:p>
        </p:txBody>
      </p:sp>
      <p:pic>
        <p:nvPicPr>
          <p:cNvPr id="312" name="Google Shape;312;p36" title="mod3_fig7_score_decomposition_v2 (1).png"/>
          <p:cNvPicPr preferRelativeResize="0"/>
          <p:nvPr/>
        </p:nvPicPr>
        <p:blipFill>
          <a:blip r:embed="rId3">
            <a:alphaModFix/>
          </a:blip>
          <a:stretch>
            <a:fillRect/>
          </a:stretch>
        </p:blipFill>
        <p:spPr>
          <a:xfrm>
            <a:off x="156950" y="1644275"/>
            <a:ext cx="8802028" cy="484010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7"/>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Actor Collaboration Graph</a:t>
            </a:r>
            <a:endParaRPr/>
          </a:p>
        </p:txBody>
      </p:sp>
      <p:sp>
        <p:nvSpPr>
          <p:cNvPr id="319" name="Google Shape;319;p37"/>
          <p:cNvSpPr txBox="1"/>
          <p:nvPr>
            <p:ph idx="1" type="body"/>
          </p:nvPr>
        </p:nvSpPr>
        <p:spPr>
          <a:xfrm>
            <a:off x="180650" y="1173994"/>
            <a:ext cx="8762400" cy="5030700"/>
          </a:xfrm>
          <a:prstGeom prst="rect">
            <a:avLst/>
          </a:prstGeom>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1200"/>
              <a:t>How the graph is built:</a:t>
            </a:r>
            <a:endParaRPr b="1" sz="1200"/>
          </a:p>
          <a:p>
            <a:pPr indent="-304800" lvl="0" marL="457200" rtl="0" algn="l">
              <a:lnSpc>
                <a:spcPct val="150000"/>
              </a:lnSpc>
              <a:spcBef>
                <a:spcPts val="1200"/>
              </a:spcBef>
              <a:spcAft>
                <a:spcPts val="0"/>
              </a:spcAft>
              <a:buSzPts val="1200"/>
              <a:buChar char="●"/>
            </a:pPr>
            <a:r>
              <a:rPr lang="en-US" sz="1200"/>
              <a:t>Every </a:t>
            </a:r>
            <a:r>
              <a:rPr b="1" lang="en-US" sz="1200"/>
              <a:t>node</a:t>
            </a:r>
            <a:r>
              <a:rPr lang="en-US" sz="1200"/>
              <a:t> is an actor. Every </a:t>
            </a:r>
            <a:r>
              <a:rPr b="1" lang="en-US" sz="1200"/>
              <a:t>edge</a:t>
            </a:r>
            <a:r>
              <a:rPr lang="en-US" sz="1200"/>
              <a:t> means those two actors appeared in at least one film together.</a:t>
            </a:r>
            <a:endParaRPr sz="1200"/>
          </a:p>
          <a:p>
            <a:pPr indent="-304800" lvl="0" marL="457200" rtl="0" algn="l">
              <a:lnSpc>
                <a:spcPct val="150000"/>
              </a:lnSpc>
              <a:spcBef>
                <a:spcPts val="0"/>
              </a:spcBef>
              <a:spcAft>
                <a:spcPts val="0"/>
              </a:spcAft>
              <a:buSzPts val="1200"/>
              <a:buChar char="●"/>
            </a:pPr>
            <a:r>
              <a:rPr b="1" lang="en-US" sz="1200"/>
              <a:t>Edge weight</a:t>
            </a:r>
            <a:r>
              <a:rPr lang="en-US" sz="1200"/>
              <a:t> = number of films shared,  the more films two actors have worked on together, the thicker the edge.</a:t>
            </a:r>
            <a:endParaRPr sz="1200"/>
          </a:p>
          <a:p>
            <a:pPr indent="-304800" lvl="0" marL="457200" rtl="0" algn="l">
              <a:lnSpc>
                <a:spcPct val="150000"/>
              </a:lnSpc>
              <a:spcBef>
                <a:spcPts val="0"/>
              </a:spcBef>
              <a:spcAft>
                <a:spcPts val="0"/>
              </a:spcAft>
              <a:buSzPts val="1200"/>
              <a:buChar char="●"/>
            </a:pPr>
            <a:r>
              <a:rPr b="1" lang="en-US" sz="1200"/>
              <a:t>Node size</a:t>
            </a:r>
            <a:r>
              <a:rPr lang="en-US" sz="1200"/>
              <a:t> is proportional to degree. actors with more co-stars appear as larger nodes.</a:t>
            </a:r>
            <a:endParaRPr sz="1200"/>
          </a:p>
          <a:p>
            <a:pPr indent="-304800" lvl="0" marL="457200" rtl="0" algn="l">
              <a:lnSpc>
                <a:spcPct val="150000"/>
              </a:lnSpc>
              <a:spcBef>
                <a:spcPts val="0"/>
              </a:spcBef>
              <a:spcAft>
                <a:spcPts val="0"/>
              </a:spcAft>
              <a:buSzPts val="1200"/>
              <a:buChar char="●"/>
            </a:pPr>
            <a:r>
              <a:rPr b="1" lang="en-US" sz="1200"/>
              <a:t>Node colour</a:t>
            </a:r>
            <a:r>
              <a:rPr lang="en-US" sz="1200"/>
              <a:t> identifies which film's cast the actor belongs to and each recommended film gets its own colour.</a:t>
            </a:r>
            <a:endParaRPr sz="1200"/>
          </a:p>
          <a:p>
            <a:pPr indent="-304800" lvl="0" marL="457200" rtl="0" algn="l">
              <a:lnSpc>
                <a:spcPct val="150000"/>
              </a:lnSpc>
              <a:spcBef>
                <a:spcPts val="0"/>
              </a:spcBef>
              <a:spcAft>
                <a:spcPts val="0"/>
              </a:spcAft>
              <a:buSzPts val="1200"/>
              <a:buChar char="●"/>
            </a:pPr>
            <a:r>
              <a:rPr lang="en-US" sz="1200"/>
              <a:t>Layout algorithm used: </a:t>
            </a:r>
            <a:r>
              <a:rPr b="1" lang="en-US" sz="1200"/>
              <a:t>Kamada-Kawai</a:t>
            </a:r>
            <a:r>
              <a:rPr lang="en-US" sz="1200"/>
              <a:t> , here actors who collaborate more are pulled spatially closer together.</a:t>
            </a:r>
            <a:endParaRPr sz="1200"/>
          </a:p>
          <a:p>
            <a:pPr indent="-304800" lvl="0" marL="457200" rtl="0" algn="l">
              <a:lnSpc>
                <a:spcPct val="150000"/>
              </a:lnSpc>
              <a:spcBef>
                <a:spcPts val="0"/>
              </a:spcBef>
              <a:spcAft>
                <a:spcPts val="0"/>
              </a:spcAft>
              <a:buSzPts val="1200"/>
              <a:buChar char="●"/>
            </a:pPr>
            <a:r>
              <a:rPr b="1" lang="en-US" sz="1200"/>
              <a:t> Hub actors sit at the centre</a:t>
            </a:r>
            <a:r>
              <a:rPr lang="en-US" sz="1200"/>
              <a:t> Michael Caine and Christian Bale are the two largest teal nodes. They connect to almost every other cluster in the graph. Their high degree means any candidate film containing either of them scores highly on both direct overlap and community bonus.</a:t>
            </a:r>
            <a:endParaRPr sz="1200"/>
          </a:p>
          <a:p>
            <a:pPr indent="-304800" lvl="0" marL="457200" rtl="0" algn="l">
              <a:lnSpc>
                <a:spcPct val="150000"/>
              </a:lnSpc>
              <a:spcBef>
                <a:spcPts val="0"/>
              </a:spcBef>
              <a:spcAft>
                <a:spcPts val="0"/>
              </a:spcAft>
              <a:buSzPts val="1200"/>
              <a:buChar char="●"/>
            </a:pPr>
            <a:r>
              <a:rPr b="1" lang="en-US" sz="1200"/>
              <a:t> Recommended films cluster by proximity</a:t>
            </a:r>
            <a:r>
              <a:rPr lang="en-US" sz="1200"/>
              <a:t> Batman Begins and The Dark Knight Rises sit physically close to the teal query cluster dense connections, high scores. Olympus Has Fallen sits on the periphery it shares some actors but belongs to a different Louvain community, which is why its community bonus is lower despite having the same shared actor count as The Prestige.</a:t>
            </a:r>
            <a:endParaRPr sz="1200"/>
          </a:p>
          <a:p>
            <a:pPr indent="-304800" lvl="0" marL="457200" rtl="0" algn="l">
              <a:lnSpc>
                <a:spcPct val="150000"/>
              </a:lnSpc>
              <a:spcBef>
                <a:spcPts val="0"/>
              </a:spcBef>
              <a:spcAft>
                <a:spcPts val="0"/>
              </a:spcAft>
              <a:buSzPts val="1200"/>
              <a:buChar char="●"/>
            </a:pPr>
            <a:r>
              <a:rPr b="1" lang="en-US" sz="1200"/>
              <a:t>Thick edges reveal the scoring backbone</a:t>
            </a:r>
            <a:r>
              <a:rPr lang="en-US" sz="1200"/>
              <a:t> The thickest edge in the sub-graph connects Michael Caine and Christian Bale, labelled 5 they have shared 5 films together. This single connection is the structural reason The Dark Knight Rises and Batman Begins both rank at the top.</a:t>
            </a:r>
            <a:endParaRPr sz="1200"/>
          </a:p>
          <a:p>
            <a:pPr indent="0" lvl="0" marL="457200" rtl="0" algn="l">
              <a:lnSpc>
                <a:spcPct val="150000"/>
              </a:lnSpc>
              <a:spcBef>
                <a:spcPts val="1200"/>
              </a:spcBef>
              <a:spcAft>
                <a:spcPts val="0"/>
              </a:spcAft>
              <a:buNone/>
            </a:pPr>
            <a:r>
              <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8"/>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 Actor Collaboration Graph</a:t>
            </a:r>
            <a:endParaRPr/>
          </a:p>
        </p:txBody>
      </p:sp>
      <p:pic>
        <p:nvPicPr>
          <p:cNvPr id="326" name="Google Shape;326;p38" title="mod3_fig8_actor_graph (1).png"/>
          <p:cNvPicPr preferRelativeResize="0"/>
          <p:nvPr/>
        </p:nvPicPr>
        <p:blipFill>
          <a:blip r:embed="rId3">
            <a:alphaModFix/>
          </a:blip>
          <a:stretch>
            <a:fillRect/>
          </a:stretch>
        </p:blipFill>
        <p:spPr>
          <a:xfrm>
            <a:off x="50900" y="1051625"/>
            <a:ext cx="9018624" cy="53898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40000"/>
              </a:lnSpc>
              <a:spcBef>
                <a:spcPts val="2400"/>
              </a:spcBef>
              <a:spcAft>
                <a:spcPts val="600"/>
              </a:spcAft>
              <a:buNone/>
            </a:pPr>
            <a:r>
              <a:rPr lang="en-US">
                <a:solidFill>
                  <a:srgbClr val="202214"/>
                </a:solidFill>
              </a:rPr>
              <a:t>Output Recommendations</a:t>
            </a:r>
            <a:endParaRPr/>
          </a:p>
        </p:txBody>
      </p:sp>
      <p:graphicFrame>
        <p:nvGraphicFramePr>
          <p:cNvPr id="333" name="Google Shape;333;p39"/>
          <p:cNvGraphicFramePr/>
          <p:nvPr/>
        </p:nvGraphicFramePr>
        <p:xfrm>
          <a:off x="430375" y="1223975"/>
          <a:ext cx="3000000" cy="3000000"/>
        </p:xfrm>
        <a:graphic>
          <a:graphicData uri="http://schemas.openxmlformats.org/drawingml/2006/table">
            <a:tbl>
              <a:tblPr>
                <a:noFill/>
                <a:tableStyleId>{C4495EED-EF19-488C-8A38-317F3BB6B96A}</a:tableStyleId>
              </a:tblPr>
              <a:tblGrid>
                <a:gridCol w="413225"/>
                <a:gridCol w="2308250"/>
                <a:gridCol w="1616900"/>
                <a:gridCol w="880925"/>
                <a:gridCol w="880925"/>
                <a:gridCol w="1282375"/>
                <a:gridCol w="880925"/>
              </a:tblGrid>
              <a:tr h="471150">
                <a:tc>
                  <a:txBody>
                    <a:bodyPr/>
                    <a:lstStyle/>
                    <a:p>
                      <a:pPr indent="0" lvl="0" marL="0" rtl="0" algn="ctr">
                        <a:lnSpc>
                          <a:spcPct val="115000"/>
                        </a:lnSpc>
                        <a:spcBef>
                          <a:spcPts val="0"/>
                        </a:spcBef>
                        <a:spcAft>
                          <a:spcPts val="0"/>
                        </a:spcAft>
                        <a:buNone/>
                      </a:pPr>
                      <a:r>
                        <a:rPr b="1" lang="en-US" sz="1100"/>
                        <a:t>S.No</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Primary Title</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Genres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Avg Rating</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Vote Count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Modules Used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US" sz="1100"/>
                        <a:t>Final Score</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Batman Begins</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8.2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mod2, mod3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0.7830</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Gangster's Paradise: Jerusalema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7.3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mod2, 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0.7734</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Blood Work</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6.4</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0.6998</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4</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Blood and Bone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6.7</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0.6956</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27900">
                <a:tc>
                  <a:txBody>
                    <a:bodyPr/>
                    <a:lstStyle/>
                    <a:p>
                      <a:pPr indent="0" lvl="0" marL="0" rtl="0" algn="l">
                        <a:spcBef>
                          <a:spcPts val="0"/>
                        </a:spcBef>
                        <a:spcAft>
                          <a:spcPts val="0"/>
                        </a:spcAft>
                        <a:buNone/>
                      </a:pPr>
                      <a:r>
                        <a:rPr lang="en-US" sz="1000"/>
                        <a:t>5</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12th Fail</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Biography,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8.7</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mod5</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0.6951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6</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The Memory of a Killer</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7.2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0.6921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7</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Powder Blue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6.2</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0.6914</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8</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Empire of the Wolves</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5.8</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0.6897</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9</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Rain Fall</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4.6</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0.6848</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03000">
                <a:tc>
                  <a:txBody>
                    <a:bodyPr/>
                    <a:lstStyle/>
                    <a:p>
                      <a:pPr indent="0" lvl="0" marL="0" rtl="0" algn="l">
                        <a:spcBef>
                          <a:spcPts val="0"/>
                        </a:spcBef>
                        <a:spcAft>
                          <a:spcPts val="0"/>
                        </a:spcAft>
                        <a:buNone/>
                      </a:pPr>
                      <a:r>
                        <a:rPr lang="en-US" sz="1000"/>
                        <a:t>10</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Face of Terror</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Action, Crime, Drama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4.3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1</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mod6_knn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000"/>
                        <a:t>0.6838</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0"/>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Evaluation Metrics</a:t>
            </a:r>
            <a:endParaRPr/>
          </a:p>
        </p:txBody>
      </p:sp>
      <p:sp>
        <p:nvSpPr>
          <p:cNvPr id="340" name="Google Shape;340;p40"/>
          <p:cNvSpPr txBox="1"/>
          <p:nvPr>
            <p:ph idx="1" type="body"/>
          </p:nvPr>
        </p:nvSpPr>
        <p:spPr>
          <a:xfrm>
            <a:off x="180653" y="1173984"/>
            <a:ext cx="8768100" cy="52233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t>1. Combines Score : combined from all modules recommended it.</a:t>
            </a:r>
            <a:endParaRPr sz="1100"/>
          </a:p>
          <a:p>
            <a:pPr indent="0" lvl="0" marL="0" rtl="0" algn="l">
              <a:lnSpc>
                <a:spcPct val="115000"/>
              </a:lnSpc>
              <a:spcBef>
                <a:spcPts val="1400"/>
              </a:spcBef>
              <a:spcAft>
                <a:spcPts val="0"/>
              </a:spcAft>
              <a:buClr>
                <a:schemeClr val="dk1"/>
              </a:buClr>
              <a:buSzPts val="1100"/>
              <a:buFont typeface="Arial"/>
              <a:buNone/>
            </a:pPr>
            <a:r>
              <a:rPr b="1" lang="en-US" sz="1300"/>
              <a:t>2. Diversity signal </a:t>
            </a:r>
            <a:endParaRPr b="1" sz="1300"/>
          </a:p>
          <a:p>
            <a:pPr indent="0" lvl="0" marL="0" rtl="0" algn="l">
              <a:lnSpc>
                <a:spcPct val="115000"/>
              </a:lnSpc>
              <a:spcBef>
                <a:spcPts val="1200"/>
              </a:spcBef>
              <a:spcAft>
                <a:spcPts val="0"/>
              </a:spcAft>
              <a:buClr>
                <a:schemeClr val="dk1"/>
              </a:buClr>
              <a:buSzPts val="1100"/>
              <a:buFont typeface="Arial"/>
              <a:buNone/>
            </a:pPr>
            <a:r>
              <a:rPr lang="en-US" sz="1100"/>
              <a:t>Measures genre variation within recommendations</a:t>
            </a:r>
            <a:endParaRPr sz="1100"/>
          </a:p>
          <a:p>
            <a:pPr indent="0" lvl="0" marL="0" rtl="0" algn="l">
              <a:lnSpc>
                <a:spcPct val="115000"/>
              </a:lnSpc>
              <a:spcBef>
                <a:spcPts val="1400"/>
              </a:spcBef>
              <a:spcAft>
                <a:spcPts val="0"/>
              </a:spcAft>
              <a:buNone/>
            </a:pPr>
            <a:r>
              <a:rPr b="1" lang="en-US" sz="1300"/>
              <a:t>3. Average IMDb Rating</a:t>
            </a:r>
            <a:endParaRPr b="1" sz="1300"/>
          </a:p>
          <a:p>
            <a:pPr indent="0" lvl="0" marL="0" rtl="0" algn="l">
              <a:lnSpc>
                <a:spcPct val="115000"/>
              </a:lnSpc>
              <a:spcBef>
                <a:spcPts val="1400"/>
              </a:spcBef>
              <a:spcAft>
                <a:spcPts val="0"/>
              </a:spcAft>
              <a:buClr>
                <a:schemeClr val="dk1"/>
              </a:buClr>
              <a:buSzPts val="1100"/>
              <a:buFont typeface="Arial"/>
              <a:buNone/>
            </a:pPr>
            <a:r>
              <a:t/>
            </a:r>
            <a:endParaRPr b="1" sz="1300"/>
          </a:p>
          <a:p>
            <a:pPr indent="0" lvl="0" marL="0" rtl="0" algn="l">
              <a:lnSpc>
                <a:spcPct val="115000"/>
              </a:lnSpc>
              <a:spcBef>
                <a:spcPts val="1200"/>
              </a:spcBef>
              <a:spcAft>
                <a:spcPts val="0"/>
              </a:spcAft>
              <a:buClr>
                <a:schemeClr val="dk1"/>
              </a:buClr>
              <a:buSzPts val="1100"/>
              <a:buFont typeface="Arial"/>
              <a:buNone/>
            </a:pPr>
            <a:r>
              <a:rPr lang="en-US" sz="1100"/>
              <a:t>Ensures recommended movies are high-quality</a:t>
            </a:r>
            <a:endParaRPr sz="1100"/>
          </a:p>
          <a:p>
            <a:pPr indent="0" lvl="0" marL="0" rtl="0" algn="l">
              <a:lnSpc>
                <a:spcPct val="115000"/>
              </a:lnSpc>
              <a:spcBef>
                <a:spcPts val="1400"/>
              </a:spcBef>
              <a:spcAft>
                <a:spcPts val="0"/>
              </a:spcAft>
              <a:buClr>
                <a:schemeClr val="dk1"/>
              </a:buClr>
              <a:buSzPts val="1100"/>
              <a:buFont typeface="Arial"/>
              <a:buNone/>
            </a:pPr>
            <a:r>
              <a:rPr b="1" lang="en-US" sz="1300"/>
              <a:t>4. Module Agreement (Vote Count)</a:t>
            </a:r>
            <a:endParaRPr b="1" sz="1300"/>
          </a:p>
          <a:p>
            <a:pPr indent="0" lvl="0" marL="0" rtl="0" algn="l">
              <a:lnSpc>
                <a:spcPct val="115000"/>
              </a:lnSpc>
              <a:spcBef>
                <a:spcPts val="4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Clr>
                <a:schemeClr val="dk1"/>
              </a:buClr>
              <a:buSzPts val="1100"/>
              <a:buFont typeface="Arial"/>
              <a:buNone/>
            </a:pPr>
            <a:r>
              <a:rPr lang="en-US" sz="1100"/>
              <a:t>Measures consensus across modules (confidence)</a:t>
            </a:r>
            <a:endParaRPr sz="1100"/>
          </a:p>
          <a:p>
            <a:pPr indent="0" lvl="0" marL="0" rtl="0" algn="l">
              <a:spcBef>
                <a:spcPts val="1200"/>
              </a:spcBef>
              <a:spcAft>
                <a:spcPts val="0"/>
              </a:spcAft>
              <a:buNone/>
            </a:pPr>
            <a:r>
              <a:rPr lang="en-US" sz="1400"/>
              <a:t>These metrics are only used </a:t>
            </a:r>
            <a:r>
              <a:rPr b="1" lang="en-US" sz="1400"/>
              <a:t>after</a:t>
            </a:r>
            <a:r>
              <a:rPr lang="en-US" sz="1400"/>
              <a:t> recommendations are already generated, purely to evaluate how good the system is.</a:t>
            </a:r>
            <a:endParaRPr sz="1400"/>
          </a:p>
          <a:p>
            <a:pPr indent="0" lvl="0" marL="0" rtl="0" algn="ctr">
              <a:spcBef>
                <a:spcPts val="480"/>
              </a:spcBef>
              <a:spcAft>
                <a:spcPts val="0"/>
              </a:spcAft>
              <a:buNone/>
            </a:pPr>
            <a:r>
              <a:rPr b="1" lang="en-US" sz="1400"/>
              <a:t>Final Score=0.35×vote_count + 0.50×combined_score+ 0.15×diversity_signal</a:t>
            </a:r>
            <a:endParaRPr b="1" sz="1400"/>
          </a:p>
        </p:txBody>
      </p:sp>
      <p:pic>
        <p:nvPicPr>
          <p:cNvPr id="341" name="Google Shape;341;p40"/>
          <p:cNvPicPr preferRelativeResize="0"/>
          <p:nvPr/>
        </p:nvPicPr>
        <p:blipFill>
          <a:blip r:embed="rId3">
            <a:alphaModFix/>
          </a:blip>
          <a:stretch>
            <a:fillRect/>
          </a:stretch>
        </p:blipFill>
        <p:spPr>
          <a:xfrm>
            <a:off x="2905845" y="2569620"/>
            <a:ext cx="2224100" cy="612593"/>
          </a:xfrm>
          <a:prstGeom prst="rect">
            <a:avLst/>
          </a:prstGeom>
          <a:noFill/>
          <a:ln>
            <a:noFill/>
          </a:ln>
        </p:spPr>
      </p:pic>
      <p:pic>
        <p:nvPicPr>
          <p:cNvPr id="342" name="Google Shape;342;p40"/>
          <p:cNvPicPr preferRelativeResize="0"/>
          <p:nvPr/>
        </p:nvPicPr>
        <p:blipFill>
          <a:blip r:embed="rId4">
            <a:alphaModFix/>
          </a:blip>
          <a:stretch>
            <a:fillRect/>
          </a:stretch>
        </p:blipFill>
        <p:spPr>
          <a:xfrm>
            <a:off x="2905854" y="3804800"/>
            <a:ext cx="2535772" cy="554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1"/>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Result &amp; key insights</a:t>
            </a:r>
            <a:endParaRPr/>
          </a:p>
        </p:txBody>
      </p:sp>
      <p:sp>
        <p:nvSpPr>
          <p:cNvPr id="349" name="Google Shape;349;p41"/>
          <p:cNvSpPr txBox="1"/>
          <p:nvPr>
            <p:ph idx="1" type="body"/>
          </p:nvPr>
        </p:nvSpPr>
        <p:spPr>
          <a:xfrm>
            <a:off x="180650" y="3851899"/>
            <a:ext cx="8768100" cy="2545500"/>
          </a:xfrm>
          <a:prstGeom prst="rect">
            <a:avLst/>
          </a:prstGeom>
        </p:spPr>
        <p:txBody>
          <a:bodyPr anchorCtr="0" anchor="t" bIns="45700" lIns="91425" spcFirstLastPara="1" rIns="91425" wrap="square" tIns="45700">
            <a:noAutofit/>
          </a:bodyPr>
          <a:lstStyle/>
          <a:p>
            <a:pPr indent="0" lvl="0" marL="0" rtl="0" algn="just">
              <a:lnSpc>
                <a:spcPct val="150000"/>
              </a:lnSpc>
              <a:spcBef>
                <a:spcPts val="1800"/>
              </a:spcBef>
              <a:spcAft>
                <a:spcPts val="0"/>
              </a:spcAft>
              <a:buNone/>
            </a:pPr>
            <a:r>
              <a:rPr lang="en-US" sz="1600"/>
              <a:t>The results show that hybrid fusion of modules improves both relevance and diversity compared to using a single method.</a:t>
            </a:r>
            <a:endParaRPr sz="1600"/>
          </a:p>
          <a:p>
            <a:pPr indent="-323850" lvl="0" marL="457200" rtl="0" algn="just">
              <a:lnSpc>
                <a:spcPct val="150000"/>
              </a:lnSpc>
              <a:spcBef>
                <a:spcPts val="400"/>
              </a:spcBef>
              <a:spcAft>
                <a:spcPts val="0"/>
              </a:spcAft>
              <a:buSzPts val="1500"/>
              <a:buChar char="❏"/>
            </a:pPr>
            <a:r>
              <a:rPr lang="en-US" sz="1500"/>
              <a:t>Hybrid model works effectively</a:t>
            </a:r>
            <a:endParaRPr sz="1500"/>
          </a:p>
          <a:p>
            <a:pPr indent="-323850" lvl="0" marL="457200" rtl="0" algn="just">
              <a:lnSpc>
                <a:spcPct val="150000"/>
              </a:lnSpc>
              <a:spcBef>
                <a:spcPts val="0"/>
              </a:spcBef>
              <a:spcAft>
                <a:spcPts val="0"/>
              </a:spcAft>
              <a:buSzPts val="1500"/>
              <a:buChar char="❏"/>
            </a:pPr>
            <a:r>
              <a:rPr lang="en-US" sz="1500"/>
              <a:t>Content similarity dominates</a:t>
            </a:r>
            <a:endParaRPr i="1" sz="1500"/>
          </a:p>
          <a:p>
            <a:pPr indent="-323850" lvl="0" marL="457200" rtl="0" algn="just">
              <a:lnSpc>
                <a:spcPct val="150000"/>
              </a:lnSpc>
              <a:spcBef>
                <a:spcPts val="0"/>
              </a:spcBef>
              <a:spcAft>
                <a:spcPts val="0"/>
              </a:spcAft>
              <a:buSzPts val="1500"/>
              <a:buChar char="❏"/>
            </a:pPr>
            <a:r>
              <a:rPr lang="en-US" sz="1500"/>
              <a:t>Collaborative signals refine ranking</a:t>
            </a:r>
            <a:endParaRPr sz="1500"/>
          </a:p>
          <a:p>
            <a:pPr indent="-323850" lvl="0" marL="457200" rtl="0" algn="just">
              <a:lnSpc>
                <a:spcPct val="150000"/>
              </a:lnSpc>
              <a:spcBef>
                <a:spcPts val="0"/>
              </a:spcBef>
              <a:spcAft>
                <a:spcPts val="0"/>
              </a:spcAft>
              <a:buSzPts val="1500"/>
              <a:buChar char="❏"/>
            </a:pPr>
            <a:r>
              <a:rPr lang="en-US" sz="1500"/>
              <a:t>High rating ≠ highest recommendation</a:t>
            </a:r>
            <a:endParaRPr i="1" sz="1500"/>
          </a:p>
          <a:p>
            <a:pPr indent="-323850" lvl="0" marL="457200" rtl="0" algn="just">
              <a:lnSpc>
                <a:spcPct val="150000"/>
              </a:lnSpc>
              <a:spcBef>
                <a:spcPts val="0"/>
              </a:spcBef>
              <a:spcAft>
                <a:spcPts val="0"/>
              </a:spcAft>
              <a:buSzPts val="1500"/>
              <a:buChar char="❏"/>
            </a:pPr>
            <a:r>
              <a:rPr lang="en-US" sz="1500"/>
              <a:t>System handles diversity</a:t>
            </a:r>
            <a:endParaRPr sz="1500"/>
          </a:p>
          <a:p>
            <a:pPr indent="0" lvl="0" marL="0" rtl="0" algn="just">
              <a:lnSpc>
                <a:spcPct val="150000"/>
              </a:lnSpc>
              <a:spcBef>
                <a:spcPts val="1800"/>
              </a:spcBef>
              <a:spcAft>
                <a:spcPts val="400"/>
              </a:spcAft>
              <a:buNone/>
            </a:pPr>
            <a:r>
              <a:t/>
            </a:r>
            <a:endParaRPr sz="1900"/>
          </a:p>
        </p:txBody>
      </p:sp>
      <p:pic>
        <p:nvPicPr>
          <p:cNvPr id="350" name="Google Shape;350;p41"/>
          <p:cNvPicPr preferRelativeResize="0"/>
          <p:nvPr/>
        </p:nvPicPr>
        <p:blipFill rotWithShape="1">
          <a:blip r:embed="rId3">
            <a:alphaModFix/>
          </a:blip>
          <a:srcRect b="4144" l="0" r="43618" t="9515"/>
          <a:stretch/>
        </p:blipFill>
        <p:spPr>
          <a:xfrm>
            <a:off x="1716475" y="1173250"/>
            <a:ext cx="5013624" cy="2545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2"/>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600"/>
              </a:spcAft>
              <a:buNone/>
            </a:pPr>
            <a:r>
              <a:rPr lang="en-US">
                <a:highlight>
                  <a:srgbClr val="FFFFFF"/>
                </a:highlight>
              </a:rPr>
              <a:t>Challenges &amp; Business Impact</a:t>
            </a:r>
            <a:endParaRPr/>
          </a:p>
        </p:txBody>
      </p:sp>
      <p:sp>
        <p:nvSpPr>
          <p:cNvPr id="357" name="Google Shape;357;p42"/>
          <p:cNvSpPr txBox="1"/>
          <p:nvPr/>
        </p:nvSpPr>
        <p:spPr>
          <a:xfrm>
            <a:off x="287550" y="1369200"/>
            <a:ext cx="4129800" cy="46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lnSpc>
                <a:spcPct val="130000"/>
              </a:lnSpc>
              <a:spcBef>
                <a:spcPts val="0"/>
              </a:spcBef>
              <a:spcAft>
                <a:spcPts val="0"/>
              </a:spcAft>
              <a:buClr>
                <a:schemeClr val="dk1"/>
              </a:buClr>
              <a:buSzPts val="1600"/>
              <a:buChar char="●"/>
            </a:pPr>
            <a:r>
              <a:rPr lang="en-US" sz="1600">
                <a:solidFill>
                  <a:schemeClr val="dk1"/>
                </a:solidFill>
              </a:rPr>
              <a:t>No per-user ratings in IMDb : standard CF impossible; required implicit signal engineering.</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Memory limits on Kaggle (~13GB free) : loading 7 large TSV files simultaneously caused OOM crashes.</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title.principals.tsv has 50M+ rows : required column filtering at load time.</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Actor graph grows exponentially : capped at 8 actors/movie and post-1980 filter to stay within limits.</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Merging across 7 files with different schemas required careful tconst alignment.</a:t>
            </a:r>
            <a:endParaRPr sz="1600">
              <a:solidFill>
                <a:schemeClr val="dk1"/>
              </a:solidFill>
            </a:endParaRPr>
          </a:p>
        </p:txBody>
      </p:sp>
      <p:sp>
        <p:nvSpPr>
          <p:cNvPr id="358" name="Google Shape;358;p42"/>
          <p:cNvSpPr txBox="1"/>
          <p:nvPr/>
        </p:nvSpPr>
        <p:spPr>
          <a:xfrm>
            <a:off x="4702350" y="1369200"/>
            <a:ext cx="4129800" cy="46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lnSpc>
                <a:spcPct val="130000"/>
              </a:lnSpc>
              <a:spcBef>
                <a:spcPts val="0"/>
              </a:spcBef>
              <a:spcAft>
                <a:spcPts val="0"/>
              </a:spcAft>
              <a:buClr>
                <a:schemeClr val="dk1"/>
              </a:buClr>
              <a:buSzPts val="1600"/>
              <a:buChar char="●"/>
            </a:pPr>
            <a:r>
              <a:rPr lang="en-US" sz="1600">
                <a:solidFill>
                  <a:schemeClr val="dk1"/>
                </a:solidFill>
              </a:rPr>
              <a:t>Streaming platforms can deploy without user history : works for new viewers from day one.</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Diversity signal ensures cultural inclusivity : not just mainstream Hollywood content.</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Vote-based integration is transparent and auditable : each recommendation cites which modules agreed.</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Scalable design: any new module can plug into the integration layer via tconst key.</a:t>
            </a:r>
            <a:endParaRPr sz="1600">
              <a:solidFill>
                <a:schemeClr val="dk1"/>
              </a:solidFill>
            </a:endParaRPr>
          </a:p>
          <a:p>
            <a:pPr indent="-330200" lvl="0" marL="457200" rtl="0" algn="l">
              <a:lnSpc>
                <a:spcPct val="130000"/>
              </a:lnSpc>
              <a:spcBef>
                <a:spcPts val="0"/>
              </a:spcBef>
              <a:spcAft>
                <a:spcPts val="0"/>
              </a:spcAft>
              <a:buClr>
                <a:schemeClr val="dk1"/>
              </a:buClr>
              <a:buSzPts val="1600"/>
              <a:buChar char="●"/>
            </a:pPr>
            <a:r>
              <a:rPr lang="en-US" sz="1600">
                <a:solidFill>
                  <a:schemeClr val="dk1"/>
                </a:solidFill>
              </a:rPr>
              <a:t>Open dataset only : fully reproducible, no proprietary data required.</a:t>
            </a:r>
            <a:endParaRPr sz="16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3"/>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600"/>
              </a:spcAft>
              <a:buNone/>
            </a:pPr>
            <a:r>
              <a:rPr lang="en-US">
                <a:highlight>
                  <a:srgbClr val="FFFFFF"/>
                </a:highlight>
              </a:rPr>
              <a:t>Conclusion </a:t>
            </a:r>
            <a:endParaRPr/>
          </a:p>
        </p:txBody>
      </p:sp>
      <p:sp>
        <p:nvSpPr>
          <p:cNvPr id="365" name="Google Shape;365;p43"/>
          <p:cNvSpPr txBox="1"/>
          <p:nvPr>
            <p:ph idx="1" type="body"/>
          </p:nvPr>
        </p:nvSpPr>
        <p:spPr>
          <a:xfrm>
            <a:off x="343575" y="1173975"/>
            <a:ext cx="8276400" cy="5223300"/>
          </a:xfrm>
          <a:prstGeom prst="rect">
            <a:avLst/>
          </a:prstGeom>
        </p:spPr>
        <p:txBody>
          <a:bodyPr anchorCtr="0" anchor="t" bIns="45700" lIns="91425" spcFirstLastPara="1" rIns="91425" wrap="square" tIns="45700">
            <a:noAutofit/>
          </a:bodyPr>
          <a:lstStyle/>
          <a:p>
            <a:pPr indent="-342900" lvl="0" marL="457200" rtl="0" algn="l">
              <a:lnSpc>
                <a:spcPct val="200000"/>
              </a:lnSpc>
              <a:spcBef>
                <a:spcPts val="480"/>
              </a:spcBef>
              <a:spcAft>
                <a:spcPts val="0"/>
              </a:spcAft>
              <a:buSzPts val="1800"/>
              <a:buChar char="❏"/>
            </a:pPr>
            <a:r>
              <a:rPr lang="en-US" sz="1800"/>
              <a:t>Built a </a:t>
            </a:r>
            <a:r>
              <a:rPr b="1" lang="en-US" sz="1800"/>
              <a:t>hybrid movie recommendation system</a:t>
            </a:r>
            <a:r>
              <a:rPr lang="en-US" sz="1800"/>
              <a:t> using IMDb data</a:t>
            </a:r>
            <a:endParaRPr sz="1800"/>
          </a:p>
          <a:p>
            <a:pPr indent="-342900" lvl="0" marL="457200" rtl="0" algn="l">
              <a:lnSpc>
                <a:spcPct val="200000"/>
              </a:lnSpc>
              <a:spcBef>
                <a:spcPts val="0"/>
              </a:spcBef>
              <a:spcAft>
                <a:spcPts val="0"/>
              </a:spcAft>
              <a:buSzPts val="1800"/>
              <a:buChar char="❏"/>
            </a:pPr>
            <a:r>
              <a:rPr lang="en-US" sz="1800"/>
              <a:t>Combined </a:t>
            </a:r>
            <a:r>
              <a:rPr b="1" lang="en-US" sz="1800"/>
              <a:t>content-based, implicit CF, and clustering techniques</a:t>
            </a:r>
            <a:endParaRPr b="1" sz="1800"/>
          </a:p>
          <a:p>
            <a:pPr indent="-342900" lvl="0" marL="457200" rtl="0" algn="l">
              <a:lnSpc>
                <a:spcPct val="200000"/>
              </a:lnSpc>
              <a:spcBef>
                <a:spcPts val="0"/>
              </a:spcBef>
              <a:spcAft>
                <a:spcPts val="0"/>
              </a:spcAft>
              <a:buSzPts val="1800"/>
              <a:buChar char="❏"/>
            </a:pPr>
            <a:r>
              <a:rPr lang="en-US" sz="1800"/>
              <a:t>Used </a:t>
            </a:r>
            <a:r>
              <a:rPr b="1" lang="en-US" sz="1800"/>
              <a:t>vote-based integration</a:t>
            </a:r>
            <a:r>
              <a:rPr lang="en-US" sz="1800"/>
              <a:t> for robust final recommendations</a:t>
            </a:r>
            <a:endParaRPr sz="1800"/>
          </a:p>
          <a:p>
            <a:pPr indent="-342900" lvl="0" marL="457200" rtl="0" algn="l">
              <a:lnSpc>
                <a:spcPct val="200000"/>
              </a:lnSpc>
              <a:spcBef>
                <a:spcPts val="0"/>
              </a:spcBef>
              <a:spcAft>
                <a:spcPts val="0"/>
              </a:spcAft>
              <a:buSzPts val="1800"/>
              <a:buChar char="❏"/>
            </a:pPr>
            <a:r>
              <a:rPr lang="en-US" sz="1800"/>
              <a:t>Handled </a:t>
            </a:r>
            <a:r>
              <a:rPr b="1" lang="en-US" sz="1800"/>
              <a:t>cold-start using Viewer Persona (k-Means)</a:t>
            </a:r>
            <a:endParaRPr b="1" sz="1800"/>
          </a:p>
          <a:p>
            <a:pPr indent="-342900" lvl="0" marL="457200" rtl="0" algn="l">
              <a:lnSpc>
                <a:spcPct val="200000"/>
              </a:lnSpc>
              <a:spcBef>
                <a:spcPts val="0"/>
              </a:spcBef>
              <a:spcAft>
                <a:spcPts val="0"/>
              </a:spcAft>
              <a:buSzPts val="1800"/>
              <a:buChar char="❏"/>
            </a:pPr>
            <a:r>
              <a:rPr lang="en-US" sz="1800"/>
              <a:t>Achieved </a:t>
            </a:r>
            <a:r>
              <a:rPr b="1" lang="en-US" sz="1800"/>
              <a:t>accurate, diverse, and scalable results</a:t>
            </a:r>
            <a:endParaRPr b="1" sz="1800"/>
          </a:p>
          <a:p>
            <a:pPr indent="0" lvl="0" marL="0" rtl="0" algn="l">
              <a:spcBef>
                <a:spcPts val="480"/>
              </a:spcBef>
              <a:spcAft>
                <a:spcPts val="0"/>
              </a:spcAft>
              <a:buNone/>
            </a:pPr>
            <a:r>
              <a:t/>
            </a:r>
            <a:endParaRPr b="1" sz="17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4"/>
          <p:cNvSpPr txBox="1"/>
          <p:nvPr>
            <p:ph type="title"/>
          </p:nvPr>
        </p:nvSpPr>
        <p:spPr>
          <a:xfrm>
            <a:off x="180654" y="202990"/>
            <a:ext cx="7042200" cy="5547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400"/>
              </a:spcAft>
              <a:buNone/>
            </a:pPr>
            <a:r>
              <a:rPr lang="en-US"/>
              <a:t>Future Directions</a:t>
            </a:r>
            <a:endParaRPr/>
          </a:p>
        </p:txBody>
      </p:sp>
      <p:sp>
        <p:nvSpPr>
          <p:cNvPr id="372" name="Google Shape;372;p44"/>
          <p:cNvSpPr txBox="1"/>
          <p:nvPr>
            <p:ph idx="1" type="body"/>
          </p:nvPr>
        </p:nvSpPr>
        <p:spPr>
          <a:xfrm>
            <a:off x="180650" y="1173975"/>
            <a:ext cx="8698200" cy="5223300"/>
          </a:xfrm>
          <a:prstGeom prst="rect">
            <a:avLst/>
          </a:prstGeom>
        </p:spPr>
        <p:txBody>
          <a:bodyPr anchorCtr="0" anchor="t" bIns="45700" lIns="91425" spcFirstLastPara="1" rIns="91425" wrap="square" tIns="45700">
            <a:noAutofit/>
          </a:bodyPr>
          <a:lstStyle/>
          <a:p>
            <a:pPr indent="-336550" lvl="0" marL="457200" rtl="0" algn="l">
              <a:spcBef>
                <a:spcPts val="0"/>
              </a:spcBef>
              <a:spcAft>
                <a:spcPts val="0"/>
              </a:spcAft>
              <a:buSzPts val="1700"/>
              <a:buChar char="•"/>
            </a:pPr>
            <a:r>
              <a:rPr b="1" lang="en-US" sz="1700"/>
              <a:t>Real User Data Integration</a:t>
            </a:r>
            <a:endParaRPr b="1" sz="1700"/>
          </a:p>
          <a:p>
            <a:pPr indent="0" lvl="0" marL="457200" rtl="0" algn="l">
              <a:spcBef>
                <a:spcPts val="0"/>
              </a:spcBef>
              <a:spcAft>
                <a:spcPts val="0"/>
              </a:spcAft>
              <a:buNone/>
            </a:pPr>
            <a:r>
              <a:rPr lang="en-US" sz="1700"/>
              <a:t>Connect MovieLens or similar open user-rating dataset via IMDb ID bridge for true collaborative filtering.</a:t>
            </a:r>
            <a:endParaRPr sz="1700"/>
          </a:p>
          <a:p>
            <a:pPr indent="-336550" lvl="0" marL="457200" rtl="0" algn="l">
              <a:spcBef>
                <a:spcPts val="0"/>
              </a:spcBef>
              <a:spcAft>
                <a:spcPts val="0"/>
              </a:spcAft>
              <a:buSzPts val="1700"/>
              <a:buChar char="•"/>
            </a:pPr>
            <a:r>
              <a:rPr b="1" lang="en-US" sz="1700"/>
              <a:t>TV Binge-Path Sequencing</a:t>
            </a:r>
            <a:endParaRPr b="1" sz="1700"/>
          </a:p>
          <a:p>
            <a:pPr indent="0" lvl="0" marL="457200" rtl="0" algn="l">
              <a:spcBef>
                <a:spcPts val="0"/>
              </a:spcBef>
              <a:spcAft>
                <a:spcPts val="0"/>
              </a:spcAft>
              <a:buNone/>
            </a:pPr>
            <a:r>
              <a:rPr lang="en-US" sz="1700"/>
              <a:t>Use title.episode.tsv to recommend what to watch next after finishing a season or series — sequential recommendations.</a:t>
            </a:r>
            <a:endParaRPr sz="1700"/>
          </a:p>
          <a:p>
            <a:pPr indent="0" lvl="0" marL="457200" rtl="0" algn="l">
              <a:spcBef>
                <a:spcPts val="0"/>
              </a:spcBef>
              <a:spcAft>
                <a:spcPts val="0"/>
              </a:spcAft>
              <a:buNone/>
            </a:pPr>
            <a:r>
              <a:t/>
            </a:r>
            <a:endParaRPr b="1" sz="17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5"/>
          <p:cNvSpPr txBox="1"/>
          <p:nvPr>
            <p:ph type="title"/>
          </p:nvPr>
        </p:nvSpPr>
        <p:spPr>
          <a:xfrm>
            <a:off x="3363913" y="2971801"/>
            <a:ext cx="2452687" cy="711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ITR_PPT_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