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7"/>
  </p:notesMasterIdLst>
  <p:sldIdLst>
    <p:sldId id="262" r:id="rId2"/>
    <p:sldId id="269" r:id="rId3"/>
    <p:sldId id="268" r:id="rId4"/>
    <p:sldId id="270" r:id="rId6"/>
    <p:sldId id="271" r:id="rId5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32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24-04-2016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 smtClean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IN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I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24-Apr-16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1069520" y="1111751"/>
            <a:ext cx="7247166" cy="499336"/>
          </a:xfrm>
        </p:spPr>
        <p:txBody>
          <a:bodyPr wrap="square"/>
          <a:lstStyle>
            <a:lvl1pPr algn="ctr">
              <a:defRPr sz="2800" b="1">
                <a:latin typeface="+mn-lt"/>
              </a:defRPr>
            </a:lvl1pPr>
          </a:lstStyle>
          <a:p>
            <a:pPr>
              <a:defRPr sz="2800" b="1">
                <a:solidFill>
                  <a:srgbClr val="112A46"/>
                </a:solidFill>
                <a:latin typeface="Calibri"/>
              </a:defRPr>
            </a:pPr>
            <a:r>
              <a:t>Machine Learning Lifecycle:</a:t>
            </a:r>
            <a:br/>
            <a:r>
              <a:t>Part 7 &amp; Part 8</a:t>
            </a:r>
            <a:endParaRPr lang="en-IN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224241"/>
            <a:ext cx="7247166" cy="423370"/>
          </a:xfrm>
        </p:spPr>
        <p:txBody>
          <a:bodyPr anchor="b" wrap="square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1300">
                <a:solidFill>
                  <a:srgbClr val="222222"/>
                </a:solidFill>
                <a:latin typeface="Calibri"/>
              </a:defRPr>
            </a:pPr>
            <a:r>
              <a:t>Model Training, Evaluation &amp; Multi-Task Calibration for SmartHVAC Hetero-GNN</a:t>
            </a:r>
            <a:br/>
            <a:br/>
            <a:r>
              <a:t>Presenter: Animesh Basak (Roll No. 26911001)</a:t>
            </a:r>
            <a:br/>
            <a:r>
              <a:t>Course: CSL-505 Machine Learning / Data Mining</a:t>
            </a:r>
            <a:br/>
            <a:r>
              <a:t>Department of Computer Science and Engineering</a:t>
            </a:r>
            <a:br/>
            <a:r>
              <a:t>Indian Institute of Technology Roorkee</a:t>
            </a:r>
            <a:endParaRPr lang="en-US" dirty="0" smtClean="0"/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647611"/>
            <a:ext cx="7247166" cy="423370"/>
          </a:xfrm>
        </p:spPr>
        <p:txBody>
          <a:bodyPr anchor="b" wrap="square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1300">
                <a:solidFill>
                  <a:srgbClr val="222222"/>
                </a:solidFill>
                <a:latin typeface="Calibri"/>
              </a:defRPr>
            </a:pPr>
            <a:r>
              <a:t>Model Training, Evaluation &amp; Multi-Task Calibration for SmartHVAC Hetero-GNN</a:t>
            </a:r>
            <a:br/>
            <a:br/>
            <a:r>
              <a:t>Presenter: Animesh Basak (Roll No. 26911001)</a:t>
            </a:r>
            <a:br/>
            <a:r>
              <a:t>Course: CSL-505 Machine Learning / Data Mining</a:t>
            </a:r>
            <a:br/>
            <a:r>
              <a:t>Department of Computer Science and Engineering</a:t>
            </a:r>
            <a:br/>
            <a:r>
              <a:t>Indian Institute of Technology Roorkee</a:t>
            </a:r>
            <a:endParaRPr lang="en-US" dirty="0" smtClean="0"/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1611087"/>
            <a:ext cx="7247166" cy="423370"/>
          </a:xfrm>
        </p:spPr>
        <p:txBody>
          <a:bodyPr anchor="b" wrap="square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1300">
                <a:solidFill>
                  <a:srgbClr val="222222"/>
                </a:solidFill>
                <a:latin typeface="Calibri"/>
              </a:defRPr>
            </a:pPr>
            <a:r>
              <a:t>Model Training, Evaluation &amp; Multi-Task Calibration for SmartHVAC Hetero-GNN</a:t>
            </a:r>
            <a:br/>
            <a:br/>
            <a:r>
              <a:t>Presenter: Animesh Basak (Roll No. 26911001)</a:t>
            </a:r>
            <a:br/>
            <a:r>
              <a:t>Course: CSL-505 Machine Learning / Data Mining</a:t>
            </a:r>
            <a:br/>
            <a:r>
              <a:t>Department of Computer Science and Engineering</a:t>
            </a:r>
            <a:br/>
            <a:r>
              <a:t>Indian Institute of Technology Roorkee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Context in the 10-Stage ML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endParaRPr lang="en-US"/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t>• Assigned Scope: Part 7 (Model Training) and Part 8 (Model Evaluation &amp; Tuning).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• Bridges feature graph engineering (Steps 05-06) with enterprise deployment (Steps 09-10).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• Pillar 1: Spatio-temporal demand forecasting across 40 Metropolitan and Village hubs.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• Pillar 2: Appliance operating power regression and critical failure classification (180 SKUs).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• Pillar 3: Sleeper customer churn classification &amp; counter-seasonal link prediction (600 Residents).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• Pillar 4: Dynamic spare parts inventory replenishment forecasting (50 Part types).</a:t>
            </a:r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t>• Target Platform: NVIDIA Tesla V100S GPU with PyTorch Automatic Mixed Precision (FP16 AMP).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07: High-Performance GPU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NVIDIA Tesla V100S Setup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Dedicated Lab Server: 10.13.1.7 (Ubuntu 24.04).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Hardware: Tesla V100S-PCIE-32GB (640 Tensor Cores).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Memory Bandwidth: 1.13 TB/s HBM2 memory.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Software: PyTorch 2.6.0+cu124 &amp; PyG 2.8.1.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Low VRAM Footprint: Peak 28.77 MB allocated.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Automatic Mixed Precision (AMP)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torch.amp.autocast('cuda') for FP16 operations.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torch.amp.GradScaler prevents gradient underflow.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Tensor Cores accelerate dense matrix math.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Master model weights maintained in FP32 precision.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Training speedup: &gt; 3.8x faster than CPU baseline.</a:t>
            </a:r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07: Multi-Task Hetero-GNN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Inductive HeteroConv Backbone: 3 message-passing layers with GraphSAGE (SAGEConv) operator.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Dense 8-Dimensional Feature Spaces for all 4 node types (Location, Device, Resident, Part).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Continuous Cyclical Month Encoding: sin(2π(m-1)/12) and cos(2π(m-1)/12) preserve circular time.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Head 1 (Demand): Location-level continuous servicing demand regression (y_demand).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Head 2 (Power &amp; Failure): Operating power kW regression (y_power) &amp; binary fault risk (y_failure).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Head 3 (Sleeper Churn): Resident dormancy classification (y_sleeper) &amp; dot-product cross-selling.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Head 4 (Inventory): Spare parts replenishment forecasting (y_inventory) across warehouses.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07: Pre-Training Trajectory &amp; Self-Healing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Self-Healing Divergence Protection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200">
                <a:solidFill>
                  <a:srgbClr val="222222"/>
                </a:solidFill>
              </a:defRPr>
            </a:pPr>
            <a:r>
              <a:t>• Automated loss monitoring: inspects avg_loss each epoch.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Traps NaN, Inf, or &gt; 10x sudden loss explosion.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Automatic remedy: Halves LR (1e-3 -&gt; 5e-4) &amp; restores checkpoint.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Gradient clipping (max_norm = 1.0) prevents runaway backprop.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Guarantees unattended 120-epoch training reliability.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120-Epoch Pre-Training Convergence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  <a:p>
            <a:pPr>
              <a:defRPr sz="1200">
                <a:solidFill>
                  <a:srgbClr val="222222"/>
                </a:solidFill>
              </a:defRPr>
            </a:pPr>
            <a:r>
              <a:t>• Epoch 001: Initial Loss: 23,057.12 (Demand: 15,164.87).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Epoch 010: Rapid descent to 558.25 (Demand: 326.91).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Epoch 040: Early plateau at 253.39 (Maint: 0.75, Churn: 0.57).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Epoch 120: Final pre-training loss: 310.93.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Checkpoint saved: best_hetero_gnn_v100.pt (Best: 235.23).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08: Model Evaluation &amp; Audit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Rigorous evaluation of pre-trained weights exposed 3 critical bottlenecks: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Bottleneck 1: Multi-Task Gradient Dominance — Demand MSE (~115) and Inventory MSE (~20) produced gradients 200x larger than Churn BCE (~0.50) and Failure BCE (~0.70), starving classification heads.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Bottleneck 2: Under-Calibration in Monsoon &amp; Transition Months — Months 02, 03, 07, 08, 09, 10, and 11 reported 0 high-risk equipment failures, dangerously ignoring moisture and grid surge faults.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Bottleneck 3: False-Positive Churn &amp; Late-Epoch Oscillation — Fixed learning rates caused loss oscillations (253 -&gt; 310), and 518/600 customers were falsely flagged as dormant churners.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Mandate: Implement principled multi-task calibration and real empirical dataset fine-tuning.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08: Uncertainty Weighting &amp; Huber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Homoscedastic Task Uncertainty Weighting (Kendall et al., CVPR 2018):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L_total = sum_i [ 0.5 * exp(-s_i) * L_i + 0.5 * s_i ], where s_i = log(sigma_i^2) are learnable task log-variances.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Automatically scales down regression tasks by exp(-4.5) ≈ 0.011, matching classification BCE gradients (exp(-0.5) ≈ 0.606).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SmoothL1 (Huber) Regression Loss (beta = 4.0):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Huber(e) = 0.5 * e^2 for |e| &lt; beta, and beta * |e| - 0.5 * beta^2 otherwise. Prevents demand outliers from dominating backprop.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Class-Balanced BCE Loss: pos_weight = 2.5 for rare equipment faults and 1.8 for sleeper churn.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Optimization: AdamW (lr = 2.5e-4) + CosineAnnealingLR (T_max = 60, eta_min = 1e-5) + Gradient Clipping (1.0).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08: Real Benchmark Dataset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Dataset 4: UCI AI4I 2020 Predictive Maintenance (dataset/601):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10,000 industrial machine records. Ingested Heat Dissipation Failure (HDF) &amp; Power Failure (PWF) modes (2.07% fault rate). Mapped torque * RPM to mechanical power kW (1.2 - 3.6 kW).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Dataset 1: UCI Online Retail II (dataset/502):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525,461 transactions across 4,312 customers. Extracted Recency, Frequency, Monetary (RFM). Recency &gt; 90d sets ground-truth sleeper churn (33.28% baseline). Log-monetary maps to income tier.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Dataset 3: Kaggle HVAC Power Consumption (felixpradoh):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8,760 hourly thermal telemetry readings across 12 climate regimes. Ingested ambient temp, indoor temp, and power kW to calibrate seasonal thermodynamic load curves.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Hardware Execution: fine_tune_v100.py completed in 17.0s on Tesla V100 GPU (60 epochs).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08: Before vs. After Calibration Ledger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b="1">
                <a:solidFill>
                  <a:srgbClr val="D97706"/>
                </a:solidFill>
              </a:defRPr>
            </a:pPr>
            <a:r>
              <a:t>Pre-Fine-Tune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200">
                <a:solidFill>
                  <a:srgbClr val="222222"/>
                </a:solidFill>
              </a:defRPr>
            </a:pPr>
            <a:r>
              <a:t>• Overall Dossier Loss: 137.04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Pillar 1 Demand MSE: 115.61 (MAE: 8.77)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Pillar 2 Power MSE: 0.8364 (MAE: 0.749)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Pillar 2 Failure F1: 0.540 (154 flagged)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Pillar 3 Churn F1: 0.397 (518 flagged)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Pillar 4 Inventory MSE: 19.13 (MAE: 3.45)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• Annual Revenue: ₹2.40 Cr | Net Profit: ₹2.10 Cr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>
                <a:solidFill>
                  <a:srgbClr val="107C41"/>
                </a:solidFill>
              </a:defRPr>
            </a:pPr>
            <a:r>
              <a:t>Post-Fine-Tune Calibrated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  <a:p>
            <a:pPr>
              <a:defRPr sz="1200" b="1">
                <a:solidFill>
                  <a:srgbClr val="107C41"/>
                </a:solidFill>
              </a:defRPr>
            </a:pPr>
            <a:r>
              <a:t>• Overall Dossier Loss: 46.80 (-65.85% Error Reduction)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Pillar 1 Demand MSE: 33.13 (-71.34% Error Reduction)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Pillar 2 Power MSE: 0.0654 (-92.18% Error Reduction)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Pillar 2 Failure F1: 0.697 (+0.157 gain, 432 units)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Pillar 3 Churn F1: 0.646 (+0.249 gain, 278 flag / 276 rct)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Pillar 4 Inventory MSE: 12.61 (-34.11% Error Reduction)</a:t>
            </a:r>
          </a:p>
          <a:p>
            <a:pPr>
              <a:defRPr sz="1200" b="1">
                <a:solidFill>
                  <a:srgbClr val="107C41"/>
                </a:solidFill>
              </a:defRPr>
            </a:pPr>
            <a:r>
              <a:t>• Annual Revenue: ₹2.61 Cr | Net Profit: ₹2.27 Cr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Step 08: 12-Month Audited Financial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100% Monthly Profitability: All 12 calendar snapshots demonstrate positive Net Operating Profit.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Gross Operating Revenue: ₹2,61,01,851.84 (~₹2.61 Cr, exact row-sum match, +8.65% over baseline).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Operating Expenditure (OPEX): ₹34,00,492.40 (~₹34.00 L, 100% exact match across all 12 rows).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Net Operating Profit: ₹2,27,01,359.44 (~₹2.27 Cr, +₹17.45 L / +8.33% margin gain over baseline).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Cost-Efficiency Ratio: 7.764x (unweighted mean) / 7.676x (aggregate annual ratio).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Proactive Savings Gain: +22.64% avg (Peak: +28.4% in winter &amp; summer).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High-Risk Units Flagged: Exactly 432 units across all months (zero monsoon blind spots).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Summary of Contributions (Part 7 &amp;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300" b="1">
                <a:solidFill>
                  <a:srgbClr val="1F4E79"/>
                </a:solidFill>
              </a:defRPr>
            </a:pPr>
            <a:r>
              <a:t>• Hardware Pipeline: Orchestrated V100 GPU FP16 AMP training with self-healing divergence guards.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Multi-Task Loss Balancing: Solved gradient dominance via Kendall homoscedastic uncertainty weighting.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Real Data Integration: Grounded GNN in 3 canonical benchmarks (UCI AI4I 2020, UCI 502, Kaggle Power).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Failure Detection: Lifted F1 score from 0.540 to 0.697 and flagged 432 critical units (monsoon calibrated).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Customer Churn: Lifted F1 score from 0.397 to 0.646, eliminating 240 false-positive churn flags.</a:t>
            </a:r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• Audited Business Impact: Delivered ₹2.27 Cr net profit with audited zero arithmetic roll-up variance.</a:t>
            </a:r>
          </a:p>
          <a:p>
            <a:pPr>
              <a:defRPr sz="1300" b="0">
                <a:solidFill>
                  <a:srgbClr val="222222"/>
                </a:solidFill>
              </a:defRPr>
            </a:pPr>
            <a:r>
              <a:t>• Deliverables Generated: fine_tuned_hetero_gnn_v100.pt, fine_tune_telemetry.json, ARGOS.md, ARGOS_BROWSER_RESULTS.html.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12A46"/>
                </a:solidFill>
              </a:defRPr>
            </a:pPr>
            <a:r>
              <a:t>Thank You!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111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IITR_PPT_Template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Dr. Sudip Roy</Manager>
  <Company>IIT Roorkee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user</cp:lastModifiedBy>
  <cp:revision>59</cp:revision>
  <dcterms:created xsi:type="dcterms:W3CDTF">2015-07-18T13:17:54Z</dcterms:created>
  <dcterms:modified xsi:type="dcterms:W3CDTF">2016-04-24T07:53:06Z</dcterms:modified>
  <cp:version>v1</cp:version>
</cp:coreProperties>
</file>